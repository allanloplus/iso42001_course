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92c5c864-d4de-9854-a94a-3fb9a39022e2}">
          <p14:sldIdLst>
            <p14:sldId id="256"/>
            <p14:sldId id="257"/>
            <p14:sldId id="258"/>
            <p14:sldId id="259"/>
          </p14:sldIdLst>
        </p14:section>
        <p14:section name="一、AI 治理趨勢" id="{83e79dd9-d259-b8fd-9fc6-f8958f6b825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二、標準架構與用語" id="{cf12eabe-ddfa-0104-ebf1-72962715f3b6}">
          <p14:sldIdLst>
            <p14:sldId id="266"/>
            <p14:sldId id="267"/>
            <p14:sldId id="268"/>
            <p14:sldId id="269"/>
            <p14:sldId id="270"/>
          </p14:sldIdLst>
        </p14:section>
        <p14:section name="三、條文 4–5" id="{e199b3fa-ef20-9281-dfd8-22284620dea2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四、條文 6 規劃" id="{dab95134-48ef-2b10-8ccc-0e47bc1e66a6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五、條文 7–10" id="{024dc0f6-5130-6b34-5a48-d035b0eeee3f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六、附錄 A／B 與整合" id="{45f87843-7a3c-a287-f270-22f5bc7123e1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七、管理案例" id="{83b8d76a-16e1-083f-8fec-4b2d13719fa8}">
          <p14:sldIdLst>
            <p14:sldId id="308"/>
            <p14:sldId id="309"/>
            <p14:sldId id="310"/>
            <p14:sldId id="311"/>
          </p14:sldIdLst>
        </p14:section>
        <p14:section name="八、稽核實務" id="{02af95fd-0f7c-e43f-f0c0-b7b3c95b4f3e}">
          <p14:sldIdLst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總結" id="{88ff15c0-0776-4a06-d541-90c3f1cbff7d}">
          <p14:sldIdLst>
            <p14:sldId id="319"/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歡迎學員，自我介紹前先用一句話破題：「AI 已經在你公司裡了，只是你可能還沒管它。」說明今天 3 小時的課程會從標準條文、管理案例一路走到稽核現場。
【互動／阿拉蕾串場】
請學員舉手：公司有在用 ChatGPT、Copilot 或任何 AI 工具的請舉手——通常幾乎全場都會舉手，順勢帶出今天主題。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介紹講師背景：長期擔任 ISMS／PIMS 輔導顧問並兼任驗證機構稽核員，看過很多組織從 27001 走到 27701、現在走到 42001。說明助教阿拉蕾會在簡報中以對話框出現，代表學員心中的疑問。
【互動／阿拉蕾串場】
阿拉蕾：「老師，我只聽得懂 AI，聽不懂 ISO 怎麼辦？」——回答：今天就是要把條文翻成人話。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說明三大目標：看懂條文、會做（案例）、能稽核。對照議程說明時間配置，中間休息 10 分鐘。告知課後有線上文字教材與互動影音，內容比簡報更完整，並有 10 題測驗、80 分通過可下載結業證書。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請學員在 1 分鐘內寫下公司正在使用或開發的 AI，並分類。目的：讓學員意識到「AI 系統清冊」是導入 42001 的第一步，而且自己公司很可能低估了 AI 使用量（影子 AI）。
【互動／阿拉蕾串場】
邀請 2–3 位學員分享，阿拉蕾：「我們公司連會議紀錄都是 AI 寫的耶！那也算嗎？」——算，那是 AI 使用者角色。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進入第一單元。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引用標準「介紹」：(1) 自動決策可能不透明、無法解釋；(2) 以資料與機器學習取代人寫的邏輯，改變系統開發、論證與部署方式；(3) 持續學習的系統會在使用中改變行為。因此組織應把要求事項的重點放在 AI 獨有的特性上，而不是重做一套 IT 管理。
【互動／阿拉蕾串場】
阿拉蕾：「所以 AI 會自己變心？」——對，模型漂移就是 AI 的「變心」，要靠監控抓出來。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【建議時間】4 分鐘
【講述重點】
三個公開事件：
1. 2018 年報導 Amazon 實驗性 AI 履歷篩選工具對女性求職者產生偏差而停用 → 資料偏差、衝擊評鑑。
2. 2023 年 Samsung 員工將機密原始碼貼入 ChatGPT，公司其後限制生成式 AI 使用 → AI 使用政策、認知訓練。
3. 2024 年 Moffatt v. Air Canada，客服聊天機器人提供錯誤退款政策，法庭判航空公司須負責 → 組織要對 AI 輸出負責、使用者資訊與人為監管。
只講公開報導的事實，勿延伸細節。
【互動／阿拉蕾串場】
問學員：這三件事分別對應到 42001 的哪個控制措施？（A.5／A.7、A.2／A.9、A.8／A.9）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比較四個框架的性質：EU AI Act 是具罰則的法規（風險分級）；台灣《人工智慧基本法》是原則性立法（2025-12-23 三讀、2026-01-14 公布施行，國科會為主管機關，數位部訂風險分類框架）；NIST AI RMF 是自願性框架；ISO/IEC 42001 是可驗證的管理系統標準。重點：42001 可以當成落實法規與框架的「管理骨架」。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EU AI Act：2024-08-01 生效；2025-02-02 禁止性規定適用；2025-08-02 通用目的 AI（GPAI）義務適用；2026 年「Digital Omnibus on AI」修法延後高風險義務——附件 III 獨立高風險系統 2027-12-02、附件 I 產品內嵌 AI 2028-08-02。
台灣 AI 基本法七大原則：永續發展與福祉、人類自主、隱私保護與資料治理、資安與安全、透明與可解釋、公平與不歧視、問責。
【互動／阿拉蕾串場】
阿拉蕾：「延後了，那我們是不是可以先放著？」——不行，延後的是罰則適用時間，準備工作（清冊、評鑑、文件）至少要一年以上。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42001 是唯一可驗證的要求標準；22989 是引用標準（術語）；23894 是 AI 風險管理指引；42005（2025-05）是 AI 系統衝擊評鑑指引；42006（2025-07）是對驗證機構的要求（補充 17021-1）；38507 是治理；5338 生命週期；5259 系列資料品質。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進入第二單元。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條文 1–3 為範圍、引用標準、用語；條文 4–10 為要求事項（應）；附錄 A（規範性）控制目標與控制措施、附錄 B（規範性）實作指引；附錄 C、D 為資訊性。強調附錄 B 雖為規範性，但組織不需在 SoA 記錄實作指引的納入或排除。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兩者都採用 HS 調和結構，因此政策、內稽、管審、文管可直接整合。差異：42001 多了 6.1.4 AI 系統衝擊評鑑（對個人、群體、社會）、AI 角色決定、AI 生命週期與資料控制；SoA 文字上未明文要求寫實施狀態（27001 有）；6.1.2 未明文要求識別風險擁有者（27001 有）——但實務上建議仍記錄。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條文 3 共 26 個用語。挑 6 個最常考、最常被誤解的：3.2 關注方、3.7 風險（不確定性之影響，可正可負）、3.21 控制措施（維持和／或修改風險）、3.22 治理機構、3.24 AI 系統衝擊評鑑、3.26 適用性聲明。另提 3.25 資料品質。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條文本文的「應（shall）」是要求事項，未做到即可能開立不符合；附錄 B 實作指引多用「宜（should）」，是建議；「可（may/can）」表示允許或可能性。但注意：組織若在 SoA 選了某控制措施，附錄 A 的控制措施文字（應）就成為組織要落實的承諾。
【互動／阿拉蕾串場】
阿拉蕾：「那附錄 B 寫的我都可以不理？」——可以不照抄，但你要說得出自己的做法如何達成控制目標。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進入第三單元。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4.1 三件「應」做的事：(1) 決定內外部議題；(2) 決定氣候變遷是否為相關議題（2024 年 Amd 1 增修）；(3) 考慮 AI 系統的預期用途並決定組織在 AI 系統中的角色。備考 2 列出外部（法律、監管政策、激勵與後果、文化倫理、競爭）與內部（治理、契約義務、預期用途）考量。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4.1 備考 1 列出角色：AI 提供者（含平台、產品或服務提供者）、AI 製造者（開發者、設計師、營運者、測試評鑑員、部署者等）、AI 客戶（含使用者）、AI 合作夥伴（系統整合商、資料提供者）、AI 主體（資料主體等）、相關當局。備考 3：處理 PII 時也要判定 PII 控制者或處理者。同一組織可同時有多個角色，且依 AI 系統不同而不同。
【互動／阿拉蕾串場】
問學員：只用 Copilot 的公司是什麼角色？（AI 客戶／使用者）賣 AI SaaS 的呢？（提供者 + 製造者）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4.2：決定關注方、其相關要求、以及哪些要透過 AIMS 解決（第三點常被漏掉）。4.3：考量 4.1、4.2 決定範圍並以文件化資訊提供。範圍要寫清楚 AI 系統、角色、組織單位與地點。舉樂購電商範例。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5.1 列出最高管理階層展現領導的方式：確保 AI 政策與目標與策略相容、整合入營運流程、資源可取得、傳達重要性、確保達成預期結果、指揮支援人員、宣導持續改善、支持其他管理角色。備考 2：建立負責任使用、開發與管理 AI 的文化。稽核時會訪談高階主管，看他能否說出 AI 政策重點與目標。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5.2 要求 AI 政策：適合組織目的、提供設定 AI 目標的框架、承諾滿足適用要求、承諾持續改善；並以文件化資訊提供、參考其他政策、在組織內傳達、適切時提供予關注方。A.2.2–A.2.4 再加上：制定文件化 AI 政策、與其他政策一致、定期審查。B.2.2 建議涵蓋原則、偏離與例外處理流程。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5.3 要求指派責任與權限：確保 AIMS 符合標準、向最高管理階層報告 AIMS 績效。A.3.2 / B.3.2 列出可能需定義角色的領域：風險管理、衝擊評鑑、資產資源、資安、安全、隱私、開發、績效、人為監管、供應商關係、法遵、資料品質。RACI 每項活動只能有一個 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進入本課程最核心的單元。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6.1.1 要求建立並維持支持四件事的 AI 風險準則：區分可接受與不可接受的風險、執行 AI 風險評鑑、進行 AI 風險處理、評鑑 AI 風險的衝擊。並依 AI 系統的領域與應用全景、預期用途、內外部全景決定風險與機會；範圍內多個 AI 系統時，應針對每個或每組系統決定。保留識別與因應 AI 風險及機會的文件化資訊。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6.1.2 a)–e)：a) 參考並與 AI 政策和目標一致；b) 重複評鑑能產生一致、有效、可比較的結果；c) 識別有助於或阻礙達成 AI 目標的風險；d) 分析：評鑑對組織、個人和社會的潛在後果、評鑑可能性、決定風險等級（備考：可參考 6.1.4 衝擊評鑑結果）；e) 評估：與準則比較、訂定處理優先序。保存流程的文件化資訊；8.2 再保存結果。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附錄 C 風險來源：環境複雜性、缺乏透明與可解釋性、自動化水平、機器學習相關（資料品質、資料汙染）、硬體問題、生命週期問題、技術成熟度。B.6.2.3／B.6.2.6 點名 AI 特定資安威脅：資料汙染、模型竊取、模型反轉。提示注入是業界依「包括但不限於」延伸納入，非標準原文。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示範欄位：AI 系統、風險來源（對照附錄 C）、情境、後果（組織／個人／社會）、可能性、等級、處理選項、控制措施、負責人、剩餘風險。強調後果三面向與控制措施對應到附錄 A。數值為虛擬範例。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a) 選擇處理選項；b) 決定所有必須實作的控制措施並與附錄 A 比較，確認未忽略必要控制措施；c) 考量附錄 A；d) 是否需要附錄 A 以外的控制措施；e) 考慮附錄 B 實作指引；f) 產生 SoA；g) 制訂風險處理計畫。並獲得指定管理層對處理計畫的核准及剩餘風險接受。必要控制措施應與 6.2 目標一致、文件化、傳達、適切時提供給關注方。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SoA 須含必要控制措施與納入／排除理由；排除理由可為風險評鑑認為不需要，或適用外部要求不需要。實施狀態欄 42001 未明文要求，屬建議作法。展示一個好的排除理由與一個不好的。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6.1.4：定義流程評鑑 AI 系統開發、提供或使用可能對個人或群體，或兩者，以及社會的潛在後果；應決定部署、預期用途與可預見的濫用之後果；考量特定技術與社會全景及司法管轄區；結果文件化，適切時提供給關注方；並在風險評鑑中考慮其結果。ISO/IEC 42005:2025 提供詳細指引。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B.5.2：考慮 AI 是否影響個人的法律地位或生活機會、身心健康、普遍人權、社會。B.5.4 對個人或群體：公平性、當責性、透明性與可解釋性、資安與隱私、安全與健康、財務後果、可及性、人權；需特別考量兒童、身障者、老年人、工人等。B.5.5 對社會：環境永續、經濟、政府、健康與安全、規範傳統文化價值。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6.2 AI 目標應：與 AI 政策一致、可量測（若可行）、考量適用要求、受監控、被傳達、適切時更新、文件化；規劃時決定待辦事項、資源、負責人、完成時間、結果評估方式。附錄 C 提供目標參考（當責、公平、隱私、穩健、安全、透明可解釋…）。6.3：變更 AIMS 應以規劃的方式執行。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【建議時間】6 分鐘
【講述重點】
4 人一組，6 分鐘。情境：樂購電商（虛擬案例）上線 LLM 客服，可回答退換貨政策、查詢訂單。請各組產出：(1) 組織角色；(2) 兩個 AI 風險（含後果三面向）；(3) 一個對個人或社會的衝擊與可預見的濫用；(4) 對應的附錄 A 控制措施。參考答案：角色＝提供者＋製造者＋外部 LLM 的客戶；風險＝幻覺給錯政策（Air Canada 類型）、提示注入洩漏訂單資料；衝擊＝消費者權益受損、長者不知道在跟 AI 對話；控制＝A.8.2、A.9.3、A.6.2.4、A.6.2.8、A.10.3。
【互動／阿拉蕾串場】
請 2 組報告，講師講評。阿拉蕾：「我會先問 AI『你是真人嗎？』哈哈」——這正是 A.8.2 要回答的。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【建議時間】10 分鐘
【講述重點】
休息 10 分鐘。提醒學員：線上影音第 4、5 章可以複習剛才的內容。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進入第五單元，PDCA 的 D、C、A。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7.1 決定並提供 AIMS 所需資源（連結 A.4）。7.2 決定影響 AI 績效人員的必要能力，確保能勝任，必要時採取行動並評估有效性，保存能力證據。7.3 人員應認知 AI 政策、自身貢獻、未遵循的後果。示範 AI 職能矩陣。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7.4 決定溝通什麼、何時、對象、方式。7.5 包含標準要求與組織認為必要的文件化資訊；建立更新時注意識別、格式、審查核可；控制時注意可用、保護、分發存取、儲存保存、變更、留存處置，以及外部來源文件。列出條文明確要求的文件化資訊清單。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8.1 規劃、實作及控制流程，建立準則並依準則控制；實施 6.1.3 決定的控制措施並監督有效性；提供足以有信心流程依規劃執行的文件化資訊；控制規劃變更、審查非預期變更；確保外部提供的流程、產品或服務受控（如外部 LLM API、雲端 AI 服務）。8.2／8.3／8.4：依規劃期間或重大變更時執行風險評鑑、風險處理、衝擊評鑑並保存結果。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9.1 決定需監督量測的事項、方法、時間、分析評估時間，保存結果證據，並評估 AIMS 績效與有效性。3.11 註 3：績效同時指 AI 系統的結果與 AIMS 的結果。舉例 KPI。B.6.2.6 提到可用 F1 等指標，並以非 AI 作法為基準。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9.2：依規劃期間內稽，確認符合組織要求與本標準、有效實作維持；稽核方案含頻率、方法、責任、規劃與報告；考量重要流程與先前結果；定義目標準則範圍、確保客觀公正、結果向管理階層報告。AI 技術專家可陪同提供意見，結論由稽核員作出。9.3.2 輸入 a)–e)；9.3.3 輸出：持續改善機會決策與變更需要。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10.2：a) 反應（控制、矯正、處理後果）；b) 評估消除原因的需要（審查、決定原因、是否有類似不符合）；c) 實作；d) 審查有效性；e) 必要時變更 AIMS。矯正措施應切合影響。保存性質、行動與結果之證據。以才庫人力（虛擬案例）AI 履歷篩選偏差示範 5 Why。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進入第六單元。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各領域控制措施數：A.2 政策 3、A.3 內部組織 2、A.4 資源 5、A.5 衝擊評鑑 4、A.6 生命週期 9、A.7 資料 5、A.8 關注方資訊 4、A.9 使用 3、A.10 第三方與客戶 3，合計 38。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A.2 已在 5.2 講過。A.3.2 角色與責任；A.3.3 關注事項通報流程，B.3.3 要求 a)–h)：保密或匿名、推廣給員工與契約人員、由具資格人員負責、調查與解決權限、及時升級、防報復、保密下的報告、適當時間內回應；可參考 ISO 37002。A.4.2–A.4.6 文件化資源：資料、工具、系統與運算、人力。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A.5.2 建立衝擊評鑑流程；A.5.3 文件化結果並於規定期間留存；A.5.4 對個人或群體；A.5.5 對社會。B.5.3 文件化項目：預期用途與可預見誤用、正負面衝擊、可預見故障與緩解、適用人口群體、系統複雜性、人為監管、就業與技能。A.6.1.2 負責任開發目標並整合到生命週期；A.6.1.3 負責任設計開發流程（B.6.1.3：生命週期階段、測試、人為監管、衝擊評鑑時點、訓練資料規則、發布準則、核准簽核、變更控制…）。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A.6.2.2 要求與規範（新系統或重大增強）；A.6.2.3 設計開發文件化（含 AI 特定資安威脅：資料汙染、模型竊取、模型反轉）；A.6.2.4 驗證與確認（測試方法、測試資料代表性、發布準則、可接受錯誤率）；A.6.2.5 部署計畫，部署前滿足要求；A.6.2.6 運作與監控，至少含系統與性能監控、維修、更新、支援，注意漂移；A.6.2.7 技術文件化依關注方提供；A.6.2.8 事件日誌至少在使用時啟用。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A.7.2 開發與增強用資料的管理流程（隱私資安、透明性、代表性、準確完整）；A.7.3 資料之獲取（類別、數量、來源、特徵、人口統計與偏差、前處理、資料權利如 PII 與版權、詮釋資料）；A.7.4 資料品質要求並確保符合（ISO/IEC 5259、TR 24027）；A.7.5 資料來歷流程（ISO 8000-2：建立、更新、轉錄、抽象、驗證、控制轉移）；A.7.6 資料準備準則與方法（清理、補缺、正規化、標記、編碼）。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A.8.2 向使用者提供必要資訊（B.8.2：系統目的、正在與 AI 互動、如何互動、如何及何時覆寫、技術要求、人為監管需求、準確性與績效、衝擊評鑑相關資訊…）；A.8.3 外部通報不良衝擊機制；A.8.4 事故溝通規劃；A.8.5 向關注方報告的義務。A.9.2 負責任使用流程；A.9.3 負責任使用目標（含有意義的人為監管）；A.9.4 依預期用途與文件使用。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A.10.2 生命週期內責任在組織、夥伴、供應商、客戶與第三方間分配（含 PII 控制者／處理者，參考 29100、27701）；A.10.3 確保供應商提供的服務、產品或材料符合負責任方法，依風險決定選擇、要求與持續監督，必要時要求矯正措施，並要求適當文件；A.10.4 考量客戶的期望與需求，傳達適用領域的限制。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C.2 目標：當責性、AI 專業知識、訓練測試資料可用性與品質、環境影響、公平性、可維護性、隱私性、穩健性、安全性、資安、透明性和可解釋性（11 項）。C.3 風險來源：環境複雜性、缺乏透明可解釋、自動化水平、機器學習相關、硬體問題、生命週期問題、技術成熟度（7 項）。可作為風險識別工作坊的提示清單。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HS 結構讓政策、風險方法、內稽、管審、文管、矯正措施可整合為 IMS。附錄 D.2：資安是多數情況下達成 AI 目標的關鍵（27001）；AI 處理 PII 時可與 27701 整合；與 9001 聯合實作可提升客戶信心，補充風險管理、軟體開發、供應鏈協作。42001 特有：AI 角色、衝擊評鑑、AI 生命週期、資料控制。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建議里程碑（依組織規模調整）：盤點 AI 系統清冊與角色 → 差距分析 → 政策與治理組織 → 風險／衝擊評鑑方法與執行 → SoA 與處理計畫 → 控制措施實作 → 教育訓練 → 運作與紀錄累積 → 內部稽核 → 管理審查 → 第一、二階段驗證。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進入第七單元，案例詳細內容在線上教材第 14 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【建議時間】4 分鐘
【講述重點】
快速走過六個案例的角色、主要風險與關鍵控制措施，詳細內容請學員課後閱讀線上第 14 章。重點：不同產業、不同角色，SoA 與風險重點完全不同。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最多組織的起點：只是「使用」AI。角色＝AI 客戶／使用者。關鍵控制：A.2 AI 使用政策、A.9.2 負責任使用流程（核可工具清單、禁止輸入機密與個資）、7.3 認知、A.10.3 供應商（企業版條款、不得拿資料訓練）、A.3.3 通報。SoA 可合理排除 A.6.1.3 等開發類控制，但要寫理由。對照 2023 年 Samsung 事件。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情境（虛擬）：智聯科技提供 AI SaaS，大客戶要求半年內取得 42001 驗證，並要求提供模型效能與限制說明。請學員回答：先做哪三件事？參考答案：(1) 界定範圍與角色（提供者／製造者），盤點 AI 系統；(2) 風險與衝擊評鑑、SoA，特別是 A.10.2 責任分配、A.10.4 客戶、A.6.2.7 技術文件、A.8.2；(3) 建立運作紀錄、內稽、管審，規劃驗證時程。
【互動／阿拉蕾串場】
阿拉蕾：「我會先跟客戶說『んちゃ～請給我九個月』！」——其實也沒錯，期望管理很重要。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【建議時間】0.5 分鐘
【講述重點】
進入第八單元，從稽核員的角度看 AIMS。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依 ISO/IEC 17021-1 + ISO/IEC 42006：申請與合約審查 → 第一階段（文件與準備度審查）→ 第二階段（實施有效性）→ 不符合矯正 → 技術審查與發證；證書 3 年有效，每年監督稽核，第 3 年重新驗證。人天、矯正期限依驗證機構規定。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抽樣建議：高風險的、新上線的、外部提供的 AI 系統各挑一個（一高一新一外）。挑一個 AI 系統，從需求、資料、開發、驗證、部署、監控、事故、變更一路追，對照 SoA 宣稱的控制措施是否真的運作。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示範訪談題。高階主管：AI 政策中你最在意哪一條？最近一次管審對 AI 做了什麼決定？剩餘風險是誰核准的？資料科學家：這版模型用哪一版資料訓練？上線前通過了哪些發布準則？偏差怎麼測？MLOps：漂移怎麼發現？最近一次告警怎麼處理？日誌保存多久？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主要不符合：未實施或系統性失效、可能導致 AIMS 無法達成預期結果（例：完全沒有衝擊評鑑流程）；次要不符合：個別、偶發的未符合（例：一份評鑑缺核准簽名）；觀察事項：目前符合但有潛在風險；改善機會：可做得更好。實際定義與判定依驗證機構規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要求事項（條文依據）＋客觀證據（可查證的事實，含文件編號、日期、抽樣數）＋不符合陳述。示範 NC：衝擊評鑑未涵蓋可預見的濫用。避免主觀評語與建議解法寫進不符合陳述。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從線上第 16 章 17 個範例中挑 10 個最常見的。提醒學員：這份清單也是導入時的自我檢核表。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【建議時間】3 分鐘
【講述重點】
逐句快速複習，可請學員一起念。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【建議時間】1.5 分鐘
【講述重點】
說明線上課程網站（GitHub Pages：docs 資料夾）。三種資源：18 章文字教材（比今天簡報更完整）、講師與阿拉蕾的互動影音（可選章節、調速、有逐字稿與隨堂題）、10 題課後測驗（80 分通過，填寫公司名稱、單位、姓名、職稱、e-mail 後可下載結業證書，附題目與解答；未通過請重新閱讀或再測驗）。請講師將網址替換成實際發布位置。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【建議時間】2 分鐘
【講述重點】
開放提問並感謝學員。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ISO/IEC 42001:2023 人工智慧管理系統｜講師 Allan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RCISE">
    <p:bg>
      <p:bgPr>
        <a:solidFill>
          <a:srgbClr val="FF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ISO/IEC 42001:2023 人工智慧管理系統｜講師 Allan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ISO/IEC 42001:2023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人工智慧管理系統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標準詳解 × 管理案例 × 稽核實務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講師 Allan｜助教 阿拉蕾</a:t>
            </a:r>
            <a:endParaRPr lang="en-US" sz="2000" dirty="0"/>
          </a:p>
        </p:txBody>
      </p:sp>
      <p:sp>
        <p:nvSpPr>
          <p:cNvPr id="5" name="hero-frame-1"/>
          <p:cNvSpPr/>
          <p:nvPr/>
        </p:nvSpPr>
        <p:spPr>
          <a:xfrm>
            <a:off x="8001000" y="685800"/>
            <a:ext cx="3657600" cy="54864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hero-allan-2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868680"/>
            <a:ext cx="2530462" cy="5120640"/>
          </a:xfrm>
          <a:prstGeom prst="rect">
            <a:avLst/>
          </a:prstGeom>
        </p:spPr>
      </p:pic>
      <p:pic>
        <p:nvPicPr>
          <p:cNvPr id="7" name="hero-arale-3" descr="助教阿拉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383280"/>
            <a:ext cx="1267590" cy="2606040"/>
          </a:xfrm>
          <a:prstGeom prst="rect">
            <a:avLst/>
          </a:prstGeom>
        </p:spPr>
      </p:pic>
      <p:sp>
        <p:nvSpPr>
          <p:cNvPr id="8" name="tag-4"/>
          <p:cNvSpPr/>
          <p:nvPr/>
        </p:nvSpPr>
        <p:spPr>
          <a:xfrm>
            <a:off x="640080" y="5257800"/>
            <a:ext cx="21945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ag-text-5"/>
          <p:cNvSpPr txBox="1"/>
          <p:nvPr/>
        </p:nvSpPr>
        <p:spPr>
          <a:xfrm>
            <a:off x="640080" y="5257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實體課程 3 小時</a:t>
            </a:r>
            <a:endParaRPr lang="en-US" sz="1300" dirty="0"/>
          </a:p>
        </p:txBody>
      </p:sp>
      <p:sp>
        <p:nvSpPr>
          <p:cNvPr id="10" name="tag-6"/>
          <p:cNvSpPr/>
          <p:nvPr/>
        </p:nvSpPr>
        <p:spPr>
          <a:xfrm>
            <a:off x="3017520" y="5257800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ag-text-7"/>
          <p:cNvSpPr txBox="1"/>
          <p:nvPr/>
        </p:nvSpPr>
        <p:spPr>
          <a:xfrm>
            <a:off x="3017520" y="5257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含線上影音與課後測驗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今天的講師與助教</a:t>
            </a:r>
            <a:endParaRPr lang="en-US" sz="3000" dirty="0"/>
          </a:p>
        </p:txBody>
      </p:sp>
      <p:pic>
        <p:nvPicPr>
          <p:cNvPr id="4" name="allan-full-8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560320" cy="2994593"/>
          </a:xfrm>
          <a:prstGeom prst="rect">
            <a:avLst/>
          </a:prstGeom>
        </p:spPr>
      </p:pic>
      <p:sp>
        <p:nvSpPr>
          <p:cNvPr id="5" name="card-9"/>
          <p:cNvSpPr/>
          <p:nvPr/>
        </p:nvSpPr>
        <p:spPr>
          <a:xfrm>
            <a:off x="3657600" y="1371600"/>
            <a:ext cx="384048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10"/>
          <p:cNvSpPr/>
          <p:nvPr/>
        </p:nvSpPr>
        <p:spPr>
          <a:xfrm>
            <a:off x="384048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ard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1682496"/>
            <a:ext cx="310896" cy="310896"/>
          </a:xfrm>
          <a:prstGeom prst="rect">
            <a:avLst/>
          </a:prstGeom>
        </p:spPr>
      </p:pic>
      <p:sp>
        <p:nvSpPr>
          <p:cNvPr id="8" name="card-title-12"/>
          <p:cNvSpPr txBox="1"/>
          <p:nvPr/>
        </p:nvSpPr>
        <p:spPr>
          <a:xfrm>
            <a:off x="4526280" y="1536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Allan 講師</a:t>
            </a:r>
            <a:endParaRPr lang="en-US" sz="1900" dirty="0"/>
          </a:p>
        </p:txBody>
      </p:sp>
      <p:sp>
        <p:nvSpPr>
          <p:cNvPr id="9" name="card-text-13"/>
          <p:cNvSpPr txBox="1"/>
          <p:nvPr/>
        </p:nvSpPr>
        <p:spPr>
          <a:xfrm>
            <a:off x="3886200" y="22402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資深 ISMS／PIMS 輔導顧問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驗證機構稽核員（第三方稽核）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專長：資訊安全、企業 MIS 管理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口頭禪：「證據呢？」</a:t>
            </a:r>
            <a:endParaRPr lang="en-US" sz="1700" dirty="0"/>
          </a:p>
        </p:txBody>
      </p:sp>
      <p:sp>
        <p:nvSpPr>
          <p:cNvPr id="10" name="card-14"/>
          <p:cNvSpPr/>
          <p:nvPr/>
        </p:nvSpPr>
        <p:spPr>
          <a:xfrm>
            <a:off x="7772400" y="1371600"/>
            <a:ext cx="384048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icon-bg-15"/>
          <p:cNvSpPr/>
          <p:nvPr/>
        </p:nvSpPr>
        <p:spPr>
          <a:xfrm>
            <a:off x="795528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card-icon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1682496"/>
            <a:ext cx="310896" cy="310896"/>
          </a:xfrm>
          <a:prstGeom prst="rect">
            <a:avLst/>
          </a:prstGeom>
        </p:spPr>
      </p:pic>
      <p:sp>
        <p:nvSpPr>
          <p:cNvPr id="13" name="card-title-17"/>
          <p:cNvSpPr txBox="1"/>
          <p:nvPr/>
        </p:nvSpPr>
        <p:spPr>
          <a:xfrm>
            <a:off x="8641080" y="1536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助教 阿拉蕾</a:t>
            </a:r>
            <a:endParaRPr lang="en-US" sz="1900" dirty="0"/>
          </a:p>
        </p:txBody>
      </p:sp>
      <p:sp>
        <p:nvSpPr>
          <p:cNvPr id="14" name="card-text-18"/>
          <p:cNvSpPr txBox="1"/>
          <p:nvPr/>
        </p:nvSpPr>
        <p:spPr>
          <a:xfrm>
            <a:off x="8001000" y="22402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元氣滿滿的好奇寶寶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幫大家問出「不敢問的笨問題」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負責比喻、吐槽、整理重點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招呼語：「んちゃ～」</a:t>
            </a:r>
            <a:endParaRPr lang="en-US" sz="1700" dirty="0"/>
          </a:p>
        </p:txBody>
      </p:sp>
      <p:pic>
        <p:nvPicPr>
          <p:cNvPr id="15" name="arale-full-19" descr="助教阿拉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297680"/>
            <a:ext cx="1417320" cy="1928214"/>
          </a:xfrm>
          <a:prstGeom prst="rect">
            <a:avLst/>
          </a:prstGeom>
        </p:spPr>
      </p:pic>
      <p:pic>
        <p:nvPicPr>
          <p:cNvPr id="16" name="arale-avatar-20" descr="助教阿拉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617720"/>
            <a:ext cx="868680" cy="868680"/>
          </a:xfrm>
          <a:prstGeom prst="rect">
            <a:avLst/>
          </a:prstGeom>
        </p:spPr>
      </p:pic>
      <p:sp>
        <p:nvSpPr>
          <p:cNvPr id="17" name="bubble-21"/>
          <p:cNvSpPr/>
          <p:nvPr/>
        </p:nvSpPr>
        <p:spPr>
          <a:xfrm>
            <a:off x="6675120" y="4617720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bubble-text-22"/>
          <p:cNvSpPr txBox="1"/>
          <p:nvPr/>
        </p:nvSpPr>
        <p:spPr>
          <a:xfrm>
            <a:off x="6812280" y="4617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老師～我只懂 AI、不懂 ISO，今天跟得上嗎？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課程目標與議程（3 小時）</a:t>
            </a:r>
            <a:endParaRPr lang="en-US" sz="3000" dirty="0"/>
          </a:p>
        </p:txBody>
      </p:sp>
      <p:graphicFrame>
        <p:nvGraphicFramePr>
          <p:cNvPr id="4" name="table-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時段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單元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重點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0:00–0:10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開場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課程目標、學員現況調查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0:10–0:25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一、AI 治理趨勢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新風險、法規（EU AI Act、台灣 AI 基本法）、標準家族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0:25–0:40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二、標準架構與用語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HS 調和結構、42001 vs 27001、關鍵用語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0:40–1:00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三、條文 4–5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組織全景、AI 角色、範圍、領導與 AI 政策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1:00–1:30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四、條文 6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風險評鑑／處理、SoA、AI 系統衝擊評鑑、目標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1:30–1:40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休息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☕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1:40–2:00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五、條文 7–10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支援、運作、績效評估、改善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2:00–2:25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六、附錄 A／B 與整合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38 項控制措施、與 27001／27701／9001 整合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2:25–2:35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七、管理案例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產業案例與分組討論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2:35–2:55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八、稽核實務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驗證流程、42006、常見不符合事項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2:55–3:00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總結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十大金句、課後學習與測驗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24"/>
          <p:cNvSpPr/>
          <p:nvPr/>
        </p:nvSpPr>
        <p:spPr>
          <a:xfrm>
            <a:off x="8549640" y="1280160"/>
            <a:ext cx="3108960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25"/>
          <p:cNvSpPr/>
          <p:nvPr/>
        </p:nvSpPr>
        <p:spPr>
          <a:xfrm>
            <a:off x="8732520" y="14630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ard-icon-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1591056"/>
            <a:ext cx="310896" cy="310896"/>
          </a:xfrm>
          <a:prstGeom prst="rect">
            <a:avLst/>
          </a:prstGeom>
        </p:spPr>
      </p:pic>
      <p:sp>
        <p:nvSpPr>
          <p:cNvPr id="8" name="card-title-27"/>
          <p:cNvSpPr txBox="1"/>
          <p:nvPr/>
        </p:nvSpPr>
        <p:spPr>
          <a:xfrm>
            <a:off x="9418320" y="14447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看懂條文</a:t>
            </a:r>
            <a:endParaRPr lang="en-US" sz="1900" dirty="0"/>
          </a:p>
        </p:txBody>
      </p:sp>
      <p:sp>
        <p:nvSpPr>
          <p:cNvPr id="9" name="card-text-28"/>
          <p:cNvSpPr txBox="1"/>
          <p:nvPr/>
        </p:nvSpPr>
        <p:spPr>
          <a:xfrm>
            <a:off x="8778240" y="2148840"/>
            <a:ext cx="2697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條文 4–10、附錄 A 38 項控制措施</a:t>
            </a:r>
            <a:endParaRPr lang="en-US" sz="1700" dirty="0"/>
          </a:p>
        </p:txBody>
      </p:sp>
      <p:sp>
        <p:nvSpPr>
          <p:cNvPr id="10" name="card-29"/>
          <p:cNvSpPr/>
          <p:nvPr/>
        </p:nvSpPr>
        <p:spPr>
          <a:xfrm>
            <a:off x="8549640" y="2941320"/>
            <a:ext cx="3108960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icon-bg-30"/>
          <p:cNvSpPr/>
          <p:nvPr/>
        </p:nvSpPr>
        <p:spPr>
          <a:xfrm>
            <a:off x="8732520" y="31242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card-icon-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36" y="3252216"/>
            <a:ext cx="310896" cy="310896"/>
          </a:xfrm>
          <a:prstGeom prst="rect">
            <a:avLst/>
          </a:prstGeom>
        </p:spPr>
      </p:pic>
      <p:sp>
        <p:nvSpPr>
          <p:cNvPr id="13" name="card-title-32"/>
          <p:cNvSpPr txBox="1"/>
          <p:nvPr/>
        </p:nvSpPr>
        <p:spPr>
          <a:xfrm>
            <a:off x="9418320" y="310591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會做</a:t>
            </a:r>
            <a:endParaRPr lang="en-US" sz="1900" dirty="0"/>
          </a:p>
        </p:txBody>
      </p:sp>
      <p:sp>
        <p:nvSpPr>
          <p:cNvPr id="14" name="card-text-33"/>
          <p:cNvSpPr txBox="1"/>
          <p:nvPr/>
        </p:nvSpPr>
        <p:spPr>
          <a:xfrm>
            <a:off x="8778240" y="3810000"/>
            <a:ext cx="2697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風險評鑑、衝擊評鑑、SoA 與文件</a:t>
            </a:r>
            <a:endParaRPr lang="en-US" sz="1700" dirty="0"/>
          </a:p>
        </p:txBody>
      </p:sp>
      <p:sp>
        <p:nvSpPr>
          <p:cNvPr id="15" name="card-34"/>
          <p:cNvSpPr/>
          <p:nvPr/>
        </p:nvSpPr>
        <p:spPr>
          <a:xfrm>
            <a:off x="8549640" y="4602480"/>
            <a:ext cx="3108960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-icon-bg-35"/>
          <p:cNvSpPr/>
          <p:nvPr/>
        </p:nvSpPr>
        <p:spPr>
          <a:xfrm>
            <a:off x="8732520" y="47853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card-icon-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36" y="4913376"/>
            <a:ext cx="310896" cy="310896"/>
          </a:xfrm>
          <a:prstGeom prst="rect">
            <a:avLst/>
          </a:prstGeom>
        </p:spPr>
      </p:pic>
      <p:sp>
        <p:nvSpPr>
          <p:cNvPr id="18" name="card-title-37"/>
          <p:cNvSpPr txBox="1"/>
          <p:nvPr/>
        </p:nvSpPr>
        <p:spPr>
          <a:xfrm>
            <a:off x="9418320" y="47670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能稽核</a:t>
            </a:r>
            <a:endParaRPr lang="en-US" sz="1900" dirty="0"/>
          </a:p>
        </p:txBody>
      </p:sp>
      <p:sp>
        <p:nvSpPr>
          <p:cNvPr id="19" name="card-text-38"/>
          <p:cNvSpPr txBox="1"/>
          <p:nvPr/>
        </p:nvSpPr>
        <p:spPr>
          <a:xfrm>
            <a:off x="8778240" y="5471160"/>
            <a:ext cx="2697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稽核提問、證據、不符合寫法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暖身：你的公司用了哪些 AI？</a:t>
            </a:r>
            <a:endParaRPr lang="en-US" sz="3000" dirty="0"/>
          </a:p>
        </p:txBody>
      </p:sp>
      <p:sp>
        <p:nvSpPr>
          <p:cNvPr id="4" name="card-39"/>
          <p:cNvSpPr/>
          <p:nvPr/>
        </p:nvSpPr>
        <p:spPr>
          <a:xfrm>
            <a:off x="548640" y="1325880"/>
            <a:ext cx="2567864" cy="310896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40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42"/>
          <p:cNvSpPr txBox="1"/>
          <p:nvPr/>
        </p:nvSpPr>
        <p:spPr>
          <a:xfrm>
            <a:off x="1417320" y="1490472"/>
            <a:ext cx="1562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生成式 AI 工具</a:t>
            </a:r>
            <a:endParaRPr lang="en-US" sz="1900" dirty="0"/>
          </a:p>
        </p:txBody>
      </p:sp>
      <p:sp>
        <p:nvSpPr>
          <p:cNvPr id="8" name="card-text-43"/>
          <p:cNvSpPr txBox="1"/>
          <p:nvPr/>
        </p:nvSpPr>
        <p:spPr>
          <a:xfrm>
            <a:off x="777240" y="2194560"/>
            <a:ext cx="2156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ChatGPT、Copilot、Gemini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會議摘要、翻譯、寫程式</a:t>
            </a:r>
            <a:endParaRPr lang="en-US" sz="1700" dirty="0"/>
          </a:p>
        </p:txBody>
      </p:sp>
      <p:sp>
        <p:nvSpPr>
          <p:cNvPr id="9" name="card-44"/>
          <p:cNvSpPr/>
          <p:nvPr/>
        </p:nvSpPr>
        <p:spPr>
          <a:xfrm>
            <a:off x="3390824" y="1325880"/>
            <a:ext cx="2567864" cy="310896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45"/>
          <p:cNvSpPr/>
          <p:nvPr/>
        </p:nvSpPr>
        <p:spPr>
          <a:xfrm>
            <a:off x="3573704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20" y="1636776"/>
            <a:ext cx="310896" cy="310896"/>
          </a:xfrm>
          <a:prstGeom prst="rect">
            <a:avLst/>
          </a:prstGeom>
        </p:spPr>
      </p:pic>
      <p:sp>
        <p:nvSpPr>
          <p:cNvPr id="12" name="card-title-47"/>
          <p:cNvSpPr txBox="1"/>
          <p:nvPr/>
        </p:nvSpPr>
        <p:spPr>
          <a:xfrm>
            <a:off x="4259504" y="1490472"/>
            <a:ext cx="1562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內建 AI 的系統</a:t>
            </a:r>
            <a:endParaRPr lang="en-US" sz="1900" dirty="0"/>
          </a:p>
        </p:txBody>
      </p:sp>
      <p:sp>
        <p:nvSpPr>
          <p:cNvPr id="13" name="card-text-48"/>
          <p:cNvSpPr txBox="1"/>
          <p:nvPr/>
        </p:nvSpPr>
        <p:spPr>
          <a:xfrm>
            <a:off x="3619424" y="2194560"/>
            <a:ext cx="2156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CRM 的商機預測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資安設備的異常偵測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ERP 的需求預測</a:t>
            </a:r>
            <a:endParaRPr lang="en-US" sz="1700" dirty="0"/>
          </a:p>
        </p:txBody>
      </p:sp>
      <p:sp>
        <p:nvSpPr>
          <p:cNvPr id="14" name="card-49"/>
          <p:cNvSpPr/>
          <p:nvPr/>
        </p:nvSpPr>
        <p:spPr>
          <a:xfrm>
            <a:off x="6233008" y="1325880"/>
            <a:ext cx="2567864" cy="310896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50"/>
          <p:cNvSpPr/>
          <p:nvPr/>
        </p:nvSpPr>
        <p:spPr>
          <a:xfrm>
            <a:off x="6415888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1636776"/>
            <a:ext cx="310896" cy="310896"/>
          </a:xfrm>
          <a:prstGeom prst="rect">
            <a:avLst/>
          </a:prstGeom>
        </p:spPr>
      </p:pic>
      <p:sp>
        <p:nvSpPr>
          <p:cNvPr id="17" name="card-title-52"/>
          <p:cNvSpPr txBox="1"/>
          <p:nvPr/>
        </p:nvSpPr>
        <p:spPr>
          <a:xfrm>
            <a:off x="7101688" y="1490472"/>
            <a:ext cx="1562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自行開發的 AI</a:t>
            </a:r>
            <a:endParaRPr lang="en-US" sz="1900" dirty="0"/>
          </a:p>
        </p:txBody>
      </p:sp>
      <p:sp>
        <p:nvSpPr>
          <p:cNvPr id="18" name="card-text-53"/>
          <p:cNvSpPr txBox="1"/>
          <p:nvPr/>
        </p:nvSpPr>
        <p:spPr>
          <a:xfrm>
            <a:off x="6461608" y="2194560"/>
            <a:ext cx="2156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客服機器人、推薦系統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瑕疵檢測、信用評分</a:t>
            </a:r>
            <a:endParaRPr lang="en-US" sz="1700" dirty="0"/>
          </a:p>
        </p:txBody>
      </p:sp>
      <p:sp>
        <p:nvSpPr>
          <p:cNvPr id="19" name="card-54"/>
          <p:cNvSpPr/>
          <p:nvPr/>
        </p:nvSpPr>
        <p:spPr>
          <a:xfrm>
            <a:off x="9075191" y="1325880"/>
            <a:ext cx="2567864" cy="310896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55"/>
          <p:cNvSpPr/>
          <p:nvPr/>
        </p:nvSpPr>
        <p:spPr>
          <a:xfrm>
            <a:off x="9258071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card-icon-5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087" y="1636776"/>
            <a:ext cx="310896" cy="310896"/>
          </a:xfrm>
          <a:prstGeom prst="rect">
            <a:avLst/>
          </a:prstGeom>
        </p:spPr>
      </p:pic>
      <p:sp>
        <p:nvSpPr>
          <p:cNvPr id="22" name="card-title-57"/>
          <p:cNvSpPr txBox="1"/>
          <p:nvPr/>
        </p:nvSpPr>
        <p:spPr>
          <a:xfrm>
            <a:off x="9943871" y="1490472"/>
            <a:ext cx="1562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提供給客戶的 AI</a:t>
            </a:r>
            <a:endParaRPr lang="en-US" sz="1900" dirty="0"/>
          </a:p>
        </p:txBody>
      </p:sp>
      <p:sp>
        <p:nvSpPr>
          <p:cNvPr id="23" name="card-text-58"/>
          <p:cNvSpPr txBox="1"/>
          <p:nvPr/>
        </p:nvSpPr>
        <p:spPr>
          <a:xfrm>
            <a:off x="9303791" y="2194560"/>
            <a:ext cx="2156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SaaS 服務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嵌入 AI 的產品</a:t>
            </a:r>
            <a:endParaRPr lang="en-US" sz="1700" dirty="0"/>
          </a:p>
        </p:txBody>
      </p:sp>
      <p:pic>
        <p:nvPicPr>
          <p:cNvPr id="24" name="allan-avatar-59" descr="Allan 講師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868680" cy="868680"/>
          </a:xfrm>
          <a:prstGeom prst="rect">
            <a:avLst/>
          </a:prstGeom>
        </p:spPr>
      </p:pic>
      <p:sp>
        <p:nvSpPr>
          <p:cNvPr id="25" name="bubble-60"/>
          <p:cNvSpPr/>
          <p:nvPr/>
        </p:nvSpPr>
        <p:spPr>
          <a:xfrm>
            <a:off x="1508760" y="4800600"/>
            <a:ext cx="5806440" cy="9144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6" name="bubble-text-61"/>
          <p:cNvSpPr txBox="1"/>
          <p:nvPr/>
        </p:nvSpPr>
        <p:spPr>
          <a:xfrm>
            <a:off x="1645920" y="480060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先盤點，才知道要管什麼。導入 42001 的第一份文件，往往就是「AI 系統清冊」。</a:t>
            </a:r>
            <a:endParaRPr lang="en-US" sz="1700" dirty="0"/>
          </a:p>
        </p:txBody>
      </p:sp>
      <p:pic>
        <p:nvPicPr>
          <p:cNvPr id="27" name="arale-avatar-62" descr="助教阿拉蕾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4823460"/>
            <a:ext cx="868680" cy="868680"/>
          </a:xfrm>
          <a:prstGeom prst="rect">
            <a:avLst/>
          </a:prstGeom>
        </p:spPr>
      </p:pic>
      <p:sp>
        <p:nvSpPr>
          <p:cNvPr id="28" name="bubble-63"/>
          <p:cNvSpPr/>
          <p:nvPr/>
        </p:nvSpPr>
        <p:spPr>
          <a:xfrm>
            <a:off x="8549640" y="480060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bubble-text-64"/>
          <p:cNvSpPr txBox="1"/>
          <p:nvPr/>
        </p:nvSpPr>
        <p:spPr>
          <a:xfrm>
            <a:off x="8686800" y="48006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那「偷偷用」的影子 AI 也要算進去嗎？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治理趨勢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為什麼需要 ISO/IEC 42001？</a:t>
            </a:r>
            <a:endParaRPr lang="en-US" sz="2000" dirty="0"/>
          </a:p>
        </p:txBody>
      </p:sp>
      <p:sp>
        <p:nvSpPr>
          <p:cNvPr id="5" name="section-num-65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66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7" name="section-time-67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15 分鐘</a:t>
            </a:r>
            <a:endParaRPr lang="en-US" sz="1400" dirty="0"/>
          </a:p>
        </p:txBody>
      </p:sp>
      <p:pic>
        <p:nvPicPr>
          <p:cNvPr id="8" name="allan-68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帶來傳統 IT 管理沒有的三種新風險</a:t>
            </a:r>
            <a:endParaRPr lang="en-US" sz="3000" dirty="0"/>
          </a:p>
        </p:txBody>
      </p:sp>
      <p:sp>
        <p:nvSpPr>
          <p:cNvPr id="4" name="card-69"/>
          <p:cNvSpPr/>
          <p:nvPr/>
        </p:nvSpPr>
        <p:spPr>
          <a:xfrm>
            <a:off x="548640" y="1325880"/>
            <a:ext cx="351525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70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72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不透明、難解釋</a:t>
            </a:r>
            <a:endParaRPr lang="en-US" sz="1900" dirty="0"/>
          </a:p>
        </p:txBody>
      </p:sp>
      <p:sp>
        <p:nvSpPr>
          <p:cNvPr id="8" name="card-text-73"/>
          <p:cNvSpPr txBox="1"/>
          <p:nvPr/>
        </p:nvSpPr>
        <p:spPr>
          <a:xfrm>
            <a:off x="777240" y="2194560"/>
            <a:ext cx="31037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自動決策有時以不透明、無法解釋的方式進行，需要超越傳統 IT 系統的管理。</a:t>
            </a:r>
            <a:endParaRPr lang="en-US" sz="1800" dirty="0"/>
          </a:p>
        </p:txBody>
      </p:sp>
      <p:sp>
        <p:nvSpPr>
          <p:cNvPr id="9" name="card-74"/>
          <p:cNvSpPr/>
          <p:nvPr/>
        </p:nvSpPr>
        <p:spPr>
          <a:xfrm>
            <a:off x="4338218" y="1325880"/>
            <a:ext cx="351525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75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77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資料驅動</a:t>
            </a:r>
            <a:endParaRPr lang="en-US" sz="1900" dirty="0"/>
          </a:p>
        </p:txBody>
      </p:sp>
      <p:sp>
        <p:nvSpPr>
          <p:cNvPr id="13" name="card-text-78"/>
          <p:cNvSpPr txBox="1"/>
          <p:nvPr/>
        </p:nvSpPr>
        <p:spPr>
          <a:xfrm>
            <a:off x="4566818" y="2194560"/>
            <a:ext cx="31037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用資料分析與機器學習取代人寫的邏輯，改變系統的開發、論證與部署方式。</a:t>
            </a:r>
            <a:endParaRPr lang="en-US" sz="1800" dirty="0"/>
          </a:p>
        </p:txBody>
      </p:sp>
      <p:sp>
        <p:nvSpPr>
          <p:cNvPr id="14" name="card-79"/>
          <p:cNvSpPr/>
          <p:nvPr/>
        </p:nvSpPr>
        <p:spPr>
          <a:xfrm>
            <a:off x="8127797" y="1325880"/>
            <a:ext cx="351525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80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82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持續學習會改變行為</a:t>
            </a:r>
            <a:endParaRPr lang="en-US" sz="1900" dirty="0"/>
          </a:p>
        </p:txBody>
      </p:sp>
      <p:sp>
        <p:nvSpPr>
          <p:cNvPr id="18" name="card-text-83"/>
          <p:cNvSpPr txBox="1"/>
          <p:nvPr/>
        </p:nvSpPr>
        <p:spPr>
          <a:xfrm>
            <a:off x="8356397" y="2194560"/>
            <a:ext cx="31037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持續學習的 AI 在使用中改變行為，需特別考量才能確保持續負責任地使用。</a:t>
            </a:r>
            <a:endParaRPr lang="en-US" sz="1800" dirty="0"/>
          </a:p>
        </p:txBody>
      </p:sp>
      <p:pic>
        <p:nvPicPr>
          <p:cNvPr id="19" name="allan-avatar-84" descr="Allan 講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32020"/>
            <a:ext cx="868680" cy="868680"/>
          </a:xfrm>
          <a:prstGeom prst="rect">
            <a:avLst/>
          </a:prstGeom>
        </p:spPr>
      </p:pic>
      <p:sp>
        <p:nvSpPr>
          <p:cNvPr id="20" name="bubble-85"/>
          <p:cNvSpPr/>
          <p:nvPr/>
        </p:nvSpPr>
        <p:spPr>
          <a:xfrm>
            <a:off x="1508760" y="4709160"/>
            <a:ext cx="10134295" cy="9144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86"/>
          <p:cNvSpPr txBox="1"/>
          <p:nvPr/>
        </p:nvSpPr>
        <p:spPr>
          <a:xfrm>
            <a:off x="1645920" y="4709160"/>
            <a:ext cx="9859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42001 不是重做一套 IT 管理，而是把力氣放在「AI 獨有的特性」上——這是標準介紹裡講得很清楚的。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三個警示事件：AI 出事，誰負責？</a:t>
            </a:r>
            <a:endParaRPr lang="en-US" sz="3000" dirty="0"/>
          </a:p>
        </p:txBody>
      </p:sp>
      <p:sp>
        <p:nvSpPr>
          <p:cNvPr id="4" name="card-87"/>
          <p:cNvSpPr/>
          <p:nvPr/>
        </p:nvSpPr>
        <p:spPr>
          <a:xfrm>
            <a:off x="548640" y="132588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88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8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90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2018｜AI 履歷篩選偏差</a:t>
            </a:r>
            <a:endParaRPr lang="en-US" sz="1900" dirty="0"/>
          </a:p>
        </p:txBody>
      </p:sp>
      <p:sp>
        <p:nvSpPr>
          <p:cNvPr id="8" name="card-text-91"/>
          <p:cNvSpPr txBox="1"/>
          <p:nvPr/>
        </p:nvSpPr>
        <p:spPr>
          <a:xfrm>
            <a:off x="777240" y="2194560"/>
            <a:ext cx="31037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報導：Amazon 實驗性工具對女性求職者產生偏差而停用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對應：A.7.4 資料品質、A.5 衝擊評鑑</a:t>
            </a:r>
            <a:endParaRPr lang="en-US" sz="1700" dirty="0"/>
          </a:p>
        </p:txBody>
      </p:sp>
      <p:sp>
        <p:nvSpPr>
          <p:cNvPr id="9" name="card-92"/>
          <p:cNvSpPr/>
          <p:nvPr/>
        </p:nvSpPr>
        <p:spPr>
          <a:xfrm>
            <a:off x="4338218" y="132588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93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9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95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2023｜機密貼進 ChatGPT</a:t>
            </a:r>
            <a:endParaRPr lang="en-US" sz="1900" dirty="0"/>
          </a:p>
        </p:txBody>
      </p:sp>
      <p:sp>
        <p:nvSpPr>
          <p:cNvPr id="13" name="card-text-96"/>
          <p:cNvSpPr txBox="1"/>
          <p:nvPr/>
        </p:nvSpPr>
        <p:spPr>
          <a:xfrm>
            <a:off x="4566818" y="2194560"/>
            <a:ext cx="31037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Samsung 員工貼入機密原始碼，公司限制生成式 AI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對應：A.2 AI 政策、A.9 負責任使用、7.3 認知</a:t>
            </a:r>
            <a:endParaRPr lang="en-US" sz="1700" dirty="0"/>
          </a:p>
        </p:txBody>
      </p:sp>
      <p:sp>
        <p:nvSpPr>
          <p:cNvPr id="14" name="card-97"/>
          <p:cNvSpPr/>
          <p:nvPr/>
        </p:nvSpPr>
        <p:spPr>
          <a:xfrm>
            <a:off x="8127797" y="132588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98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9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100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2024｜聊天機器人亂答</a:t>
            </a:r>
            <a:endParaRPr lang="en-US" sz="1900" dirty="0"/>
          </a:p>
        </p:txBody>
      </p:sp>
      <p:sp>
        <p:nvSpPr>
          <p:cNvPr id="18" name="card-text-101"/>
          <p:cNvSpPr txBox="1"/>
          <p:nvPr/>
        </p:nvSpPr>
        <p:spPr>
          <a:xfrm>
            <a:off x="8356397" y="2194560"/>
            <a:ext cx="31037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Air Canada 客服機器人給錯退款政策，法庭判公司負責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對應：A.8.2 使用者資訊、A.9.3 人為監管</a:t>
            </a:r>
            <a:endParaRPr lang="en-US" sz="1700" dirty="0"/>
          </a:p>
        </p:txBody>
      </p:sp>
      <p:pic>
        <p:nvPicPr>
          <p:cNvPr id="19" name="arale-avatar-102" descr="助教阿拉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46320"/>
            <a:ext cx="868680" cy="868680"/>
          </a:xfrm>
          <a:prstGeom prst="rect">
            <a:avLst/>
          </a:prstGeom>
        </p:spPr>
      </p:pic>
      <p:sp>
        <p:nvSpPr>
          <p:cNvPr id="20" name="bubble-103"/>
          <p:cNvSpPr/>
          <p:nvPr/>
        </p:nvSpPr>
        <p:spPr>
          <a:xfrm>
            <a:off x="1508760" y="484632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bubble-text-104"/>
          <p:cNvSpPr txBox="1"/>
          <p:nvPr/>
        </p:nvSpPr>
        <p:spPr>
          <a:xfrm>
            <a:off x="1645920" y="484632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原來「是 AI 說的，不是我說的」這招行不通喔！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全球 AI 治理框架比較</a:t>
            </a:r>
            <a:endParaRPr lang="en-US" sz="3000" dirty="0"/>
          </a:p>
        </p:txBody>
      </p:sp>
      <p:graphicFrame>
        <p:nvGraphicFramePr>
          <p:cNvPr id="9" name="table-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14600"/>
                <a:gridCol w="2514600"/>
                <a:gridCol w="2057400"/>
                <a:gridCol w="25420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EU AI Act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台灣 AI 基本法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NIST AI RMF 1.0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ISO/IEC 42001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性質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歐盟法規（有罰則）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原則性立法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自願性框架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可驗證的管理系統標準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時間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2024-08-01 生效，分階段適用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2025-12-23 三讀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2026-01-14 公布施行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2023-01 發布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2023-12 發布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核心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風險分級：禁止、高風險、透明義務、最低風險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七大原則；數位部訂風險分類框架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Govern、Map、Measure、Manage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PDCA 管理系統 + 附錄 A 38 項控制措施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對企業的意義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進入歐盟市場須符合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各目的事業主管機關將訂管理規範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風險管理方法參考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第三方驗證，展現當責證據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5" name="allan-avatar-106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20640"/>
            <a:ext cx="868680" cy="868680"/>
          </a:xfrm>
          <a:prstGeom prst="rect">
            <a:avLst/>
          </a:prstGeom>
        </p:spPr>
      </p:pic>
      <p:sp>
        <p:nvSpPr>
          <p:cNvPr id="6" name="bubble-107"/>
          <p:cNvSpPr/>
          <p:nvPr/>
        </p:nvSpPr>
        <p:spPr>
          <a:xfrm>
            <a:off x="1508760" y="5166360"/>
            <a:ext cx="10134295" cy="777240"/>
          </a:xfrm>
          <a:prstGeom prst="roundRect">
            <a:avLst>
              <a:gd name="adj" fmla="val 14118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7" name="bubble-text-108"/>
          <p:cNvSpPr txBox="1"/>
          <p:nvPr/>
        </p:nvSpPr>
        <p:spPr>
          <a:xfrm>
            <a:off x="1645920" y="516636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法規告訴你「要做到什麼」，42001 給你「怎麼管起來、怎麼證明」的骨架。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EU AI Act 時程與台灣 AI 基本法重點</a:t>
            </a:r>
            <a:endParaRPr lang="en-US" sz="3000" dirty="0"/>
          </a:p>
        </p:txBody>
      </p:sp>
      <p:sp>
        <p:nvSpPr>
          <p:cNvPr id="4" name="flow-head-109"/>
          <p:cNvSpPr/>
          <p:nvPr/>
        </p:nvSpPr>
        <p:spPr>
          <a:xfrm>
            <a:off x="548640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110"/>
          <p:cNvSpPr txBox="1"/>
          <p:nvPr/>
        </p:nvSpPr>
        <p:spPr>
          <a:xfrm>
            <a:off x="548640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2024-08-01</a:t>
            </a:r>
            <a:endParaRPr lang="en-US" sz="1600" dirty="0"/>
          </a:p>
        </p:txBody>
      </p:sp>
      <p:sp>
        <p:nvSpPr>
          <p:cNvPr id="6" name="flow-body-111"/>
          <p:cNvSpPr/>
          <p:nvPr/>
        </p:nvSpPr>
        <p:spPr>
          <a:xfrm>
            <a:off x="548640" y="1984248"/>
            <a:ext cx="2014057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112"/>
          <p:cNvSpPr txBox="1"/>
          <p:nvPr/>
        </p:nvSpPr>
        <p:spPr>
          <a:xfrm>
            <a:off x="658368" y="2075688"/>
            <a:ext cx="179460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EU AI Act 生效</a:t>
            </a:r>
            <a:endParaRPr lang="en-US" sz="1700" dirty="0"/>
          </a:p>
        </p:txBody>
      </p:sp>
      <p:sp>
        <p:nvSpPr>
          <p:cNvPr id="8" name="flow-arrow-113"/>
          <p:cNvSpPr/>
          <p:nvPr/>
        </p:nvSpPr>
        <p:spPr>
          <a:xfrm rot="5400000">
            <a:off x="262670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114"/>
          <p:cNvSpPr/>
          <p:nvPr/>
        </p:nvSpPr>
        <p:spPr>
          <a:xfrm>
            <a:off x="281872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115"/>
          <p:cNvSpPr txBox="1"/>
          <p:nvPr/>
        </p:nvSpPr>
        <p:spPr>
          <a:xfrm>
            <a:off x="281872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2025-02-02</a:t>
            </a:r>
            <a:endParaRPr lang="en-US" sz="1600" dirty="0"/>
          </a:p>
        </p:txBody>
      </p:sp>
      <p:sp>
        <p:nvSpPr>
          <p:cNvPr id="11" name="flow-body-116"/>
          <p:cNvSpPr/>
          <p:nvPr/>
        </p:nvSpPr>
        <p:spPr>
          <a:xfrm>
            <a:off x="2818729" y="1984248"/>
            <a:ext cx="2014057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117"/>
          <p:cNvSpPr txBox="1"/>
          <p:nvPr/>
        </p:nvSpPr>
        <p:spPr>
          <a:xfrm>
            <a:off x="2928457" y="2075688"/>
            <a:ext cx="179460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禁止性規定適用</a:t>
            </a:r>
            <a:endParaRPr lang="en-US" sz="1700" dirty="0"/>
          </a:p>
        </p:txBody>
      </p:sp>
      <p:sp>
        <p:nvSpPr>
          <p:cNvPr id="13" name="flow-arrow-118"/>
          <p:cNvSpPr/>
          <p:nvPr/>
        </p:nvSpPr>
        <p:spPr>
          <a:xfrm rot="5400000">
            <a:off x="489679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119"/>
          <p:cNvSpPr/>
          <p:nvPr/>
        </p:nvSpPr>
        <p:spPr>
          <a:xfrm>
            <a:off x="508881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120"/>
          <p:cNvSpPr txBox="1"/>
          <p:nvPr/>
        </p:nvSpPr>
        <p:spPr>
          <a:xfrm>
            <a:off x="508881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2025-08-02</a:t>
            </a:r>
            <a:endParaRPr lang="en-US" sz="1600" dirty="0"/>
          </a:p>
        </p:txBody>
      </p:sp>
      <p:sp>
        <p:nvSpPr>
          <p:cNvPr id="16" name="flow-body-121"/>
          <p:cNvSpPr/>
          <p:nvPr/>
        </p:nvSpPr>
        <p:spPr>
          <a:xfrm>
            <a:off x="5088819" y="1984248"/>
            <a:ext cx="2014057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122"/>
          <p:cNvSpPr txBox="1"/>
          <p:nvPr/>
        </p:nvSpPr>
        <p:spPr>
          <a:xfrm>
            <a:off x="5198547" y="2075688"/>
            <a:ext cx="179460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通用目的 AI（GPAI）義務適用</a:t>
            </a:r>
            <a:endParaRPr lang="en-US" sz="1700" dirty="0"/>
          </a:p>
        </p:txBody>
      </p:sp>
      <p:sp>
        <p:nvSpPr>
          <p:cNvPr id="18" name="flow-arrow-123"/>
          <p:cNvSpPr/>
          <p:nvPr/>
        </p:nvSpPr>
        <p:spPr>
          <a:xfrm rot="5400000">
            <a:off x="716688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124"/>
          <p:cNvSpPr/>
          <p:nvPr/>
        </p:nvSpPr>
        <p:spPr>
          <a:xfrm>
            <a:off x="735890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125"/>
          <p:cNvSpPr txBox="1"/>
          <p:nvPr/>
        </p:nvSpPr>
        <p:spPr>
          <a:xfrm>
            <a:off x="735890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2027-12-02</a:t>
            </a:r>
            <a:endParaRPr lang="en-US" sz="1600" dirty="0"/>
          </a:p>
        </p:txBody>
      </p:sp>
      <p:sp>
        <p:nvSpPr>
          <p:cNvPr id="21" name="flow-body-126"/>
          <p:cNvSpPr/>
          <p:nvPr/>
        </p:nvSpPr>
        <p:spPr>
          <a:xfrm>
            <a:off x="7358908" y="1984248"/>
            <a:ext cx="2014057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127"/>
          <p:cNvSpPr txBox="1"/>
          <p:nvPr/>
        </p:nvSpPr>
        <p:spPr>
          <a:xfrm>
            <a:off x="7468636" y="2075688"/>
            <a:ext cx="179460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附件 III 高風險系統適用（Digital Omnibus 延後）</a:t>
            </a:r>
            <a:endParaRPr lang="en-US" sz="1700" dirty="0"/>
          </a:p>
        </p:txBody>
      </p:sp>
      <p:sp>
        <p:nvSpPr>
          <p:cNvPr id="23" name="flow-arrow-128"/>
          <p:cNvSpPr/>
          <p:nvPr/>
        </p:nvSpPr>
        <p:spPr>
          <a:xfrm rot="5400000">
            <a:off x="943697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129"/>
          <p:cNvSpPr/>
          <p:nvPr/>
        </p:nvSpPr>
        <p:spPr>
          <a:xfrm>
            <a:off x="962899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130"/>
          <p:cNvSpPr txBox="1"/>
          <p:nvPr/>
        </p:nvSpPr>
        <p:spPr>
          <a:xfrm>
            <a:off x="962899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2028-08-02</a:t>
            </a:r>
            <a:endParaRPr lang="en-US" sz="1600" dirty="0"/>
          </a:p>
        </p:txBody>
      </p:sp>
      <p:sp>
        <p:nvSpPr>
          <p:cNvPr id="26" name="flow-body-131"/>
          <p:cNvSpPr/>
          <p:nvPr/>
        </p:nvSpPr>
        <p:spPr>
          <a:xfrm>
            <a:off x="9628998" y="1984248"/>
            <a:ext cx="2014057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132"/>
          <p:cNvSpPr txBox="1"/>
          <p:nvPr/>
        </p:nvSpPr>
        <p:spPr>
          <a:xfrm>
            <a:off x="9738726" y="2075688"/>
            <a:ext cx="179460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附件 I 產品內嵌 AI 適用</a:t>
            </a:r>
            <a:endParaRPr lang="en-US" sz="1700" dirty="0"/>
          </a:p>
        </p:txBody>
      </p:sp>
      <p:sp>
        <p:nvSpPr>
          <p:cNvPr id="28" name="h-133"/>
          <p:cNvSpPr txBox="1"/>
          <p:nvPr/>
        </p:nvSpPr>
        <p:spPr>
          <a:xfrm>
            <a:off x="54864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台灣《人工智慧基本法》七大原則</a:t>
            </a:r>
            <a:endParaRPr lang="en-US" sz="1800" dirty="0"/>
          </a:p>
        </p:txBody>
      </p:sp>
      <p:sp>
        <p:nvSpPr>
          <p:cNvPr id="29" name="tag-134"/>
          <p:cNvSpPr/>
          <p:nvPr/>
        </p:nvSpPr>
        <p:spPr>
          <a:xfrm>
            <a:off x="548640" y="388620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ag-text-135"/>
          <p:cNvSpPr txBox="1"/>
          <p:nvPr/>
        </p:nvSpPr>
        <p:spPr>
          <a:xfrm>
            <a:off x="54864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永續發展與福祉</a:t>
            </a:r>
            <a:endParaRPr lang="en-US" sz="1300" dirty="0"/>
          </a:p>
        </p:txBody>
      </p:sp>
      <p:sp>
        <p:nvSpPr>
          <p:cNvPr id="31" name="tag-136"/>
          <p:cNvSpPr/>
          <p:nvPr/>
        </p:nvSpPr>
        <p:spPr>
          <a:xfrm>
            <a:off x="3337560" y="388620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ag-text-137"/>
          <p:cNvSpPr txBox="1"/>
          <p:nvPr/>
        </p:nvSpPr>
        <p:spPr>
          <a:xfrm>
            <a:off x="333756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人類自主</a:t>
            </a:r>
            <a:endParaRPr lang="en-US" sz="1300" dirty="0"/>
          </a:p>
        </p:txBody>
      </p:sp>
      <p:sp>
        <p:nvSpPr>
          <p:cNvPr id="33" name="tag-138"/>
          <p:cNvSpPr/>
          <p:nvPr/>
        </p:nvSpPr>
        <p:spPr>
          <a:xfrm>
            <a:off x="6126480" y="388620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ag-text-139"/>
          <p:cNvSpPr txBox="1"/>
          <p:nvPr/>
        </p:nvSpPr>
        <p:spPr>
          <a:xfrm>
            <a:off x="612648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隱私保護與資料治理</a:t>
            </a:r>
            <a:endParaRPr lang="en-US" sz="1300" dirty="0"/>
          </a:p>
        </p:txBody>
      </p:sp>
      <p:sp>
        <p:nvSpPr>
          <p:cNvPr id="35" name="tag-140"/>
          <p:cNvSpPr/>
          <p:nvPr/>
        </p:nvSpPr>
        <p:spPr>
          <a:xfrm>
            <a:off x="8915400" y="388620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ag-text-141"/>
          <p:cNvSpPr txBox="1"/>
          <p:nvPr/>
        </p:nvSpPr>
        <p:spPr>
          <a:xfrm>
            <a:off x="891540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資安與安全</a:t>
            </a:r>
            <a:endParaRPr lang="en-US" sz="1300" dirty="0"/>
          </a:p>
        </p:txBody>
      </p:sp>
      <p:sp>
        <p:nvSpPr>
          <p:cNvPr id="37" name="tag-142"/>
          <p:cNvSpPr/>
          <p:nvPr/>
        </p:nvSpPr>
        <p:spPr>
          <a:xfrm>
            <a:off x="548640" y="443484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ag-text-143"/>
          <p:cNvSpPr txBox="1"/>
          <p:nvPr/>
        </p:nvSpPr>
        <p:spPr>
          <a:xfrm>
            <a:off x="548640" y="4434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透明與可解釋</a:t>
            </a:r>
            <a:endParaRPr lang="en-US" sz="1300" dirty="0"/>
          </a:p>
        </p:txBody>
      </p:sp>
      <p:sp>
        <p:nvSpPr>
          <p:cNvPr id="39" name="tag-144"/>
          <p:cNvSpPr/>
          <p:nvPr/>
        </p:nvSpPr>
        <p:spPr>
          <a:xfrm>
            <a:off x="3337560" y="443484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ag-text-145"/>
          <p:cNvSpPr txBox="1"/>
          <p:nvPr/>
        </p:nvSpPr>
        <p:spPr>
          <a:xfrm>
            <a:off x="3337560" y="4434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公平與不歧視</a:t>
            </a:r>
            <a:endParaRPr lang="en-US" sz="1300" dirty="0"/>
          </a:p>
        </p:txBody>
      </p:sp>
      <p:sp>
        <p:nvSpPr>
          <p:cNvPr id="41" name="tag-146"/>
          <p:cNvSpPr/>
          <p:nvPr/>
        </p:nvSpPr>
        <p:spPr>
          <a:xfrm>
            <a:off x="6126480" y="4434840"/>
            <a:ext cx="260604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ag-text-147"/>
          <p:cNvSpPr txBox="1"/>
          <p:nvPr/>
        </p:nvSpPr>
        <p:spPr>
          <a:xfrm>
            <a:off x="6126480" y="4434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問責</a:t>
            </a:r>
            <a:endParaRPr lang="en-US" sz="1300" dirty="0"/>
          </a:p>
        </p:txBody>
      </p:sp>
      <p:pic>
        <p:nvPicPr>
          <p:cNvPr id="43" name="allan-avatar-148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97780"/>
            <a:ext cx="868680" cy="868680"/>
          </a:xfrm>
          <a:prstGeom prst="rect">
            <a:avLst/>
          </a:prstGeom>
        </p:spPr>
      </p:pic>
      <p:sp>
        <p:nvSpPr>
          <p:cNvPr id="44" name="bubble-149"/>
          <p:cNvSpPr/>
          <p:nvPr/>
        </p:nvSpPr>
        <p:spPr>
          <a:xfrm>
            <a:off x="1508760" y="516636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5" name="bubble-text-150"/>
          <p:cNvSpPr txBox="1"/>
          <p:nvPr/>
        </p:nvSpPr>
        <p:spPr>
          <a:xfrm>
            <a:off x="1645920" y="516636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延後的是適用日期，不是義務本身。現在開始準備剛剛好。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ISO AI 標準家族地圖</a:t>
            </a:r>
            <a:endParaRPr lang="en-US" sz="3000" dirty="0"/>
          </a:p>
        </p:txBody>
      </p:sp>
      <p:sp>
        <p:nvSpPr>
          <p:cNvPr id="4" name="card-151"/>
          <p:cNvSpPr/>
          <p:nvPr/>
        </p:nvSpPr>
        <p:spPr>
          <a:xfrm>
            <a:off x="548640" y="13258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152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ard-badge-153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要求</a:t>
            </a:r>
            <a:endParaRPr lang="en-US" sz="1800" dirty="0"/>
          </a:p>
        </p:txBody>
      </p:sp>
      <p:sp>
        <p:nvSpPr>
          <p:cNvPr id="7" name="card-title-154"/>
          <p:cNvSpPr txBox="1"/>
          <p:nvPr/>
        </p:nvSpPr>
        <p:spPr>
          <a:xfrm>
            <a:off x="1417320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42001</a:t>
            </a:r>
            <a:endParaRPr lang="en-US" sz="1800" dirty="0"/>
          </a:p>
        </p:txBody>
      </p:sp>
      <p:sp>
        <p:nvSpPr>
          <p:cNvPr id="8" name="card-text-155"/>
          <p:cNvSpPr txBox="1"/>
          <p:nvPr/>
        </p:nvSpPr>
        <p:spPr>
          <a:xfrm>
            <a:off x="777240" y="21945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管理系統要求（可驗證）</a:t>
            </a:r>
            <a:endParaRPr lang="en-US" sz="1700" dirty="0"/>
          </a:p>
        </p:txBody>
      </p:sp>
      <p:sp>
        <p:nvSpPr>
          <p:cNvPr id="9" name="card-156"/>
          <p:cNvSpPr/>
          <p:nvPr/>
        </p:nvSpPr>
        <p:spPr>
          <a:xfrm>
            <a:off x="3379394" y="13258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157"/>
          <p:cNvSpPr/>
          <p:nvPr/>
        </p:nvSpPr>
        <p:spPr>
          <a:xfrm>
            <a:off x="3562274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158"/>
          <p:cNvSpPr txBox="1"/>
          <p:nvPr/>
        </p:nvSpPr>
        <p:spPr>
          <a:xfrm>
            <a:off x="3562274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術語</a:t>
            </a:r>
            <a:endParaRPr lang="en-US" sz="1800" dirty="0"/>
          </a:p>
        </p:txBody>
      </p:sp>
      <p:sp>
        <p:nvSpPr>
          <p:cNvPr id="12" name="card-title-159"/>
          <p:cNvSpPr txBox="1"/>
          <p:nvPr/>
        </p:nvSpPr>
        <p:spPr>
          <a:xfrm>
            <a:off x="4248074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22989</a:t>
            </a:r>
            <a:endParaRPr lang="en-US" sz="1800" dirty="0"/>
          </a:p>
        </p:txBody>
      </p:sp>
      <p:sp>
        <p:nvSpPr>
          <p:cNvPr id="13" name="card-text-160"/>
          <p:cNvSpPr txBox="1"/>
          <p:nvPr/>
        </p:nvSpPr>
        <p:spPr>
          <a:xfrm>
            <a:off x="3607994" y="21945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概念與術語（引用標準）</a:t>
            </a:r>
            <a:endParaRPr lang="en-US" sz="1700" dirty="0"/>
          </a:p>
        </p:txBody>
      </p:sp>
      <p:sp>
        <p:nvSpPr>
          <p:cNvPr id="14" name="card-161"/>
          <p:cNvSpPr/>
          <p:nvPr/>
        </p:nvSpPr>
        <p:spPr>
          <a:xfrm>
            <a:off x="6210148" y="13258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162"/>
          <p:cNvSpPr/>
          <p:nvPr/>
        </p:nvSpPr>
        <p:spPr>
          <a:xfrm>
            <a:off x="6393028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163"/>
          <p:cNvSpPr txBox="1"/>
          <p:nvPr/>
        </p:nvSpPr>
        <p:spPr>
          <a:xfrm>
            <a:off x="639302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風險</a:t>
            </a:r>
            <a:endParaRPr lang="en-US" sz="1800" dirty="0"/>
          </a:p>
        </p:txBody>
      </p:sp>
      <p:sp>
        <p:nvSpPr>
          <p:cNvPr id="17" name="card-title-164"/>
          <p:cNvSpPr txBox="1"/>
          <p:nvPr/>
        </p:nvSpPr>
        <p:spPr>
          <a:xfrm>
            <a:off x="7078828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23894</a:t>
            </a:r>
            <a:endParaRPr lang="en-US" sz="1800" dirty="0"/>
          </a:p>
        </p:txBody>
      </p:sp>
      <p:sp>
        <p:nvSpPr>
          <p:cNvPr id="18" name="card-text-165"/>
          <p:cNvSpPr txBox="1"/>
          <p:nvPr/>
        </p:nvSpPr>
        <p:spPr>
          <a:xfrm>
            <a:off x="6438748" y="21945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風險管理指引</a:t>
            </a:r>
            <a:endParaRPr lang="en-US" sz="1700" dirty="0"/>
          </a:p>
        </p:txBody>
      </p:sp>
      <p:sp>
        <p:nvSpPr>
          <p:cNvPr id="19" name="card-166"/>
          <p:cNvSpPr/>
          <p:nvPr/>
        </p:nvSpPr>
        <p:spPr>
          <a:xfrm>
            <a:off x="9040901" y="13258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167"/>
          <p:cNvSpPr/>
          <p:nvPr/>
        </p:nvSpPr>
        <p:spPr>
          <a:xfrm>
            <a:off x="9223781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ard-badge-168"/>
          <p:cNvSpPr txBox="1"/>
          <p:nvPr/>
        </p:nvSpPr>
        <p:spPr>
          <a:xfrm>
            <a:off x="9223781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衝擊</a:t>
            </a:r>
            <a:endParaRPr lang="en-US" sz="1800" dirty="0"/>
          </a:p>
        </p:txBody>
      </p:sp>
      <p:sp>
        <p:nvSpPr>
          <p:cNvPr id="22" name="card-title-169"/>
          <p:cNvSpPr txBox="1"/>
          <p:nvPr/>
        </p:nvSpPr>
        <p:spPr>
          <a:xfrm>
            <a:off x="9909581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42005</a:t>
            </a:r>
            <a:endParaRPr lang="en-US" sz="1800" dirty="0"/>
          </a:p>
        </p:txBody>
      </p:sp>
      <p:sp>
        <p:nvSpPr>
          <p:cNvPr id="23" name="card-text-170"/>
          <p:cNvSpPr txBox="1"/>
          <p:nvPr/>
        </p:nvSpPr>
        <p:spPr>
          <a:xfrm>
            <a:off x="9269501" y="21945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系統衝擊評鑑（2025）</a:t>
            </a:r>
            <a:endParaRPr lang="en-US" sz="1700" dirty="0"/>
          </a:p>
        </p:txBody>
      </p:sp>
      <p:sp>
        <p:nvSpPr>
          <p:cNvPr id="24" name="card-171"/>
          <p:cNvSpPr/>
          <p:nvPr/>
        </p:nvSpPr>
        <p:spPr>
          <a:xfrm>
            <a:off x="548640" y="32689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172"/>
          <p:cNvSpPr/>
          <p:nvPr/>
        </p:nvSpPr>
        <p:spPr>
          <a:xfrm>
            <a:off x="731520" y="345186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card-badge-173"/>
          <p:cNvSpPr txBox="1"/>
          <p:nvPr/>
        </p:nvSpPr>
        <p:spPr>
          <a:xfrm>
            <a:off x="731520" y="34518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驗證</a:t>
            </a:r>
            <a:endParaRPr lang="en-US" sz="1800" dirty="0"/>
          </a:p>
        </p:txBody>
      </p:sp>
      <p:sp>
        <p:nvSpPr>
          <p:cNvPr id="27" name="card-title-174"/>
          <p:cNvSpPr txBox="1"/>
          <p:nvPr/>
        </p:nvSpPr>
        <p:spPr>
          <a:xfrm>
            <a:off x="1417320" y="34335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42006</a:t>
            </a:r>
            <a:endParaRPr lang="en-US" sz="1800" dirty="0"/>
          </a:p>
        </p:txBody>
      </p:sp>
      <p:sp>
        <p:nvSpPr>
          <p:cNvPr id="28" name="card-text-175"/>
          <p:cNvSpPr txBox="1"/>
          <p:nvPr/>
        </p:nvSpPr>
        <p:spPr>
          <a:xfrm>
            <a:off x="777240" y="41376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AIMS 驗證機構要求（2025）</a:t>
            </a:r>
            <a:endParaRPr lang="en-US" sz="1700" dirty="0"/>
          </a:p>
        </p:txBody>
      </p:sp>
      <p:sp>
        <p:nvSpPr>
          <p:cNvPr id="29" name="card-176"/>
          <p:cNvSpPr/>
          <p:nvPr/>
        </p:nvSpPr>
        <p:spPr>
          <a:xfrm>
            <a:off x="3379394" y="32689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-icon-bg-177"/>
          <p:cNvSpPr/>
          <p:nvPr/>
        </p:nvSpPr>
        <p:spPr>
          <a:xfrm>
            <a:off x="3562274" y="345186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card-badge-178"/>
          <p:cNvSpPr txBox="1"/>
          <p:nvPr/>
        </p:nvSpPr>
        <p:spPr>
          <a:xfrm>
            <a:off x="3562274" y="34518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治理</a:t>
            </a:r>
            <a:endParaRPr lang="en-US" sz="1800" dirty="0"/>
          </a:p>
        </p:txBody>
      </p:sp>
      <p:sp>
        <p:nvSpPr>
          <p:cNvPr id="32" name="card-title-179"/>
          <p:cNvSpPr txBox="1"/>
          <p:nvPr/>
        </p:nvSpPr>
        <p:spPr>
          <a:xfrm>
            <a:off x="4248074" y="34335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38507</a:t>
            </a:r>
            <a:endParaRPr lang="en-US" sz="1800" dirty="0"/>
          </a:p>
        </p:txBody>
      </p:sp>
      <p:sp>
        <p:nvSpPr>
          <p:cNvPr id="33" name="card-text-180"/>
          <p:cNvSpPr txBox="1"/>
          <p:nvPr/>
        </p:nvSpPr>
        <p:spPr>
          <a:xfrm>
            <a:off x="3607994" y="41376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對組織治理的影響</a:t>
            </a:r>
            <a:endParaRPr lang="en-US" sz="1700" dirty="0"/>
          </a:p>
        </p:txBody>
      </p:sp>
      <p:sp>
        <p:nvSpPr>
          <p:cNvPr id="34" name="card-181"/>
          <p:cNvSpPr/>
          <p:nvPr/>
        </p:nvSpPr>
        <p:spPr>
          <a:xfrm>
            <a:off x="6210148" y="32689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card-icon-bg-182"/>
          <p:cNvSpPr/>
          <p:nvPr/>
        </p:nvSpPr>
        <p:spPr>
          <a:xfrm>
            <a:off x="6393028" y="34518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card-badge-183"/>
          <p:cNvSpPr txBox="1"/>
          <p:nvPr/>
        </p:nvSpPr>
        <p:spPr>
          <a:xfrm>
            <a:off x="6393028" y="34518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週期</a:t>
            </a:r>
            <a:endParaRPr lang="en-US" sz="1800" dirty="0"/>
          </a:p>
        </p:txBody>
      </p:sp>
      <p:sp>
        <p:nvSpPr>
          <p:cNvPr id="37" name="card-title-184"/>
          <p:cNvSpPr txBox="1"/>
          <p:nvPr/>
        </p:nvSpPr>
        <p:spPr>
          <a:xfrm>
            <a:off x="7078828" y="34335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5338</a:t>
            </a:r>
            <a:endParaRPr lang="en-US" sz="1800" dirty="0"/>
          </a:p>
        </p:txBody>
      </p:sp>
      <p:sp>
        <p:nvSpPr>
          <p:cNvPr id="38" name="card-text-185"/>
          <p:cNvSpPr txBox="1"/>
          <p:nvPr/>
        </p:nvSpPr>
        <p:spPr>
          <a:xfrm>
            <a:off x="6438748" y="41376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系統生命週期流程</a:t>
            </a:r>
            <a:endParaRPr lang="en-US" sz="1700" dirty="0"/>
          </a:p>
        </p:txBody>
      </p:sp>
      <p:sp>
        <p:nvSpPr>
          <p:cNvPr id="39" name="card-186"/>
          <p:cNvSpPr/>
          <p:nvPr/>
        </p:nvSpPr>
        <p:spPr>
          <a:xfrm>
            <a:off x="9040901" y="3268980"/>
            <a:ext cx="2602154" cy="17145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card-icon-bg-187"/>
          <p:cNvSpPr/>
          <p:nvPr/>
        </p:nvSpPr>
        <p:spPr>
          <a:xfrm>
            <a:off x="9223781" y="34518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card-badge-188"/>
          <p:cNvSpPr txBox="1"/>
          <p:nvPr/>
        </p:nvSpPr>
        <p:spPr>
          <a:xfrm>
            <a:off x="9223781" y="34518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資料</a:t>
            </a:r>
            <a:endParaRPr lang="en-US" sz="1800" dirty="0"/>
          </a:p>
        </p:txBody>
      </p:sp>
      <p:sp>
        <p:nvSpPr>
          <p:cNvPr id="42" name="card-title-189"/>
          <p:cNvSpPr txBox="1"/>
          <p:nvPr/>
        </p:nvSpPr>
        <p:spPr>
          <a:xfrm>
            <a:off x="9909581" y="34335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ISO/IEC 5259 系列</a:t>
            </a:r>
            <a:endParaRPr lang="en-US" sz="1800" dirty="0"/>
          </a:p>
        </p:txBody>
      </p:sp>
      <p:sp>
        <p:nvSpPr>
          <p:cNvPr id="43" name="card-text-190"/>
          <p:cNvSpPr txBox="1"/>
          <p:nvPr/>
        </p:nvSpPr>
        <p:spPr>
          <a:xfrm>
            <a:off x="9269501" y="4137660"/>
            <a:ext cx="21906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分析與機器學習資料品質</a:t>
            </a:r>
            <a:endParaRPr lang="en-US" sz="1700" dirty="0"/>
          </a:p>
        </p:txBody>
      </p:sp>
      <p:pic>
        <p:nvPicPr>
          <p:cNvPr id="44" name="arale-avatar-191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89220"/>
            <a:ext cx="868680" cy="868680"/>
          </a:xfrm>
          <a:prstGeom prst="rect">
            <a:avLst/>
          </a:prstGeom>
        </p:spPr>
      </p:pic>
      <p:sp>
        <p:nvSpPr>
          <p:cNvPr id="45" name="bubble-192"/>
          <p:cNvSpPr/>
          <p:nvPr/>
        </p:nvSpPr>
        <p:spPr>
          <a:xfrm>
            <a:off x="1508760" y="5257800"/>
            <a:ext cx="5623560" cy="731520"/>
          </a:xfrm>
          <a:prstGeom prst="roundRect">
            <a:avLst>
              <a:gd name="adj" fmla="val 15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6" name="bubble-text-193"/>
          <p:cNvSpPr txBox="1"/>
          <p:nvPr/>
        </p:nvSpPr>
        <p:spPr>
          <a:xfrm>
            <a:off x="1645920" y="525780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只有 42001 可以拿證書，其他都是「參考書」對吧？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標準架構與用語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條文 1–3、HS 調和結構、42001 vs 27001</a:t>
            </a:r>
            <a:endParaRPr lang="en-US" sz="2000" dirty="0"/>
          </a:p>
        </p:txBody>
      </p:sp>
      <p:sp>
        <p:nvSpPr>
          <p:cNvPr id="5" name="section-num-194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195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sz="4000" dirty="0"/>
          </a:p>
        </p:txBody>
      </p:sp>
      <p:sp>
        <p:nvSpPr>
          <p:cNvPr id="7" name="section-time-196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15 分鐘</a:t>
            </a:r>
            <a:endParaRPr lang="en-US" sz="1400" dirty="0"/>
          </a:p>
        </p:txBody>
      </p:sp>
      <p:pic>
        <p:nvPicPr>
          <p:cNvPr id="8" name="allan-197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ISO/IEC 42001 全貌：條文 1–10 + 附錄 A–D</a:t>
            </a:r>
            <a:endParaRPr lang="en-US" sz="3000" dirty="0"/>
          </a:p>
        </p:txBody>
      </p:sp>
      <p:sp>
        <p:nvSpPr>
          <p:cNvPr id="4" name="flow-head-198"/>
          <p:cNvSpPr/>
          <p:nvPr/>
        </p:nvSpPr>
        <p:spPr>
          <a:xfrm>
            <a:off x="548640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199"/>
          <p:cNvSpPr txBox="1"/>
          <p:nvPr/>
        </p:nvSpPr>
        <p:spPr>
          <a:xfrm>
            <a:off x="548640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組織全景</a:t>
            </a:r>
            <a:endParaRPr lang="en-US" sz="1500" dirty="0"/>
          </a:p>
        </p:txBody>
      </p:sp>
      <p:sp>
        <p:nvSpPr>
          <p:cNvPr id="6" name="flow-body-200"/>
          <p:cNvSpPr/>
          <p:nvPr/>
        </p:nvSpPr>
        <p:spPr>
          <a:xfrm>
            <a:off x="548640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201"/>
          <p:cNvSpPr txBox="1"/>
          <p:nvPr/>
        </p:nvSpPr>
        <p:spPr>
          <a:xfrm>
            <a:off x="658368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議題、關注方、範圍、AI 角色</a:t>
            </a:r>
            <a:endParaRPr lang="en-US" sz="1600" dirty="0"/>
          </a:p>
        </p:txBody>
      </p:sp>
      <p:sp>
        <p:nvSpPr>
          <p:cNvPr id="8" name="flow-arrow-202"/>
          <p:cNvSpPr/>
          <p:nvPr/>
        </p:nvSpPr>
        <p:spPr>
          <a:xfrm rot="5400000">
            <a:off x="2022522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203"/>
          <p:cNvSpPr/>
          <p:nvPr/>
        </p:nvSpPr>
        <p:spPr>
          <a:xfrm>
            <a:off x="2159682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204"/>
          <p:cNvSpPr txBox="1"/>
          <p:nvPr/>
        </p:nvSpPr>
        <p:spPr>
          <a:xfrm>
            <a:off x="2159682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領導作為</a:t>
            </a:r>
            <a:endParaRPr lang="en-US" sz="1500" dirty="0"/>
          </a:p>
        </p:txBody>
      </p:sp>
      <p:sp>
        <p:nvSpPr>
          <p:cNvPr id="11" name="flow-body-205"/>
          <p:cNvSpPr/>
          <p:nvPr/>
        </p:nvSpPr>
        <p:spPr>
          <a:xfrm>
            <a:off x="2159682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206"/>
          <p:cNvSpPr txBox="1"/>
          <p:nvPr/>
        </p:nvSpPr>
        <p:spPr>
          <a:xfrm>
            <a:off x="2269410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承諾、AI 政策、角色權責</a:t>
            </a:r>
            <a:endParaRPr lang="en-US" sz="1600" dirty="0"/>
          </a:p>
        </p:txBody>
      </p:sp>
      <p:sp>
        <p:nvSpPr>
          <p:cNvPr id="13" name="flow-arrow-207"/>
          <p:cNvSpPr/>
          <p:nvPr/>
        </p:nvSpPr>
        <p:spPr>
          <a:xfrm rot="5400000">
            <a:off x="3633564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208"/>
          <p:cNvSpPr/>
          <p:nvPr/>
        </p:nvSpPr>
        <p:spPr>
          <a:xfrm>
            <a:off x="3770724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209"/>
          <p:cNvSpPr txBox="1"/>
          <p:nvPr/>
        </p:nvSpPr>
        <p:spPr>
          <a:xfrm>
            <a:off x="3770724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 規劃</a:t>
            </a:r>
            <a:endParaRPr lang="en-US" sz="1500" dirty="0"/>
          </a:p>
        </p:txBody>
      </p:sp>
      <p:sp>
        <p:nvSpPr>
          <p:cNvPr id="16" name="flow-body-210"/>
          <p:cNvSpPr/>
          <p:nvPr/>
        </p:nvSpPr>
        <p:spPr>
          <a:xfrm>
            <a:off x="3770724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211"/>
          <p:cNvSpPr txBox="1"/>
          <p:nvPr/>
        </p:nvSpPr>
        <p:spPr>
          <a:xfrm>
            <a:off x="3880452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風險評鑑、處理、SoA、衝擊評鑑、目標</a:t>
            </a:r>
            <a:endParaRPr lang="en-US" sz="1600" dirty="0"/>
          </a:p>
        </p:txBody>
      </p:sp>
      <p:sp>
        <p:nvSpPr>
          <p:cNvPr id="18" name="flow-arrow-212"/>
          <p:cNvSpPr/>
          <p:nvPr/>
        </p:nvSpPr>
        <p:spPr>
          <a:xfrm rot="5400000">
            <a:off x="5244607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213"/>
          <p:cNvSpPr/>
          <p:nvPr/>
        </p:nvSpPr>
        <p:spPr>
          <a:xfrm>
            <a:off x="5381767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214"/>
          <p:cNvSpPr txBox="1"/>
          <p:nvPr/>
        </p:nvSpPr>
        <p:spPr>
          <a:xfrm>
            <a:off x="5381767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 支援</a:t>
            </a:r>
            <a:endParaRPr lang="en-US" sz="1500" dirty="0"/>
          </a:p>
        </p:txBody>
      </p:sp>
      <p:sp>
        <p:nvSpPr>
          <p:cNvPr id="21" name="flow-body-215"/>
          <p:cNvSpPr/>
          <p:nvPr/>
        </p:nvSpPr>
        <p:spPr>
          <a:xfrm>
            <a:off x="5381767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216"/>
          <p:cNvSpPr txBox="1"/>
          <p:nvPr/>
        </p:nvSpPr>
        <p:spPr>
          <a:xfrm>
            <a:off x="5491495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資源、能力、認知、溝通、文件</a:t>
            </a:r>
            <a:endParaRPr lang="en-US" sz="1600" dirty="0"/>
          </a:p>
        </p:txBody>
      </p:sp>
      <p:sp>
        <p:nvSpPr>
          <p:cNvPr id="23" name="flow-arrow-217"/>
          <p:cNvSpPr/>
          <p:nvPr/>
        </p:nvSpPr>
        <p:spPr>
          <a:xfrm rot="5400000">
            <a:off x="6855649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218"/>
          <p:cNvSpPr/>
          <p:nvPr/>
        </p:nvSpPr>
        <p:spPr>
          <a:xfrm>
            <a:off x="6992809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219"/>
          <p:cNvSpPr txBox="1"/>
          <p:nvPr/>
        </p:nvSpPr>
        <p:spPr>
          <a:xfrm>
            <a:off x="6992809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 運作</a:t>
            </a:r>
            <a:endParaRPr lang="en-US" sz="1500" dirty="0"/>
          </a:p>
        </p:txBody>
      </p:sp>
      <p:sp>
        <p:nvSpPr>
          <p:cNvPr id="26" name="flow-body-220"/>
          <p:cNvSpPr/>
          <p:nvPr/>
        </p:nvSpPr>
        <p:spPr>
          <a:xfrm>
            <a:off x="6992809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221"/>
          <p:cNvSpPr txBox="1"/>
          <p:nvPr/>
        </p:nvSpPr>
        <p:spPr>
          <a:xfrm>
            <a:off x="7102537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依規劃執行評鑑與處理</a:t>
            </a:r>
            <a:endParaRPr lang="en-US" sz="1600" dirty="0"/>
          </a:p>
        </p:txBody>
      </p:sp>
      <p:sp>
        <p:nvSpPr>
          <p:cNvPr id="28" name="flow-arrow-222"/>
          <p:cNvSpPr/>
          <p:nvPr/>
        </p:nvSpPr>
        <p:spPr>
          <a:xfrm rot="5400000">
            <a:off x="8466691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9" name="flow-head-223"/>
          <p:cNvSpPr/>
          <p:nvPr/>
        </p:nvSpPr>
        <p:spPr>
          <a:xfrm>
            <a:off x="8603851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flow-head-text-224"/>
          <p:cNvSpPr txBox="1"/>
          <p:nvPr/>
        </p:nvSpPr>
        <p:spPr>
          <a:xfrm>
            <a:off x="8603851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 績效評估</a:t>
            </a:r>
            <a:endParaRPr lang="en-US" sz="1500" dirty="0"/>
          </a:p>
        </p:txBody>
      </p:sp>
      <p:sp>
        <p:nvSpPr>
          <p:cNvPr id="31" name="flow-body-225"/>
          <p:cNvSpPr/>
          <p:nvPr/>
        </p:nvSpPr>
        <p:spPr>
          <a:xfrm>
            <a:off x="8603851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low-body-text-226"/>
          <p:cNvSpPr txBox="1"/>
          <p:nvPr/>
        </p:nvSpPr>
        <p:spPr>
          <a:xfrm>
            <a:off x="8713579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監督量測、內稽、管審</a:t>
            </a:r>
            <a:endParaRPr lang="en-US" sz="1600" dirty="0"/>
          </a:p>
        </p:txBody>
      </p:sp>
      <p:sp>
        <p:nvSpPr>
          <p:cNvPr id="33" name="flow-arrow-227"/>
          <p:cNvSpPr/>
          <p:nvPr/>
        </p:nvSpPr>
        <p:spPr>
          <a:xfrm rot="5400000">
            <a:off x="10077733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34" name="flow-head-228"/>
          <p:cNvSpPr/>
          <p:nvPr/>
        </p:nvSpPr>
        <p:spPr>
          <a:xfrm>
            <a:off x="10214893" y="1325880"/>
            <a:ext cx="1428162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flow-head-text-229"/>
          <p:cNvSpPr txBox="1"/>
          <p:nvPr/>
        </p:nvSpPr>
        <p:spPr>
          <a:xfrm>
            <a:off x="10214893" y="1325880"/>
            <a:ext cx="142816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 改善</a:t>
            </a:r>
            <a:endParaRPr lang="en-US" sz="1500" dirty="0"/>
          </a:p>
        </p:txBody>
      </p:sp>
      <p:sp>
        <p:nvSpPr>
          <p:cNvPr id="36" name="flow-body-230"/>
          <p:cNvSpPr/>
          <p:nvPr/>
        </p:nvSpPr>
        <p:spPr>
          <a:xfrm>
            <a:off x="10214893" y="1984248"/>
            <a:ext cx="1428162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flow-body-text-231"/>
          <p:cNvSpPr txBox="1"/>
          <p:nvPr/>
        </p:nvSpPr>
        <p:spPr>
          <a:xfrm>
            <a:off x="10324621" y="2075688"/>
            <a:ext cx="120870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持續改善、矯正措施</a:t>
            </a:r>
            <a:endParaRPr lang="en-US" sz="1600" dirty="0"/>
          </a:p>
        </p:txBody>
      </p:sp>
      <p:sp>
        <p:nvSpPr>
          <p:cNvPr id="38" name="card-232"/>
          <p:cNvSpPr/>
          <p:nvPr/>
        </p:nvSpPr>
        <p:spPr>
          <a:xfrm>
            <a:off x="548640" y="3429000"/>
            <a:ext cx="260215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-icon-bg-233"/>
          <p:cNvSpPr/>
          <p:nvPr/>
        </p:nvSpPr>
        <p:spPr>
          <a:xfrm>
            <a:off x="731520" y="3611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card-badge-234"/>
          <p:cNvSpPr txBox="1"/>
          <p:nvPr/>
        </p:nvSpPr>
        <p:spPr>
          <a:xfrm>
            <a:off x="73152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41" name="card-title-235"/>
          <p:cNvSpPr txBox="1"/>
          <p:nvPr/>
        </p:nvSpPr>
        <p:spPr>
          <a:xfrm>
            <a:off x="1417320" y="359359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附錄 A（規範性）</a:t>
            </a:r>
            <a:endParaRPr lang="en-US" sz="1800" dirty="0"/>
          </a:p>
        </p:txBody>
      </p:sp>
      <p:sp>
        <p:nvSpPr>
          <p:cNvPr id="42" name="card-text-236"/>
          <p:cNvSpPr txBox="1"/>
          <p:nvPr/>
        </p:nvSpPr>
        <p:spPr>
          <a:xfrm>
            <a:off x="777240" y="4297680"/>
            <a:ext cx="21906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參考控制目標與控制措施：9 領域、38 項</a:t>
            </a:r>
            <a:endParaRPr lang="en-US" sz="1700" dirty="0"/>
          </a:p>
        </p:txBody>
      </p:sp>
      <p:sp>
        <p:nvSpPr>
          <p:cNvPr id="43" name="card-237"/>
          <p:cNvSpPr/>
          <p:nvPr/>
        </p:nvSpPr>
        <p:spPr>
          <a:xfrm>
            <a:off x="3379394" y="3429000"/>
            <a:ext cx="260215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card-icon-bg-238"/>
          <p:cNvSpPr/>
          <p:nvPr/>
        </p:nvSpPr>
        <p:spPr>
          <a:xfrm>
            <a:off x="3562274" y="361188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card-badge-239"/>
          <p:cNvSpPr txBox="1"/>
          <p:nvPr/>
        </p:nvSpPr>
        <p:spPr>
          <a:xfrm>
            <a:off x="3562274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46" name="card-title-240"/>
          <p:cNvSpPr txBox="1"/>
          <p:nvPr/>
        </p:nvSpPr>
        <p:spPr>
          <a:xfrm>
            <a:off x="4248074" y="359359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附錄 B（規範性）</a:t>
            </a:r>
            <a:endParaRPr lang="en-US" sz="1800" dirty="0"/>
          </a:p>
        </p:txBody>
      </p:sp>
      <p:sp>
        <p:nvSpPr>
          <p:cNvPr id="47" name="card-text-241"/>
          <p:cNvSpPr txBox="1"/>
          <p:nvPr/>
        </p:nvSpPr>
        <p:spPr>
          <a:xfrm>
            <a:off x="3607994" y="4297680"/>
            <a:ext cx="21906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控制措施實作指引（不需在 SoA 說明納入／排除）</a:t>
            </a:r>
            <a:endParaRPr lang="en-US" sz="1700" dirty="0"/>
          </a:p>
        </p:txBody>
      </p:sp>
      <p:sp>
        <p:nvSpPr>
          <p:cNvPr id="48" name="card-242"/>
          <p:cNvSpPr/>
          <p:nvPr/>
        </p:nvSpPr>
        <p:spPr>
          <a:xfrm>
            <a:off x="6210148" y="3429000"/>
            <a:ext cx="260215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card-icon-bg-243"/>
          <p:cNvSpPr/>
          <p:nvPr/>
        </p:nvSpPr>
        <p:spPr>
          <a:xfrm>
            <a:off x="6393028" y="3611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card-badge-244"/>
          <p:cNvSpPr txBox="1"/>
          <p:nvPr/>
        </p:nvSpPr>
        <p:spPr>
          <a:xfrm>
            <a:off x="6393028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51" name="card-title-245"/>
          <p:cNvSpPr txBox="1"/>
          <p:nvPr/>
        </p:nvSpPr>
        <p:spPr>
          <a:xfrm>
            <a:off x="7078828" y="359359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附錄 C（資訊性）</a:t>
            </a:r>
            <a:endParaRPr lang="en-US" sz="1800" dirty="0"/>
          </a:p>
        </p:txBody>
      </p:sp>
      <p:sp>
        <p:nvSpPr>
          <p:cNvPr id="52" name="card-text-246"/>
          <p:cNvSpPr txBox="1"/>
          <p:nvPr/>
        </p:nvSpPr>
        <p:spPr>
          <a:xfrm>
            <a:off x="6438748" y="4297680"/>
            <a:ext cx="21906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潛在 AI 組織目標與風險來源</a:t>
            </a:r>
            <a:endParaRPr lang="en-US" sz="1700" dirty="0"/>
          </a:p>
        </p:txBody>
      </p:sp>
      <p:sp>
        <p:nvSpPr>
          <p:cNvPr id="53" name="card-247"/>
          <p:cNvSpPr/>
          <p:nvPr/>
        </p:nvSpPr>
        <p:spPr>
          <a:xfrm>
            <a:off x="9040901" y="3429000"/>
            <a:ext cx="260215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card-icon-bg-248"/>
          <p:cNvSpPr/>
          <p:nvPr/>
        </p:nvSpPr>
        <p:spPr>
          <a:xfrm>
            <a:off x="9223781" y="36118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card-badge-249"/>
          <p:cNvSpPr txBox="1"/>
          <p:nvPr/>
        </p:nvSpPr>
        <p:spPr>
          <a:xfrm>
            <a:off x="9223781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56" name="card-title-250"/>
          <p:cNvSpPr txBox="1"/>
          <p:nvPr/>
        </p:nvSpPr>
        <p:spPr>
          <a:xfrm>
            <a:off x="9909581" y="359359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附錄 D（資訊性）</a:t>
            </a:r>
            <a:endParaRPr lang="en-US" sz="1800" dirty="0"/>
          </a:p>
        </p:txBody>
      </p:sp>
      <p:sp>
        <p:nvSpPr>
          <p:cNvPr id="57" name="card-text-251"/>
          <p:cNvSpPr txBox="1"/>
          <p:nvPr/>
        </p:nvSpPr>
        <p:spPr>
          <a:xfrm>
            <a:off x="9269501" y="4297680"/>
            <a:ext cx="21906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各領域應用、與其他管理系統整合</a:t>
            </a:r>
            <a:endParaRPr lang="en-US" sz="1700" dirty="0"/>
          </a:p>
        </p:txBody>
      </p:sp>
      <p:pic>
        <p:nvPicPr>
          <p:cNvPr id="58" name="allan-avatar-252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49240"/>
            <a:ext cx="868680" cy="868680"/>
          </a:xfrm>
          <a:prstGeom prst="rect">
            <a:avLst/>
          </a:prstGeom>
        </p:spPr>
      </p:pic>
      <p:sp>
        <p:nvSpPr>
          <p:cNvPr id="59" name="bubble-253"/>
          <p:cNvSpPr/>
          <p:nvPr/>
        </p:nvSpPr>
        <p:spPr>
          <a:xfrm>
            <a:off x="1508760" y="5440680"/>
            <a:ext cx="10134295" cy="685800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0" name="bubble-text-254"/>
          <p:cNvSpPr txBox="1"/>
          <p:nvPr/>
        </p:nvSpPr>
        <p:spPr>
          <a:xfrm>
            <a:off x="1645920" y="5440680"/>
            <a:ext cx="985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條文 4–10 是「應」做的骨架，附錄 A 是依風險挑選的「工具箱」。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與 ISO/IEC 27001 的比較：同骨架、不同重點</a:t>
            </a:r>
            <a:endParaRPr lang="en-US" sz="3000" dirty="0"/>
          </a:p>
        </p:txBody>
      </p:sp>
      <p:graphicFrame>
        <p:nvGraphicFramePr>
          <p:cNvPr id="14" name="table-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80360"/>
                <a:gridCol w="3063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比較項目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ISO/IEC 27001:2022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ISO/IEC 42001:2023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管理對象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資訊安全（機密性、完整性、可用性）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系統的負責任開發、提供與使用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架構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HS 調和結構，條文 4–10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HS 調和結構，條文 4–10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附錄 A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93 項控制措施、4 大主題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38 項控制措施、9 個領域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特有要求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資訊安全風險評鑑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風險評鑑 + 6.1.4 AI 系統衝擊評鑑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評估對象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以組織資訊資產為中心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組織、個人或群體、社會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SoA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含實施狀態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必要控制措施 + 納入／排除理由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rd-256"/>
          <p:cNvSpPr/>
          <p:nvPr/>
        </p:nvSpPr>
        <p:spPr>
          <a:xfrm>
            <a:off x="8321040" y="1325880"/>
            <a:ext cx="3319272" cy="18973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257"/>
          <p:cNvSpPr/>
          <p:nvPr/>
        </p:nvSpPr>
        <p:spPr>
          <a:xfrm>
            <a:off x="85039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ard-icon-2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36" y="1636776"/>
            <a:ext cx="310896" cy="310896"/>
          </a:xfrm>
          <a:prstGeom prst="rect">
            <a:avLst/>
          </a:prstGeom>
        </p:spPr>
      </p:pic>
      <p:sp>
        <p:nvSpPr>
          <p:cNvPr id="8" name="card-title-259"/>
          <p:cNvSpPr txBox="1"/>
          <p:nvPr/>
        </p:nvSpPr>
        <p:spPr>
          <a:xfrm>
            <a:off x="9189720" y="1490472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可直接整合</a:t>
            </a:r>
            <a:endParaRPr lang="en-US" sz="1900" dirty="0"/>
          </a:p>
        </p:txBody>
      </p:sp>
      <p:sp>
        <p:nvSpPr>
          <p:cNvPr id="9" name="card-text-260"/>
          <p:cNvSpPr txBox="1"/>
          <p:nvPr/>
        </p:nvSpPr>
        <p:spPr>
          <a:xfrm>
            <a:off x="8549640" y="2194560"/>
            <a:ext cx="290779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政策架構、文件管制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內部稽核、管理審查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矯正措施流程</a:t>
            </a:r>
            <a:endParaRPr lang="en-US" sz="1700" dirty="0"/>
          </a:p>
        </p:txBody>
      </p:sp>
      <p:sp>
        <p:nvSpPr>
          <p:cNvPr id="10" name="card-261"/>
          <p:cNvSpPr/>
          <p:nvPr/>
        </p:nvSpPr>
        <p:spPr>
          <a:xfrm>
            <a:off x="8321040" y="3451860"/>
            <a:ext cx="3319272" cy="18973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icon-bg-262"/>
          <p:cNvSpPr/>
          <p:nvPr/>
        </p:nvSpPr>
        <p:spPr>
          <a:xfrm>
            <a:off x="8503920" y="36347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card-icon-2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3762756"/>
            <a:ext cx="310896" cy="310896"/>
          </a:xfrm>
          <a:prstGeom prst="rect">
            <a:avLst/>
          </a:prstGeom>
        </p:spPr>
      </p:pic>
      <p:sp>
        <p:nvSpPr>
          <p:cNvPr id="13" name="card-title-264"/>
          <p:cNvSpPr txBox="1"/>
          <p:nvPr/>
        </p:nvSpPr>
        <p:spPr>
          <a:xfrm>
            <a:off x="9189720" y="3616452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42001 特有</a:t>
            </a:r>
            <a:endParaRPr lang="en-US" sz="1900" dirty="0"/>
          </a:p>
        </p:txBody>
      </p:sp>
      <p:sp>
        <p:nvSpPr>
          <p:cNvPr id="14" name="card-text-265"/>
          <p:cNvSpPr txBox="1"/>
          <p:nvPr/>
        </p:nvSpPr>
        <p:spPr>
          <a:xfrm>
            <a:off x="8549640" y="4320540"/>
            <a:ext cx="290779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角色判定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衝擊評鑑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生命週期與資料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一定要會的 6 個關鍵用語（條文 3）</a:t>
            </a:r>
            <a:endParaRPr lang="en-US" sz="3000" dirty="0"/>
          </a:p>
        </p:txBody>
      </p:sp>
      <p:sp>
        <p:nvSpPr>
          <p:cNvPr id="4" name="card-266"/>
          <p:cNvSpPr/>
          <p:nvPr/>
        </p:nvSpPr>
        <p:spPr>
          <a:xfrm>
            <a:off x="548640" y="1325880"/>
            <a:ext cx="3545738" cy="185166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267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268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3.2</a:t>
            </a:r>
            <a:endParaRPr lang="en-US" sz="1200" dirty="0"/>
          </a:p>
        </p:txBody>
      </p:sp>
      <p:sp>
        <p:nvSpPr>
          <p:cNvPr id="7" name="card-title-269"/>
          <p:cNvSpPr txBox="1"/>
          <p:nvPr/>
        </p:nvSpPr>
        <p:spPr>
          <a:xfrm>
            <a:off x="1417320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關注方</a:t>
            </a:r>
            <a:endParaRPr lang="en-US" sz="1800" dirty="0"/>
          </a:p>
        </p:txBody>
      </p:sp>
      <p:sp>
        <p:nvSpPr>
          <p:cNvPr id="8" name="card-text-270"/>
          <p:cNvSpPr txBox="1"/>
          <p:nvPr/>
        </p:nvSpPr>
        <p:spPr>
          <a:xfrm>
            <a:off x="777240" y="2194560"/>
            <a:ext cx="313425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可影響、受影響，或知覺本身將受決策或活動影響之個人或組織</a:t>
            </a:r>
            <a:endParaRPr lang="en-US" sz="1700" dirty="0"/>
          </a:p>
        </p:txBody>
      </p:sp>
      <p:sp>
        <p:nvSpPr>
          <p:cNvPr id="9" name="card-271"/>
          <p:cNvSpPr/>
          <p:nvPr/>
        </p:nvSpPr>
        <p:spPr>
          <a:xfrm>
            <a:off x="4322978" y="1325880"/>
            <a:ext cx="3545738" cy="185166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272"/>
          <p:cNvSpPr/>
          <p:nvPr/>
        </p:nvSpPr>
        <p:spPr>
          <a:xfrm>
            <a:off x="450585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273"/>
          <p:cNvSpPr txBox="1"/>
          <p:nvPr/>
        </p:nvSpPr>
        <p:spPr>
          <a:xfrm>
            <a:off x="450585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3.7</a:t>
            </a:r>
            <a:endParaRPr lang="en-US" sz="1200" dirty="0"/>
          </a:p>
        </p:txBody>
      </p:sp>
      <p:sp>
        <p:nvSpPr>
          <p:cNvPr id="12" name="card-title-274"/>
          <p:cNvSpPr txBox="1"/>
          <p:nvPr/>
        </p:nvSpPr>
        <p:spPr>
          <a:xfrm>
            <a:off x="5191658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風險</a:t>
            </a:r>
            <a:endParaRPr lang="en-US" sz="1800" dirty="0"/>
          </a:p>
        </p:txBody>
      </p:sp>
      <p:sp>
        <p:nvSpPr>
          <p:cNvPr id="13" name="card-text-275"/>
          <p:cNvSpPr txBox="1"/>
          <p:nvPr/>
        </p:nvSpPr>
        <p:spPr>
          <a:xfrm>
            <a:off x="4551578" y="2194560"/>
            <a:ext cx="313425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不確定性之影響；影響可為正向或負向偏離</a:t>
            </a:r>
            <a:endParaRPr lang="en-US" sz="1700" dirty="0"/>
          </a:p>
        </p:txBody>
      </p:sp>
      <p:sp>
        <p:nvSpPr>
          <p:cNvPr id="14" name="card-276"/>
          <p:cNvSpPr/>
          <p:nvPr/>
        </p:nvSpPr>
        <p:spPr>
          <a:xfrm>
            <a:off x="8097317" y="1325880"/>
            <a:ext cx="3545738" cy="185166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277"/>
          <p:cNvSpPr/>
          <p:nvPr/>
        </p:nvSpPr>
        <p:spPr>
          <a:xfrm>
            <a:off x="828019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278"/>
          <p:cNvSpPr txBox="1"/>
          <p:nvPr/>
        </p:nvSpPr>
        <p:spPr>
          <a:xfrm>
            <a:off x="8280197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3.21</a:t>
            </a:r>
            <a:endParaRPr lang="en-US" sz="1200" dirty="0"/>
          </a:p>
        </p:txBody>
      </p:sp>
      <p:sp>
        <p:nvSpPr>
          <p:cNvPr id="17" name="card-title-279"/>
          <p:cNvSpPr txBox="1"/>
          <p:nvPr/>
        </p:nvSpPr>
        <p:spPr>
          <a:xfrm>
            <a:off x="8965997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控制措施</a:t>
            </a:r>
            <a:endParaRPr lang="en-US" sz="1800" dirty="0"/>
          </a:p>
        </p:txBody>
      </p:sp>
      <p:sp>
        <p:nvSpPr>
          <p:cNvPr id="18" name="card-text-280"/>
          <p:cNvSpPr txBox="1"/>
          <p:nvPr/>
        </p:nvSpPr>
        <p:spPr>
          <a:xfrm>
            <a:off x="8325917" y="2194560"/>
            <a:ext cx="313425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維持和／或修改風險的措施；未必都發揮預期效果</a:t>
            </a:r>
            <a:endParaRPr lang="en-US" sz="1700" dirty="0"/>
          </a:p>
        </p:txBody>
      </p:sp>
      <p:sp>
        <p:nvSpPr>
          <p:cNvPr id="19" name="card-281"/>
          <p:cNvSpPr/>
          <p:nvPr/>
        </p:nvSpPr>
        <p:spPr>
          <a:xfrm>
            <a:off x="548640" y="3406140"/>
            <a:ext cx="3545738" cy="185166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282"/>
          <p:cNvSpPr/>
          <p:nvPr/>
        </p:nvSpPr>
        <p:spPr>
          <a:xfrm>
            <a:off x="731520" y="358902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ard-badge-283"/>
          <p:cNvSpPr txBox="1"/>
          <p:nvPr/>
        </p:nvSpPr>
        <p:spPr>
          <a:xfrm>
            <a:off x="731520" y="35890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3.22</a:t>
            </a:r>
            <a:endParaRPr lang="en-US" sz="1200" dirty="0"/>
          </a:p>
        </p:txBody>
      </p:sp>
      <p:sp>
        <p:nvSpPr>
          <p:cNvPr id="22" name="card-title-284"/>
          <p:cNvSpPr txBox="1"/>
          <p:nvPr/>
        </p:nvSpPr>
        <p:spPr>
          <a:xfrm>
            <a:off x="1417320" y="357073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治理機構</a:t>
            </a:r>
            <a:endParaRPr lang="en-US" sz="1800" dirty="0"/>
          </a:p>
        </p:txBody>
      </p:sp>
      <p:sp>
        <p:nvSpPr>
          <p:cNvPr id="23" name="card-text-285"/>
          <p:cNvSpPr txBox="1"/>
          <p:nvPr/>
        </p:nvSpPr>
        <p:spPr>
          <a:xfrm>
            <a:off x="777240" y="4274820"/>
            <a:ext cx="313425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負責組織之績效及符合性之個人或群體（如董事會）</a:t>
            </a:r>
            <a:endParaRPr lang="en-US" sz="1700" dirty="0"/>
          </a:p>
        </p:txBody>
      </p:sp>
      <p:sp>
        <p:nvSpPr>
          <p:cNvPr id="24" name="card-286"/>
          <p:cNvSpPr/>
          <p:nvPr/>
        </p:nvSpPr>
        <p:spPr>
          <a:xfrm>
            <a:off x="4322978" y="3406140"/>
            <a:ext cx="3545738" cy="185166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287"/>
          <p:cNvSpPr/>
          <p:nvPr/>
        </p:nvSpPr>
        <p:spPr>
          <a:xfrm>
            <a:off x="4505858" y="35890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card-badge-288"/>
          <p:cNvSpPr txBox="1"/>
          <p:nvPr/>
        </p:nvSpPr>
        <p:spPr>
          <a:xfrm>
            <a:off x="4505858" y="35890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3.24</a:t>
            </a:r>
            <a:endParaRPr lang="en-US" sz="1200" dirty="0"/>
          </a:p>
        </p:txBody>
      </p:sp>
      <p:sp>
        <p:nvSpPr>
          <p:cNvPr id="27" name="card-title-289"/>
          <p:cNvSpPr txBox="1"/>
          <p:nvPr/>
        </p:nvSpPr>
        <p:spPr>
          <a:xfrm>
            <a:off x="5191658" y="357073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系統衝擊評鑑</a:t>
            </a:r>
            <a:endParaRPr lang="en-US" sz="1800" dirty="0"/>
          </a:p>
        </p:txBody>
      </p:sp>
      <p:sp>
        <p:nvSpPr>
          <p:cNvPr id="28" name="card-text-290"/>
          <p:cNvSpPr txBox="1"/>
          <p:nvPr/>
        </p:nvSpPr>
        <p:spPr>
          <a:xfrm>
            <a:off x="4551578" y="4274820"/>
            <a:ext cx="313425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正式且文件化的流程，識別、評估並處理對個人、群體或社會的衝擊</a:t>
            </a:r>
            <a:endParaRPr lang="en-US" sz="1700" dirty="0"/>
          </a:p>
        </p:txBody>
      </p:sp>
      <p:sp>
        <p:nvSpPr>
          <p:cNvPr id="29" name="card-291"/>
          <p:cNvSpPr/>
          <p:nvPr/>
        </p:nvSpPr>
        <p:spPr>
          <a:xfrm>
            <a:off x="8097317" y="3406140"/>
            <a:ext cx="3545738" cy="185166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-icon-bg-292"/>
          <p:cNvSpPr/>
          <p:nvPr/>
        </p:nvSpPr>
        <p:spPr>
          <a:xfrm>
            <a:off x="8280197" y="35890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card-badge-293"/>
          <p:cNvSpPr txBox="1"/>
          <p:nvPr/>
        </p:nvSpPr>
        <p:spPr>
          <a:xfrm>
            <a:off x="8280197" y="35890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3.26</a:t>
            </a:r>
            <a:endParaRPr lang="en-US" sz="1200" dirty="0"/>
          </a:p>
        </p:txBody>
      </p:sp>
      <p:sp>
        <p:nvSpPr>
          <p:cNvPr id="32" name="card-title-294"/>
          <p:cNvSpPr txBox="1"/>
          <p:nvPr/>
        </p:nvSpPr>
        <p:spPr>
          <a:xfrm>
            <a:off x="8965997" y="357073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適用性聲明</a:t>
            </a:r>
            <a:endParaRPr lang="en-US" sz="1800" dirty="0"/>
          </a:p>
        </p:txBody>
      </p:sp>
      <p:sp>
        <p:nvSpPr>
          <p:cNvPr id="33" name="card-text-295"/>
          <p:cNvSpPr txBox="1"/>
          <p:nvPr/>
        </p:nvSpPr>
        <p:spPr>
          <a:xfrm>
            <a:off x="8325917" y="4274820"/>
            <a:ext cx="313425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記錄所有必要控制措施及其納入或排除理由的文件</a:t>
            </a:r>
            <a:endParaRPr lang="en-US" sz="1700" dirty="0"/>
          </a:p>
        </p:txBody>
      </p:sp>
      <p:pic>
        <p:nvPicPr>
          <p:cNvPr id="34" name="arale-avatar-296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49240"/>
            <a:ext cx="868680" cy="868680"/>
          </a:xfrm>
          <a:prstGeom prst="rect">
            <a:avLst/>
          </a:prstGeom>
        </p:spPr>
      </p:pic>
      <p:sp>
        <p:nvSpPr>
          <p:cNvPr id="35" name="bubble-297"/>
          <p:cNvSpPr/>
          <p:nvPr/>
        </p:nvSpPr>
        <p:spPr>
          <a:xfrm>
            <a:off x="1508760" y="5440680"/>
            <a:ext cx="5715000" cy="685800"/>
          </a:xfrm>
          <a:prstGeom prst="roundRect">
            <a:avLst>
              <a:gd name="adj" fmla="val 16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bubble-text-298"/>
          <p:cNvSpPr txBox="1"/>
          <p:nvPr/>
        </p:nvSpPr>
        <p:spPr>
          <a:xfrm>
            <a:off x="1645920" y="54406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「關注方」就是英文的 interested party，跟 27001 一樣對吧！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「應」「宜」「可」：稽核判定的分水嶺</a:t>
            </a:r>
            <a:endParaRPr lang="en-US" sz="3000" dirty="0"/>
          </a:p>
        </p:txBody>
      </p:sp>
      <p:sp>
        <p:nvSpPr>
          <p:cNvPr id="4" name="card-299"/>
          <p:cNvSpPr/>
          <p:nvPr/>
        </p:nvSpPr>
        <p:spPr>
          <a:xfrm>
            <a:off x="548640" y="1325880"/>
            <a:ext cx="351525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300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ard-badge-301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應</a:t>
            </a:r>
            <a:endParaRPr lang="en-US" sz="1800" dirty="0"/>
          </a:p>
        </p:txBody>
      </p:sp>
      <p:sp>
        <p:nvSpPr>
          <p:cNvPr id="7" name="card-title-302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shall｜要求</a:t>
            </a:r>
            <a:endParaRPr lang="en-US" sz="1900" dirty="0"/>
          </a:p>
        </p:txBody>
      </p:sp>
      <p:sp>
        <p:nvSpPr>
          <p:cNvPr id="8" name="card-text-303"/>
          <p:cNvSpPr txBox="1"/>
          <p:nvPr/>
        </p:nvSpPr>
        <p:spPr>
          <a:xfrm>
            <a:off x="777240" y="2194560"/>
            <a:ext cx="3103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條文 4–10、附錄 A 控制措施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未做到 → 可能開立不符合</a:t>
            </a:r>
            <a:endParaRPr lang="en-US" sz="1700" dirty="0"/>
          </a:p>
        </p:txBody>
      </p:sp>
      <p:sp>
        <p:nvSpPr>
          <p:cNvPr id="9" name="card-304"/>
          <p:cNvSpPr/>
          <p:nvPr/>
        </p:nvSpPr>
        <p:spPr>
          <a:xfrm>
            <a:off x="4338218" y="1325880"/>
            <a:ext cx="351525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305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rd-badge-306"/>
          <p:cNvSpPr txBox="1"/>
          <p:nvPr/>
        </p:nvSpPr>
        <p:spPr>
          <a:xfrm>
            <a:off x="452109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宜</a:t>
            </a:r>
            <a:endParaRPr lang="en-US" sz="1800" dirty="0"/>
          </a:p>
        </p:txBody>
      </p:sp>
      <p:sp>
        <p:nvSpPr>
          <p:cNvPr id="12" name="card-title-307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should｜建議</a:t>
            </a:r>
            <a:endParaRPr lang="en-US" sz="1900" dirty="0"/>
          </a:p>
        </p:txBody>
      </p:sp>
      <p:sp>
        <p:nvSpPr>
          <p:cNvPr id="13" name="card-text-308"/>
          <p:cNvSpPr txBox="1"/>
          <p:nvPr/>
        </p:nvSpPr>
        <p:spPr>
          <a:xfrm>
            <a:off x="4566818" y="2194560"/>
            <a:ext cx="3103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附錄 B 實作指引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可調整，但要能達成控制目標</a:t>
            </a:r>
            <a:endParaRPr lang="en-US" sz="1700" dirty="0"/>
          </a:p>
        </p:txBody>
      </p:sp>
      <p:sp>
        <p:nvSpPr>
          <p:cNvPr id="14" name="card-309"/>
          <p:cNvSpPr/>
          <p:nvPr/>
        </p:nvSpPr>
        <p:spPr>
          <a:xfrm>
            <a:off x="8127797" y="1325880"/>
            <a:ext cx="351525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310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ard-badge-311"/>
          <p:cNvSpPr txBox="1"/>
          <p:nvPr/>
        </p:nvSpPr>
        <p:spPr>
          <a:xfrm>
            <a:off x="8310677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可</a:t>
            </a:r>
            <a:endParaRPr lang="en-US" sz="1800" dirty="0"/>
          </a:p>
        </p:txBody>
      </p:sp>
      <p:sp>
        <p:nvSpPr>
          <p:cNvPr id="17" name="card-title-312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may / can｜允許、可能</a:t>
            </a:r>
            <a:endParaRPr lang="en-US" sz="1900" dirty="0"/>
          </a:p>
        </p:txBody>
      </p:sp>
      <p:sp>
        <p:nvSpPr>
          <p:cNvPr id="18" name="card-text-313"/>
          <p:cNvSpPr txBox="1"/>
          <p:nvPr/>
        </p:nvSpPr>
        <p:spPr>
          <a:xfrm>
            <a:off x="8356397" y="2194560"/>
            <a:ext cx="3103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提供選擇或說明可能性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依組織情境決定</a:t>
            </a:r>
            <a:endParaRPr lang="en-US" sz="1700" dirty="0"/>
          </a:p>
        </p:txBody>
      </p:sp>
      <p:pic>
        <p:nvPicPr>
          <p:cNvPr id="19" name="allan-avatar-314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49140"/>
            <a:ext cx="868680" cy="868680"/>
          </a:xfrm>
          <a:prstGeom prst="rect">
            <a:avLst/>
          </a:prstGeom>
        </p:spPr>
      </p:pic>
      <p:sp>
        <p:nvSpPr>
          <p:cNvPr id="20" name="bubble-315"/>
          <p:cNvSpPr/>
          <p:nvPr/>
        </p:nvSpPr>
        <p:spPr>
          <a:xfrm>
            <a:off x="1508760" y="4572000"/>
            <a:ext cx="10134295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316"/>
          <p:cNvSpPr txBox="1"/>
          <p:nvPr/>
        </p:nvSpPr>
        <p:spPr>
          <a:xfrm>
            <a:off x="1645920" y="457200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稽核員不會因為你沒照抄附錄 B 開缺失，但會問：你的控制措施怎麼證明有效？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條文 4–5：組織全景與領導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先弄清楚自己是誰、在哪裡，再談老闆怎麼帶</a:t>
            </a:r>
            <a:endParaRPr lang="en-US" sz="2000" dirty="0"/>
          </a:p>
        </p:txBody>
      </p:sp>
      <p:sp>
        <p:nvSpPr>
          <p:cNvPr id="5" name="section-num-317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318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sz="4000" dirty="0"/>
          </a:p>
        </p:txBody>
      </p:sp>
      <p:sp>
        <p:nvSpPr>
          <p:cNvPr id="7" name="section-time-319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20 分鐘</a:t>
            </a:r>
            <a:endParaRPr lang="en-US" sz="1400" dirty="0"/>
          </a:p>
        </p:txBody>
      </p:sp>
      <p:pic>
        <p:nvPicPr>
          <p:cNvPr id="8" name="allan-320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4.1 理解組織及其全景</a:t>
            </a:r>
            <a:endParaRPr lang="en-US" sz="3000" dirty="0"/>
          </a:p>
        </p:txBody>
      </p:sp>
      <p:sp>
        <p:nvSpPr>
          <p:cNvPr id="4" name="card-321"/>
          <p:cNvSpPr/>
          <p:nvPr/>
        </p:nvSpPr>
        <p:spPr>
          <a:xfrm>
            <a:off x="548640" y="1325880"/>
            <a:ext cx="351525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322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3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324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外部議題</a:t>
            </a:r>
            <a:endParaRPr lang="en-US" sz="1900" dirty="0"/>
          </a:p>
        </p:txBody>
      </p:sp>
      <p:sp>
        <p:nvSpPr>
          <p:cNvPr id="8" name="card-text-325"/>
          <p:cNvSpPr txBox="1"/>
          <p:nvPr/>
        </p:nvSpPr>
        <p:spPr>
          <a:xfrm>
            <a:off x="777240" y="2194560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適用法律（含禁止 AI 的規定）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監管政策、指引與決策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文化、價值觀與倫理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競爭格局與趨勢</a:t>
            </a:r>
            <a:endParaRPr lang="en-US" sz="1700" dirty="0"/>
          </a:p>
        </p:txBody>
      </p:sp>
      <p:sp>
        <p:nvSpPr>
          <p:cNvPr id="9" name="card-326"/>
          <p:cNvSpPr/>
          <p:nvPr/>
        </p:nvSpPr>
        <p:spPr>
          <a:xfrm>
            <a:off x="4338218" y="1325880"/>
            <a:ext cx="351525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327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3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329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內部議題</a:t>
            </a:r>
            <a:endParaRPr lang="en-US" sz="1900" dirty="0"/>
          </a:p>
        </p:txBody>
      </p:sp>
      <p:sp>
        <p:nvSpPr>
          <p:cNvPr id="13" name="card-text-330"/>
          <p:cNvSpPr txBox="1"/>
          <p:nvPr/>
        </p:nvSpPr>
        <p:spPr>
          <a:xfrm>
            <a:off x="4566818" y="2194560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組織治理、目標、政策程序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契約義務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預計開發或使用 AI 的預期用途</a:t>
            </a:r>
            <a:endParaRPr lang="en-US" sz="1700" dirty="0"/>
          </a:p>
        </p:txBody>
      </p:sp>
      <p:sp>
        <p:nvSpPr>
          <p:cNvPr id="14" name="card-331"/>
          <p:cNvSpPr/>
          <p:nvPr/>
        </p:nvSpPr>
        <p:spPr>
          <a:xfrm>
            <a:off x="8127797" y="1325880"/>
            <a:ext cx="351525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332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3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334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氣候變遷</a:t>
            </a:r>
            <a:endParaRPr lang="en-US" sz="1900" dirty="0"/>
          </a:p>
        </p:txBody>
      </p:sp>
      <p:sp>
        <p:nvSpPr>
          <p:cNvPr id="18" name="card-text-335"/>
          <p:cNvSpPr txBox="1"/>
          <p:nvPr/>
        </p:nvSpPr>
        <p:spPr>
          <a:xfrm>
            <a:off x="8356397" y="2194560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應「決定」是否為相關議題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運算耗能、碳排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要有判定紀錄，不可空白</a:t>
            </a:r>
            <a:endParaRPr lang="en-US" sz="1700" dirty="0"/>
          </a:p>
        </p:txBody>
      </p:sp>
      <p:pic>
        <p:nvPicPr>
          <p:cNvPr id="19" name="allan-avatar-336" descr="Allan 講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868680" cy="868680"/>
          </a:xfrm>
          <a:prstGeom prst="rect">
            <a:avLst/>
          </a:prstGeom>
        </p:spPr>
      </p:pic>
      <p:sp>
        <p:nvSpPr>
          <p:cNvPr id="20" name="bubble-337"/>
          <p:cNvSpPr/>
          <p:nvPr/>
        </p:nvSpPr>
        <p:spPr>
          <a:xfrm>
            <a:off x="1508760" y="4754880"/>
            <a:ext cx="10134295" cy="868680"/>
          </a:xfrm>
          <a:prstGeom prst="roundRect">
            <a:avLst>
              <a:gd name="adj" fmla="val 12632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338"/>
          <p:cNvSpPr txBox="1"/>
          <p:nvPr/>
        </p:nvSpPr>
        <p:spPr>
          <a:xfrm>
            <a:off x="1645920" y="4754880"/>
            <a:ext cx="9859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稽核現場常見：議題清單有了，但「氣候變遷是否相關」沒有任何決定紀錄——這就是缺口。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決定你的 AI 角色：角色決定適用的要求</a:t>
            </a:r>
            <a:endParaRPr lang="en-US" sz="3000" dirty="0"/>
          </a:p>
        </p:txBody>
      </p:sp>
      <p:sp>
        <p:nvSpPr>
          <p:cNvPr id="4" name="card-339"/>
          <p:cNvSpPr/>
          <p:nvPr/>
        </p:nvSpPr>
        <p:spPr>
          <a:xfrm>
            <a:off x="548640" y="1325880"/>
            <a:ext cx="2395728" cy="1865376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340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3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342"/>
          <p:cNvSpPr txBox="1"/>
          <p:nvPr/>
        </p:nvSpPr>
        <p:spPr>
          <a:xfrm>
            <a:off x="1417320" y="149047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提供者</a:t>
            </a:r>
            <a:endParaRPr lang="en-US" sz="1800" dirty="0"/>
          </a:p>
        </p:txBody>
      </p:sp>
      <p:sp>
        <p:nvSpPr>
          <p:cNvPr id="8" name="card-text-343"/>
          <p:cNvSpPr txBox="1"/>
          <p:nvPr/>
        </p:nvSpPr>
        <p:spPr>
          <a:xfrm>
            <a:off x="777240" y="2194560"/>
            <a:ext cx="1984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平台、產品或服務提供者</a:t>
            </a:r>
            <a:endParaRPr lang="en-US" sz="1700" dirty="0"/>
          </a:p>
        </p:txBody>
      </p:sp>
      <p:sp>
        <p:nvSpPr>
          <p:cNvPr id="9" name="card-344"/>
          <p:cNvSpPr/>
          <p:nvPr/>
        </p:nvSpPr>
        <p:spPr>
          <a:xfrm>
            <a:off x="3145536" y="1325880"/>
            <a:ext cx="2395728" cy="1865376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345"/>
          <p:cNvSpPr/>
          <p:nvPr/>
        </p:nvSpPr>
        <p:spPr>
          <a:xfrm>
            <a:off x="3328416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3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636776"/>
            <a:ext cx="310896" cy="310896"/>
          </a:xfrm>
          <a:prstGeom prst="rect">
            <a:avLst/>
          </a:prstGeom>
        </p:spPr>
      </p:pic>
      <p:sp>
        <p:nvSpPr>
          <p:cNvPr id="12" name="card-title-347"/>
          <p:cNvSpPr txBox="1"/>
          <p:nvPr/>
        </p:nvSpPr>
        <p:spPr>
          <a:xfrm>
            <a:off x="4014216" y="149047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製造者</a:t>
            </a:r>
            <a:endParaRPr lang="en-US" sz="1800" dirty="0"/>
          </a:p>
        </p:txBody>
      </p:sp>
      <p:sp>
        <p:nvSpPr>
          <p:cNvPr id="13" name="card-text-348"/>
          <p:cNvSpPr txBox="1"/>
          <p:nvPr/>
        </p:nvSpPr>
        <p:spPr>
          <a:xfrm>
            <a:off x="3374136" y="2194560"/>
            <a:ext cx="1984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開發、設計、營運、測試、部署</a:t>
            </a:r>
            <a:endParaRPr lang="en-US" sz="1700" dirty="0"/>
          </a:p>
        </p:txBody>
      </p:sp>
      <p:sp>
        <p:nvSpPr>
          <p:cNvPr id="14" name="card-349"/>
          <p:cNvSpPr/>
          <p:nvPr/>
        </p:nvSpPr>
        <p:spPr>
          <a:xfrm>
            <a:off x="5742432" y="1325880"/>
            <a:ext cx="2395728" cy="1865376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350"/>
          <p:cNvSpPr/>
          <p:nvPr/>
        </p:nvSpPr>
        <p:spPr>
          <a:xfrm>
            <a:off x="5925312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3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636776"/>
            <a:ext cx="310896" cy="310896"/>
          </a:xfrm>
          <a:prstGeom prst="rect">
            <a:avLst/>
          </a:prstGeom>
        </p:spPr>
      </p:pic>
      <p:sp>
        <p:nvSpPr>
          <p:cNvPr id="17" name="card-title-352"/>
          <p:cNvSpPr txBox="1"/>
          <p:nvPr/>
        </p:nvSpPr>
        <p:spPr>
          <a:xfrm>
            <a:off x="6611112" y="149047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客戶</a:t>
            </a:r>
            <a:endParaRPr lang="en-US" sz="1800" dirty="0"/>
          </a:p>
        </p:txBody>
      </p:sp>
      <p:sp>
        <p:nvSpPr>
          <p:cNvPr id="18" name="card-text-353"/>
          <p:cNvSpPr txBox="1"/>
          <p:nvPr/>
        </p:nvSpPr>
        <p:spPr>
          <a:xfrm>
            <a:off x="5971032" y="2194560"/>
            <a:ext cx="1984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含 AI 使用者</a:t>
            </a:r>
            <a:endParaRPr lang="en-US" sz="1700" dirty="0"/>
          </a:p>
        </p:txBody>
      </p:sp>
      <p:sp>
        <p:nvSpPr>
          <p:cNvPr id="19" name="card-354"/>
          <p:cNvSpPr/>
          <p:nvPr/>
        </p:nvSpPr>
        <p:spPr>
          <a:xfrm>
            <a:off x="548640" y="3392424"/>
            <a:ext cx="2395728" cy="1865376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355"/>
          <p:cNvSpPr/>
          <p:nvPr/>
        </p:nvSpPr>
        <p:spPr>
          <a:xfrm>
            <a:off x="731520" y="3575304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card-icon-35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703320"/>
            <a:ext cx="310896" cy="310896"/>
          </a:xfrm>
          <a:prstGeom prst="rect">
            <a:avLst/>
          </a:prstGeom>
        </p:spPr>
      </p:pic>
      <p:sp>
        <p:nvSpPr>
          <p:cNvPr id="22" name="card-title-357"/>
          <p:cNvSpPr txBox="1"/>
          <p:nvPr/>
        </p:nvSpPr>
        <p:spPr>
          <a:xfrm>
            <a:off x="1417320" y="355701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合作夥伴</a:t>
            </a:r>
            <a:endParaRPr lang="en-US" sz="1800" dirty="0"/>
          </a:p>
        </p:txBody>
      </p:sp>
      <p:sp>
        <p:nvSpPr>
          <p:cNvPr id="23" name="card-text-358"/>
          <p:cNvSpPr txBox="1"/>
          <p:nvPr/>
        </p:nvSpPr>
        <p:spPr>
          <a:xfrm>
            <a:off x="777240" y="4261104"/>
            <a:ext cx="1984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系統整合商、資料提供者</a:t>
            </a:r>
            <a:endParaRPr lang="en-US" sz="1700" dirty="0"/>
          </a:p>
        </p:txBody>
      </p:sp>
      <p:sp>
        <p:nvSpPr>
          <p:cNvPr id="24" name="card-359"/>
          <p:cNvSpPr/>
          <p:nvPr/>
        </p:nvSpPr>
        <p:spPr>
          <a:xfrm>
            <a:off x="3145536" y="3392424"/>
            <a:ext cx="2395728" cy="1865376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360"/>
          <p:cNvSpPr/>
          <p:nvPr/>
        </p:nvSpPr>
        <p:spPr>
          <a:xfrm>
            <a:off x="3328416" y="3575304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card-icon-36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703320"/>
            <a:ext cx="310896" cy="310896"/>
          </a:xfrm>
          <a:prstGeom prst="rect">
            <a:avLst/>
          </a:prstGeom>
        </p:spPr>
      </p:pic>
      <p:sp>
        <p:nvSpPr>
          <p:cNvPr id="27" name="card-title-362"/>
          <p:cNvSpPr txBox="1"/>
          <p:nvPr/>
        </p:nvSpPr>
        <p:spPr>
          <a:xfrm>
            <a:off x="4014216" y="355701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主體</a:t>
            </a:r>
            <a:endParaRPr lang="en-US" sz="1800" dirty="0"/>
          </a:p>
        </p:txBody>
      </p:sp>
      <p:sp>
        <p:nvSpPr>
          <p:cNvPr id="28" name="card-text-363"/>
          <p:cNvSpPr txBox="1"/>
          <p:nvPr/>
        </p:nvSpPr>
        <p:spPr>
          <a:xfrm>
            <a:off x="3374136" y="4261104"/>
            <a:ext cx="1984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資料主體與其他受影響者</a:t>
            </a:r>
            <a:endParaRPr lang="en-US" sz="1700" dirty="0"/>
          </a:p>
        </p:txBody>
      </p:sp>
      <p:sp>
        <p:nvSpPr>
          <p:cNvPr id="29" name="card-364"/>
          <p:cNvSpPr/>
          <p:nvPr/>
        </p:nvSpPr>
        <p:spPr>
          <a:xfrm>
            <a:off x="5742432" y="3392424"/>
            <a:ext cx="2395728" cy="1865376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-icon-bg-365"/>
          <p:cNvSpPr/>
          <p:nvPr/>
        </p:nvSpPr>
        <p:spPr>
          <a:xfrm>
            <a:off x="5925312" y="3575304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card-icon-36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703320"/>
            <a:ext cx="310896" cy="310896"/>
          </a:xfrm>
          <a:prstGeom prst="rect">
            <a:avLst/>
          </a:prstGeom>
        </p:spPr>
      </p:pic>
      <p:sp>
        <p:nvSpPr>
          <p:cNvPr id="32" name="card-title-367"/>
          <p:cNvSpPr txBox="1"/>
          <p:nvPr/>
        </p:nvSpPr>
        <p:spPr>
          <a:xfrm>
            <a:off x="6611112" y="355701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相關當局</a:t>
            </a:r>
            <a:endParaRPr lang="en-US" sz="1800" dirty="0"/>
          </a:p>
        </p:txBody>
      </p:sp>
      <p:sp>
        <p:nvSpPr>
          <p:cNvPr id="33" name="card-text-368"/>
          <p:cNvSpPr txBox="1"/>
          <p:nvPr/>
        </p:nvSpPr>
        <p:spPr>
          <a:xfrm>
            <a:off x="5971032" y="4261104"/>
            <a:ext cx="1984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政策制定者、監管機構</a:t>
            </a:r>
            <a:endParaRPr lang="en-US" sz="1700" dirty="0"/>
          </a:p>
        </p:txBody>
      </p:sp>
      <p:pic>
        <p:nvPicPr>
          <p:cNvPr id="34" name="arale-avatar-369" descr="助教阿拉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897380"/>
            <a:ext cx="868680" cy="868680"/>
          </a:xfrm>
          <a:prstGeom prst="rect">
            <a:avLst/>
          </a:prstGeom>
        </p:spPr>
      </p:pic>
      <p:sp>
        <p:nvSpPr>
          <p:cNvPr id="35" name="bubble-370"/>
          <p:cNvSpPr/>
          <p:nvPr/>
        </p:nvSpPr>
        <p:spPr>
          <a:xfrm>
            <a:off x="9326880" y="1463040"/>
            <a:ext cx="2313432" cy="1737360"/>
          </a:xfrm>
          <a:prstGeom prst="roundRect">
            <a:avLst>
              <a:gd name="adj" fmla="val 6316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bubble-text-371"/>
          <p:cNvSpPr txBox="1"/>
          <p:nvPr/>
        </p:nvSpPr>
        <p:spPr>
          <a:xfrm>
            <a:off x="9464040" y="146304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所以同一家公司，對 A 系統是提供者、對 B 系統是使用者？</a:t>
            </a:r>
            <a:endParaRPr lang="en-US" sz="1600" dirty="0"/>
          </a:p>
        </p:txBody>
      </p:sp>
      <p:pic>
        <p:nvPicPr>
          <p:cNvPr id="37" name="allan-avatar-372" descr="Allan 講師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863340"/>
            <a:ext cx="868680" cy="868680"/>
          </a:xfrm>
          <a:prstGeom prst="rect">
            <a:avLst/>
          </a:prstGeom>
        </p:spPr>
      </p:pic>
      <p:sp>
        <p:nvSpPr>
          <p:cNvPr id="38" name="bubble-373"/>
          <p:cNvSpPr/>
          <p:nvPr/>
        </p:nvSpPr>
        <p:spPr>
          <a:xfrm>
            <a:off x="9326880" y="3429000"/>
            <a:ext cx="2313432" cy="1737360"/>
          </a:xfrm>
          <a:prstGeom prst="roundRect">
            <a:avLst>
              <a:gd name="adj" fmla="val 6316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9" name="bubble-text-374"/>
          <p:cNvSpPr txBox="1"/>
          <p:nvPr/>
        </p:nvSpPr>
        <p:spPr>
          <a:xfrm>
            <a:off x="9464040" y="342900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沒錯！角色要「逐一 AI 系統」判定，並寫進 AI 系統清冊。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4.2 關注方與 4.3 範圍界定</a:t>
            </a:r>
            <a:endParaRPr lang="en-US" sz="3000" dirty="0"/>
          </a:p>
        </p:txBody>
      </p:sp>
      <p:graphicFrame>
        <p:nvGraphicFramePr>
          <p:cNvPr id="20" name="table-3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關注方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需要與期望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透過 AIMS 處理？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消費者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知道在跟 AI 對話、答案正確、可轉真人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是：A.8.2、A.9.3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主管機關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個資保護、消費者保護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是：法規要求登錄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供應商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合約與使用條款遵循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是：A.10.3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員工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清楚的 AI 使用守則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是：7.3、A.9.2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cope-box-376"/>
          <p:cNvSpPr/>
          <p:nvPr/>
        </p:nvSpPr>
        <p:spPr>
          <a:xfrm>
            <a:off x="6858000" y="1325880"/>
            <a:ext cx="4782312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cope-text-377"/>
          <p:cNvSpPr txBox="1"/>
          <p:nvPr/>
        </p:nvSpPr>
        <p:spPr>
          <a:xfrm>
            <a:off x="7086600" y="1463040"/>
            <a:ext cx="4389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範圍聲明範例（虛擬案例）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樂購電商股份有限公司「生成式 AI 客服系統」之設計、開發、提供與維運，涵蓋台北總部電商事業部、資訊部及客服中心；組織角色為 AI 提供者與 AI 製造者，並為所使用外部大型語言模型服務之 AI 客戶。</a:t>
            </a:r>
            <a:endParaRPr lang="en-US" sz="1400" dirty="0"/>
          </a:p>
        </p:txBody>
      </p:sp>
      <p:pic>
        <p:nvPicPr>
          <p:cNvPr id="7" name="allan-avatar-378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49140"/>
            <a:ext cx="868680" cy="868680"/>
          </a:xfrm>
          <a:prstGeom prst="rect">
            <a:avLst/>
          </a:prstGeom>
        </p:spPr>
      </p:pic>
      <p:sp>
        <p:nvSpPr>
          <p:cNvPr id="8" name="bubble-379"/>
          <p:cNvSpPr/>
          <p:nvPr/>
        </p:nvSpPr>
        <p:spPr>
          <a:xfrm>
            <a:off x="7818120" y="4297680"/>
            <a:ext cx="3822192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9" name="bubble-text-380"/>
          <p:cNvSpPr txBox="1"/>
          <p:nvPr/>
        </p:nvSpPr>
        <p:spPr>
          <a:xfrm>
            <a:off x="7955280" y="4297680"/>
            <a:ext cx="3547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範圍寫「全公司 AI」通常太空泛；寫清楚哪些 AI 系統、哪些角色、哪些單位，稽核才有邊界。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5.1 領導及承諾：老闆要「做」，不是只「簽」</a:t>
            </a:r>
            <a:endParaRPr lang="en-US" sz="3000" dirty="0"/>
          </a:p>
        </p:txBody>
      </p:sp>
      <p:graphicFrame>
        <p:nvGraphicFramePr>
          <p:cNvPr id="21" name="table-3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1323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5.1 要求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稽核員會看的證據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 政策與目標和策略方向相容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董事會／經營會議紀錄、策略文件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整合入組織營運流程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採購、專案、變更流程中的 AI 檢核點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確保資源可取得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預算、人力配置、工具採購紀錄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傳達有效 AI 管理的重要性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主管公告、訓練開場致詞、內部通訊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指揮及支援人員、宣導持續改善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管理審查決議與追蹤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arale-avatar-382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623060"/>
            <a:ext cx="868680" cy="868680"/>
          </a:xfrm>
          <a:prstGeom prst="rect">
            <a:avLst/>
          </a:prstGeom>
        </p:spPr>
      </p:pic>
      <p:sp>
        <p:nvSpPr>
          <p:cNvPr id="6" name="bubble-383"/>
          <p:cNvSpPr/>
          <p:nvPr/>
        </p:nvSpPr>
        <p:spPr>
          <a:xfrm>
            <a:off x="8915400" y="1371600"/>
            <a:ext cx="2724912" cy="1371600"/>
          </a:xfrm>
          <a:prstGeom prst="roundRect">
            <a:avLst>
              <a:gd name="adj" fmla="val 8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bubble-text-384"/>
          <p:cNvSpPr txBox="1"/>
          <p:nvPr/>
        </p:nvSpPr>
        <p:spPr>
          <a:xfrm>
            <a:off x="9052560" y="1371600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老闆很忙耶，稽核員真的會去問老闆嗎？</a:t>
            </a:r>
            <a:endParaRPr lang="en-US" sz="1600" dirty="0"/>
          </a:p>
        </p:txBody>
      </p:sp>
      <p:pic>
        <p:nvPicPr>
          <p:cNvPr id="8" name="allan-avatar-385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360420"/>
            <a:ext cx="868680" cy="868680"/>
          </a:xfrm>
          <a:prstGeom prst="rect">
            <a:avLst/>
          </a:prstGeom>
        </p:spPr>
      </p:pic>
      <p:sp>
        <p:nvSpPr>
          <p:cNvPr id="9" name="bubble-386"/>
          <p:cNvSpPr/>
          <p:nvPr/>
        </p:nvSpPr>
        <p:spPr>
          <a:xfrm>
            <a:off x="8915400" y="292608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0" name="bubble-text-387"/>
          <p:cNvSpPr txBox="1"/>
          <p:nvPr/>
        </p:nvSpPr>
        <p:spPr>
          <a:xfrm>
            <a:off x="9052560" y="292608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會！我通常第一場就訪談高階主管：「公司的 AI 政策你最在意哪一條？」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5.2 AI 政策 + A.2：一份好政策的骨架</a:t>
            </a:r>
            <a:endParaRPr lang="en-US" sz="3000" dirty="0"/>
          </a:p>
        </p:txBody>
      </p:sp>
      <p:sp>
        <p:nvSpPr>
          <p:cNvPr id="4" name="card-388"/>
          <p:cNvSpPr/>
          <p:nvPr/>
        </p:nvSpPr>
        <p:spPr>
          <a:xfrm>
            <a:off x="548640" y="1325880"/>
            <a:ext cx="351525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389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390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5.2</a:t>
            </a:r>
            <a:endParaRPr lang="en-US" sz="1200" dirty="0"/>
          </a:p>
        </p:txBody>
      </p:sp>
      <p:sp>
        <p:nvSpPr>
          <p:cNvPr id="7" name="card-title-391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條文要求</a:t>
            </a:r>
            <a:endParaRPr lang="en-US" sz="1900" dirty="0"/>
          </a:p>
        </p:txBody>
      </p:sp>
      <p:sp>
        <p:nvSpPr>
          <p:cNvPr id="8" name="card-text-392"/>
          <p:cNvSpPr txBox="1"/>
          <p:nvPr/>
        </p:nvSpPr>
        <p:spPr>
          <a:xfrm>
            <a:off x="777240" y="2194560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適合組織目的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提供設定 AI 目標的框架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承諾滿足適用要求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承諾持續改善</a:t>
            </a:r>
            <a:endParaRPr lang="en-US" sz="1700" dirty="0"/>
          </a:p>
        </p:txBody>
      </p:sp>
      <p:sp>
        <p:nvSpPr>
          <p:cNvPr id="9" name="card-393"/>
          <p:cNvSpPr/>
          <p:nvPr/>
        </p:nvSpPr>
        <p:spPr>
          <a:xfrm>
            <a:off x="4338218" y="1325880"/>
            <a:ext cx="351525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394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395"/>
          <p:cNvSpPr txBox="1"/>
          <p:nvPr/>
        </p:nvSpPr>
        <p:spPr>
          <a:xfrm>
            <a:off x="452109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A.2</a:t>
            </a:r>
            <a:endParaRPr lang="en-US" sz="1200" dirty="0"/>
          </a:p>
        </p:txBody>
      </p:sp>
      <p:sp>
        <p:nvSpPr>
          <p:cNvPr id="12" name="card-title-396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控制措施</a:t>
            </a:r>
            <a:endParaRPr lang="en-US" sz="1900" dirty="0"/>
          </a:p>
        </p:txBody>
      </p:sp>
      <p:sp>
        <p:nvSpPr>
          <p:cNvPr id="13" name="card-text-397"/>
          <p:cNvSpPr txBox="1"/>
          <p:nvPr/>
        </p:nvSpPr>
        <p:spPr>
          <a:xfrm>
            <a:off x="4566818" y="2194560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A.2.2 文件化 AI 政策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A.2.3 與其他政策一致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A.2.4 定期審查</a:t>
            </a:r>
            <a:endParaRPr lang="en-US" sz="1700" dirty="0"/>
          </a:p>
        </p:txBody>
      </p:sp>
      <p:sp>
        <p:nvSpPr>
          <p:cNvPr id="14" name="card-398"/>
          <p:cNvSpPr/>
          <p:nvPr/>
        </p:nvSpPr>
        <p:spPr>
          <a:xfrm>
            <a:off x="8127797" y="1325880"/>
            <a:ext cx="351525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399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400"/>
          <p:cNvSpPr txBox="1"/>
          <p:nvPr/>
        </p:nvSpPr>
        <p:spPr>
          <a:xfrm>
            <a:off x="8310677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B.2</a:t>
            </a:r>
            <a:endParaRPr lang="en-US" sz="1200" dirty="0"/>
          </a:p>
        </p:txBody>
      </p:sp>
      <p:sp>
        <p:nvSpPr>
          <p:cNvPr id="17" name="card-title-401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實作建議</a:t>
            </a:r>
            <a:endParaRPr lang="en-US" sz="1900" dirty="0"/>
          </a:p>
        </p:txBody>
      </p:sp>
      <p:sp>
        <p:nvSpPr>
          <p:cNvPr id="18" name="card-text-402"/>
          <p:cNvSpPr txBox="1"/>
          <p:nvPr/>
        </p:nvSpPr>
        <p:spPr>
          <a:xfrm>
            <a:off x="8356397" y="2194560"/>
            <a:ext cx="31037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指導所有 AI 活動的原則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政策偏離與例外處理流程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涵蓋資源、衝擊評鑑、開發等主題</a:t>
            </a:r>
            <a:endParaRPr lang="en-US" sz="1700" dirty="0"/>
          </a:p>
        </p:txBody>
      </p:sp>
      <p:pic>
        <p:nvPicPr>
          <p:cNvPr id="19" name="allan-avatar-403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0"/>
            <a:ext cx="868680" cy="868680"/>
          </a:xfrm>
          <a:prstGeom prst="rect">
            <a:avLst/>
          </a:prstGeom>
        </p:spPr>
      </p:pic>
      <p:sp>
        <p:nvSpPr>
          <p:cNvPr id="20" name="bubble-404"/>
          <p:cNvSpPr/>
          <p:nvPr/>
        </p:nvSpPr>
        <p:spPr>
          <a:xfrm>
            <a:off x="1508760" y="4754880"/>
            <a:ext cx="10134295" cy="868680"/>
          </a:xfrm>
          <a:prstGeom prst="roundRect">
            <a:avLst>
              <a:gd name="adj" fmla="val 12632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405"/>
          <p:cNvSpPr txBox="1"/>
          <p:nvPr/>
        </p:nvSpPr>
        <p:spPr>
          <a:xfrm>
            <a:off x="1645920" y="4754880"/>
            <a:ext cx="9859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常見缺失：AI 政策寫得很漂亮，卻沒說明跟資安政策、個資政策怎麼銜接（A.2.3）。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5.3 角色、責任及權限：AI 治理組織</a:t>
            </a:r>
            <a:endParaRPr lang="en-US" sz="3000" dirty="0"/>
          </a:p>
        </p:txBody>
      </p:sp>
      <p:sp>
        <p:nvSpPr>
          <p:cNvPr id="4" name="flow-head-406"/>
          <p:cNvSpPr/>
          <p:nvPr/>
        </p:nvSpPr>
        <p:spPr>
          <a:xfrm>
            <a:off x="548640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407"/>
          <p:cNvSpPr txBox="1"/>
          <p:nvPr/>
        </p:nvSpPr>
        <p:spPr>
          <a:xfrm>
            <a:off x="548640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董事會／治理機構</a:t>
            </a:r>
            <a:endParaRPr lang="en-US" sz="1500" dirty="0"/>
          </a:p>
        </p:txBody>
      </p:sp>
      <p:sp>
        <p:nvSpPr>
          <p:cNvPr id="6" name="flow-body-408"/>
          <p:cNvSpPr/>
          <p:nvPr/>
        </p:nvSpPr>
        <p:spPr>
          <a:xfrm>
            <a:off x="548640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409"/>
          <p:cNvSpPr txBox="1"/>
          <p:nvPr/>
        </p:nvSpPr>
        <p:spPr>
          <a:xfrm>
            <a:off x="658368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核定 AI 政策方向、監督</a:t>
            </a:r>
            <a:endParaRPr lang="en-US" sz="1700" dirty="0"/>
          </a:p>
        </p:txBody>
      </p:sp>
      <p:sp>
        <p:nvSpPr>
          <p:cNvPr id="8" name="flow-arrow-410"/>
          <p:cNvSpPr/>
          <p:nvPr/>
        </p:nvSpPr>
        <p:spPr>
          <a:xfrm rot="5400000">
            <a:off x="262670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411"/>
          <p:cNvSpPr/>
          <p:nvPr/>
        </p:nvSpPr>
        <p:spPr>
          <a:xfrm>
            <a:off x="281872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412"/>
          <p:cNvSpPr txBox="1"/>
          <p:nvPr/>
        </p:nvSpPr>
        <p:spPr>
          <a:xfrm>
            <a:off x="281872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治理委員會</a:t>
            </a:r>
            <a:endParaRPr lang="en-US" sz="1500" dirty="0"/>
          </a:p>
        </p:txBody>
      </p:sp>
      <p:sp>
        <p:nvSpPr>
          <p:cNvPr id="11" name="flow-body-413"/>
          <p:cNvSpPr/>
          <p:nvPr/>
        </p:nvSpPr>
        <p:spPr>
          <a:xfrm>
            <a:off x="2818729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414"/>
          <p:cNvSpPr txBox="1"/>
          <p:nvPr/>
        </p:nvSpPr>
        <p:spPr>
          <a:xfrm>
            <a:off x="2928457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最高管理階層主持；核准風險處理計畫與剩餘風險</a:t>
            </a:r>
            <a:endParaRPr lang="en-US" sz="1700" dirty="0"/>
          </a:p>
        </p:txBody>
      </p:sp>
      <p:sp>
        <p:nvSpPr>
          <p:cNvPr id="13" name="flow-arrow-415"/>
          <p:cNvSpPr/>
          <p:nvPr/>
        </p:nvSpPr>
        <p:spPr>
          <a:xfrm rot="5400000">
            <a:off x="489679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416"/>
          <p:cNvSpPr/>
          <p:nvPr/>
        </p:nvSpPr>
        <p:spPr>
          <a:xfrm>
            <a:off x="508881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417"/>
          <p:cNvSpPr txBox="1"/>
          <p:nvPr/>
        </p:nvSpPr>
        <p:spPr>
          <a:xfrm>
            <a:off x="508881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AIMS 管理代表</a:t>
            </a:r>
            <a:endParaRPr lang="en-US" sz="1500" dirty="0"/>
          </a:p>
        </p:txBody>
      </p:sp>
      <p:sp>
        <p:nvSpPr>
          <p:cNvPr id="16" name="flow-body-418"/>
          <p:cNvSpPr/>
          <p:nvPr/>
        </p:nvSpPr>
        <p:spPr>
          <a:xfrm>
            <a:off x="5088819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419"/>
          <p:cNvSpPr txBox="1"/>
          <p:nvPr/>
        </p:nvSpPr>
        <p:spPr>
          <a:xfrm>
            <a:off x="5198547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推動 AIMS、彙整績效向上報告（5.3 b）</a:t>
            </a:r>
            <a:endParaRPr lang="en-US" sz="1700" dirty="0"/>
          </a:p>
        </p:txBody>
      </p:sp>
      <p:sp>
        <p:nvSpPr>
          <p:cNvPr id="18" name="flow-arrow-420"/>
          <p:cNvSpPr/>
          <p:nvPr/>
        </p:nvSpPr>
        <p:spPr>
          <a:xfrm rot="5400000">
            <a:off x="716688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421"/>
          <p:cNvSpPr/>
          <p:nvPr/>
        </p:nvSpPr>
        <p:spPr>
          <a:xfrm>
            <a:off x="735890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422"/>
          <p:cNvSpPr txBox="1"/>
          <p:nvPr/>
        </p:nvSpPr>
        <p:spPr>
          <a:xfrm>
            <a:off x="735890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系統負責人</a:t>
            </a:r>
            <a:endParaRPr lang="en-US" sz="1500" dirty="0"/>
          </a:p>
        </p:txBody>
      </p:sp>
      <p:sp>
        <p:nvSpPr>
          <p:cNvPr id="21" name="flow-body-423"/>
          <p:cNvSpPr/>
          <p:nvPr/>
        </p:nvSpPr>
        <p:spPr>
          <a:xfrm>
            <a:off x="7358908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424"/>
          <p:cNvSpPr txBox="1"/>
          <p:nvPr/>
        </p:nvSpPr>
        <p:spPr>
          <a:xfrm>
            <a:off x="7468636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各 AI 系統之風險、衝擊評鑑與運作</a:t>
            </a:r>
            <a:endParaRPr lang="en-US" sz="1700" dirty="0"/>
          </a:p>
        </p:txBody>
      </p:sp>
      <p:sp>
        <p:nvSpPr>
          <p:cNvPr id="23" name="flow-arrow-425"/>
          <p:cNvSpPr/>
          <p:nvPr/>
        </p:nvSpPr>
        <p:spPr>
          <a:xfrm rot="5400000">
            <a:off x="943697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426"/>
          <p:cNvSpPr/>
          <p:nvPr/>
        </p:nvSpPr>
        <p:spPr>
          <a:xfrm>
            <a:off x="962899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427"/>
          <p:cNvSpPr txBox="1"/>
          <p:nvPr/>
        </p:nvSpPr>
        <p:spPr>
          <a:xfrm>
            <a:off x="962899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跨職能成員</a:t>
            </a:r>
            <a:endParaRPr lang="en-US" sz="1500" dirty="0"/>
          </a:p>
        </p:txBody>
      </p:sp>
      <p:sp>
        <p:nvSpPr>
          <p:cNvPr id="26" name="flow-body-428"/>
          <p:cNvSpPr/>
          <p:nvPr/>
        </p:nvSpPr>
        <p:spPr>
          <a:xfrm>
            <a:off x="9628998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429"/>
          <p:cNvSpPr txBox="1"/>
          <p:nvPr/>
        </p:nvSpPr>
        <p:spPr>
          <a:xfrm>
            <a:off x="9738726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資安、法遵、個資、資料、人為監管</a:t>
            </a:r>
            <a:endParaRPr lang="en-US" sz="1700" dirty="0"/>
          </a:p>
        </p:txBody>
      </p:sp>
      <p:graphicFrame>
        <p:nvGraphicFramePr>
          <p:cNvPr id="23" name="table-4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1828800"/>
                <a:gridCol w="1828800"/>
                <a:gridCol w="2039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活動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治理委員會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管理代表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AI 系統負責人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法遵／個資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風險處理計畫核准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系統衝擊評鑑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A／R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關注事項通報（A.3.3）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條文 6：規劃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AI 風險評鑑、風險處理、SoA、AI 系統衝擊評鑑與目標</a:t>
            </a:r>
            <a:endParaRPr lang="en-US" sz="2000" dirty="0"/>
          </a:p>
        </p:txBody>
      </p:sp>
      <p:sp>
        <p:nvSpPr>
          <p:cNvPr id="5" name="section-num-431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432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</a:t>
            </a:r>
            <a:endParaRPr lang="en-US" sz="4000" dirty="0"/>
          </a:p>
        </p:txBody>
      </p:sp>
      <p:sp>
        <p:nvSpPr>
          <p:cNvPr id="7" name="section-time-433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30 分鐘</a:t>
            </a:r>
            <a:endParaRPr lang="en-US" sz="1400" dirty="0"/>
          </a:p>
        </p:txBody>
      </p:sp>
      <p:pic>
        <p:nvPicPr>
          <p:cNvPr id="8" name="allan-434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6.1.1 先訂「AI 風險準則」</a:t>
            </a:r>
            <a:endParaRPr lang="en-US" sz="3000" dirty="0"/>
          </a:p>
        </p:txBody>
      </p:sp>
      <p:sp>
        <p:nvSpPr>
          <p:cNvPr id="4" name="card-435"/>
          <p:cNvSpPr/>
          <p:nvPr/>
        </p:nvSpPr>
        <p:spPr>
          <a:xfrm>
            <a:off x="548640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436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4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438"/>
          <p:cNvSpPr txBox="1"/>
          <p:nvPr/>
        </p:nvSpPr>
        <p:spPr>
          <a:xfrm>
            <a:off x="1417320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區分可接受／不可接受</a:t>
            </a:r>
            <a:endParaRPr lang="en-US" sz="1800" dirty="0"/>
          </a:p>
        </p:txBody>
      </p:sp>
      <p:sp>
        <p:nvSpPr>
          <p:cNvPr id="8" name="card-text-439"/>
          <p:cNvSpPr txBox="1"/>
          <p:nvPr/>
        </p:nvSpPr>
        <p:spPr>
          <a:xfrm>
            <a:off x="777240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例：風險等級 ≥ 15 為不可接受，須處理</a:t>
            </a:r>
            <a:endParaRPr lang="en-US" sz="1700" dirty="0"/>
          </a:p>
        </p:txBody>
      </p:sp>
      <p:sp>
        <p:nvSpPr>
          <p:cNvPr id="9" name="card-440"/>
          <p:cNvSpPr/>
          <p:nvPr/>
        </p:nvSpPr>
        <p:spPr>
          <a:xfrm>
            <a:off x="3379394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441"/>
          <p:cNvSpPr/>
          <p:nvPr/>
        </p:nvSpPr>
        <p:spPr>
          <a:xfrm>
            <a:off x="3562274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4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90" y="1636776"/>
            <a:ext cx="310896" cy="310896"/>
          </a:xfrm>
          <a:prstGeom prst="rect">
            <a:avLst/>
          </a:prstGeom>
        </p:spPr>
      </p:pic>
      <p:sp>
        <p:nvSpPr>
          <p:cNvPr id="12" name="card-title-443"/>
          <p:cNvSpPr txBox="1"/>
          <p:nvPr/>
        </p:nvSpPr>
        <p:spPr>
          <a:xfrm>
            <a:off x="4248074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執行 AI 風險評鑑</a:t>
            </a:r>
            <a:endParaRPr lang="en-US" sz="1800" dirty="0"/>
          </a:p>
        </p:txBody>
      </p:sp>
      <p:sp>
        <p:nvSpPr>
          <p:cNvPr id="13" name="card-text-444"/>
          <p:cNvSpPr txBox="1"/>
          <p:nvPr/>
        </p:nvSpPr>
        <p:spPr>
          <a:xfrm>
            <a:off x="3607994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評分方法、可能性與後果定義</a:t>
            </a:r>
            <a:endParaRPr lang="en-US" sz="1700" dirty="0"/>
          </a:p>
        </p:txBody>
      </p:sp>
      <p:sp>
        <p:nvSpPr>
          <p:cNvPr id="14" name="card-445"/>
          <p:cNvSpPr/>
          <p:nvPr/>
        </p:nvSpPr>
        <p:spPr>
          <a:xfrm>
            <a:off x="6210148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446"/>
          <p:cNvSpPr/>
          <p:nvPr/>
        </p:nvSpPr>
        <p:spPr>
          <a:xfrm>
            <a:off x="6393028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4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44" y="1636776"/>
            <a:ext cx="310896" cy="310896"/>
          </a:xfrm>
          <a:prstGeom prst="rect">
            <a:avLst/>
          </a:prstGeom>
        </p:spPr>
      </p:pic>
      <p:sp>
        <p:nvSpPr>
          <p:cNvPr id="17" name="card-title-448"/>
          <p:cNvSpPr txBox="1"/>
          <p:nvPr/>
        </p:nvSpPr>
        <p:spPr>
          <a:xfrm>
            <a:off x="7078828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進行 AI 風險處理</a:t>
            </a:r>
            <a:endParaRPr lang="en-US" sz="1800" dirty="0"/>
          </a:p>
        </p:txBody>
      </p:sp>
      <p:sp>
        <p:nvSpPr>
          <p:cNvPr id="18" name="card-text-449"/>
          <p:cNvSpPr txBox="1"/>
          <p:nvPr/>
        </p:nvSpPr>
        <p:spPr>
          <a:xfrm>
            <a:off x="6438748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處理選項與核准權責</a:t>
            </a:r>
            <a:endParaRPr lang="en-US" sz="1700" dirty="0"/>
          </a:p>
        </p:txBody>
      </p:sp>
      <p:sp>
        <p:nvSpPr>
          <p:cNvPr id="19" name="card-450"/>
          <p:cNvSpPr/>
          <p:nvPr/>
        </p:nvSpPr>
        <p:spPr>
          <a:xfrm>
            <a:off x="9040901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451"/>
          <p:cNvSpPr/>
          <p:nvPr/>
        </p:nvSpPr>
        <p:spPr>
          <a:xfrm>
            <a:off x="9223781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card-icon-45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797" y="1636776"/>
            <a:ext cx="310896" cy="310896"/>
          </a:xfrm>
          <a:prstGeom prst="rect">
            <a:avLst/>
          </a:prstGeom>
        </p:spPr>
      </p:pic>
      <p:sp>
        <p:nvSpPr>
          <p:cNvPr id="22" name="card-title-453"/>
          <p:cNvSpPr txBox="1"/>
          <p:nvPr/>
        </p:nvSpPr>
        <p:spPr>
          <a:xfrm>
            <a:off x="9909581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評鑑 AI 風險的衝擊</a:t>
            </a:r>
            <a:endParaRPr lang="en-US" sz="1800" dirty="0"/>
          </a:p>
        </p:txBody>
      </p:sp>
      <p:sp>
        <p:nvSpPr>
          <p:cNvPr id="23" name="card-text-454"/>
          <p:cNvSpPr txBox="1"/>
          <p:nvPr/>
        </p:nvSpPr>
        <p:spPr>
          <a:xfrm>
            <a:off x="9269501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後果涵蓋組織、個人、社會</a:t>
            </a:r>
            <a:endParaRPr lang="en-US" sz="1700" dirty="0"/>
          </a:p>
        </p:txBody>
      </p:sp>
      <p:pic>
        <p:nvPicPr>
          <p:cNvPr id="24" name="allan-avatar-455" descr="Allan 講師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00500"/>
            <a:ext cx="868680" cy="868680"/>
          </a:xfrm>
          <a:prstGeom prst="rect">
            <a:avLst/>
          </a:prstGeom>
        </p:spPr>
      </p:pic>
      <p:sp>
        <p:nvSpPr>
          <p:cNvPr id="25" name="bubble-456"/>
          <p:cNvSpPr/>
          <p:nvPr/>
        </p:nvSpPr>
        <p:spPr>
          <a:xfrm>
            <a:off x="1508760" y="4023360"/>
            <a:ext cx="10134295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6" name="bubble-text-457"/>
          <p:cNvSpPr txBox="1"/>
          <p:nvPr/>
        </p:nvSpPr>
        <p:spPr>
          <a:xfrm>
            <a:off x="1645920" y="40233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沒有準則的風險評鑑，就像沒有及格線的考試——每次結果都不能比較，違反 6.1.2 b)。</a:t>
            </a:r>
            <a:endParaRPr lang="en-US" sz="1700" dirty="0"/>
          </a:p>
        </p:txBody>
      </p:sp>
      <p:pic>
        <p:nvPicPr>
          <p:cNvPr id="27" name="arale-avatar-458" descr="助教阿拉蕾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60620"/>
            <a:ext cx="868680" cy="868680"/>
          </a:xfrm>
          <a:prstGeom prst="rect">
            <a:avLst/>
          </a:prstGeom>
        </p:spPr>
      </p:pic>
      <p:sp>
        <p:nvSpPr>
          <p:cNvPr id="28" name="bubble-459"/>
          <p:cNvSpPr/>
          <p:nvPr/>
        </p:nvSpPr>
        <p:spPr>
          <a:xfrm>
            <a:off x="1508760" y="5029200"/>
            <a:ext cx="3154680" cy="731520"/>
          </a:xfrm>
          <a:prstGeom prst="roundRect">
            <a:avLst>
              <a:gd name="adj" fmla="val 15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bubble-text-460"/>
          <p:cNvSpPr txBox="1"/>
          <p:nvPr/>
        </p:nvSpPr>
        <p:spPr>
          <a:xfrm>
            <a:off x="1645920" y="5029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那準則誰來定？</a:t>
            </a:r>
            <a:endParaRPr lang="en-US" sz="1700" dirty="0"/>
          </a:p>
        </p:txBody>
      </p:sp>
      <p:pic>
        <p:nvPicPr>
          <p:cNvPr id="30" name="allan-avatar-461" descr="Allan 講師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960620"/>
            <a:ext cx="868680" cy="868680"/>
          </a:xfrm>
          <a:prstGeom prst="rect">
            <a:avLst/>
          </a:prstGeom>
        </p:spPr>
      </p:pic>
      <p:sp>
        <p:nvSpPr>
          <p:cNvPr id="31" name="bubble-462"/>
          <p:cNvSpPr/>
          <p:nvPr/>
        </p:nvSpPr>
        <p:spPr>
          <a:xfrm>
            <a:off x="5806440" y="5029200"/>
            <a:ext cx="5833872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2" name="bubble-text-463"/>
          <p:cNvSpPr txBox="1"/>
          <p:nvPr/>
        </p:nvSpPr>
        <p:spPr>
          <a:xfrm>
            <a:off x="5943600" y="5029200"/>
            <a:ext cx="5559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最高管理階層核定，並與 AI 政策、目標一致。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6.1.2 AI 風險評鑑流程</a:t>
            </a:r>
            <a:endParaRPr lang="en-US" sz="3000" dirty="0"/>
          </a:p>
        </p:txBody>
      </p:sp>
      <p:sp>
        <p:nvSpPr>
          <p:cNvPr id="4" name="flow-head-464"/>
          <p:cNvSpPr/>
          <p:nvPr/>
        </p:nvSpPr>
        <p:spPr>
          <a:xfrm>
            <a:off x="548640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465"/>
          <p:cNvSpPr txBox="1"/>
          <p:nvPr/>
        </p:nvSpPr>
        <p:spPr>
          <a:xfrm>
            <a:off x="548640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a) 與政策目標一致</a:t>
            </a:r>
            <a:endParaRPr lang="en-US" sz="1500" dirty="0"/>
          </a:p>
        </p:txBody>
      </p:sp>
      <p:sp>
        <p:nvSpPr>
          <p:cNvPr id="6" name="flow-body-466"/>
          <p:cNvSpPr/>
          <p:nvPr/>
        </p:nvSpPr>
        <p:spPr>
          <a:xfrm>
            <a:off x="548640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467"/>
          <p:cNvSpPr txBox="1"/>
          <p:nvPr/>
        </p:nvSpPr>
        <p:spPr>
          <a:xfrm>
            <a:off x="658368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以 AI 政策與 AI 目標為基準</a:t>
            </a:r>
            <a:endParaRPr lang="en-US" sz="1700" dirty="0"/>
          </a:p>
        </p:txBody>
      </p:sp>
      <p:sp>
        <p:nvSpPr>
          <p:cNvPr id="8" name="flow-arrow-468"/>
          <p:cNvSpPr/>
          <p:nvPr/>
        </p:nvSpPr>
        <p:spPr>
          <a:xfrm rot="5400000">
            <a:off x="262670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469"/>
          <p:cNvSpPr/>
          <p:nvPr/>
        </p:nvSpPr>
        <p:spPr>
          <a:xfrm>
            <a:off x="281872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470"/>
          <p:cNvSpPr txBox="1"/>
          <p:nvPr/>
        </p:nvSpPr>
        <p:spPr>
          <a:xfrm>
            <a:off x="281872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b) 可重複可比較</a:t>
            </a:r>
            <a:endParaRPr lang="en-US" sz="1500" dirty="0"/>
          </a:p>
        </p:txBody>
      </p:sp>
      <p:sp>
        <p:nvSpPr>
          <p:cNvPr id="11" name="flow-body-471"/>
          <p:cNvSpPr/>
          <p:nvPr/>
        </p:nvSpPr>
        <p:spPr>
          <a:xfrm>
            <a:off x="2818729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472"/>
          <p:cNvSpPr txBox="1"/>
          <p:nvPr/>
        </p:nvSpPr>
        <p:spPr>
          <a:xfrm>
            <a:off x="2928457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一致、有效、可比較的結果</a:t>
            </a:r>
            <a:endParaRPr lang="en-US" sz="1700" dirty="0"/>
          </a:p>
        </p:txBody>
      </p:sp>
      <p:sp>
        <p:nvSpPr>
          <p:cNvPr id="13" name="flow-arrow-473"/>
          <p:cNvSpPr/>
          <p:nvPr/>
        </p:nvSpPr>
        <p:spPr>
          <a:xfrm rot="5400000">
            <a:off x="489679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474"/>
          <p:cNvSpPr/>
          <p:nvPr/>
        </p:nvSpPr>
        <p:spPr>
          <a:xfrm>
            <a:off x="508881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475"/>
          <p:cNvSpPr txBox="1"/>
          <p:nvPr/>
        </p:nvSpPr>
        <p:spPr>
          <a:xfrm>
            <a:off x="508881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c) 識別</a:t>
            </a:r>
            <a:endParaRPr lang="en-US" sz="1500" dirty="0"/>
          </a:p>
        </p:txBody>
      </p:sp>
      <p:sp>
        <p:nvSpPr>
          <p:cNvPr id="16" name="flow-body-476"/>
          <p:cNvSpPr/>
          <p:nvPr/>
        </p:nvSpPr>
        <p:spPr>
          <a:xfrm>
            <a:off x="5088819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477"/>
          <p:cNvSpPr txBox="1"/>
          <p:nvPr/>
        </p:nvSpPr>
        <p:spPr>
          <a:xfrm>
            <a:off x="5198547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有助於或阻礙 AI 目標的風險</a:t>
            </a:r>
            <a:endParaRPr lang="en-US" sz="1700" dirty="0"/>
          </a:p>
        </p:txBody>
      </p:sp>
      <p:sp>
        <p:nvSpPr>
          <p:cNvPr id="18" name="flow-arrow-478"/>
          <p:cNvSpPr/>
          <p:nvPr/>
        </p:nvSpPr>
        <p:spPr>
          <a:xfrm rot="5400000">
            <a:off x="716688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479"/>
          <p:cNvSpPr/>
          <p:nvPr/>
        </p:nvSpPr>
        <p:spPr>
          <a:xfrm>
            <a:off x="735890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480"/>
          <p:cNvSpPr txBox="1"/>
          <p:nvPr/>
        </p:nvSpPr>
        <p:spPr>
          <a:xfrm>
            <a:off x="735890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d) 分析</a:t>
            </a:r>
            <a:endParaRPr lang="en-US" sz="1500" dirty="0"/>
          </a:p>
        </p:txBody>
      </p:sp>
      <p:sp>
        <p:nvSpPr>
          <p:cNvPr id="21" name="flow-body-481"/>
          <p:cNvSpPr/>
          <p:nvPr/>
        </p:nvSpPr>
        <p:spPr>
          <a:xfrm>
            <a:off x="7358908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482"/>
          <p:cNvSpPr txBox="1"/>
          <p:nvPr/>
        </p:nvSpPr>
        <p:spPr>
          <a:xfrm>
            <a:off x="7468636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後果：組織／個人／社會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可能性 → 風險等級</a:t>
            </a:r>
            <a:endParaRPr lang="en-US" sz="1700" dirty="0"/>
          </a:p>
        </p:txBody>
      </p:sp>
      <p:sp>
        <p:nvSpPr>
          <p:cNvPr id="23" name="flow-arrow-483"/>
          <p:cNvSpPr/>
          <p:nvPr/>
        </p:nvSpPr>
        <p:spPr>
          <a:xfrm rot="5400000">
            <a:off x="943697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484"/>
          <p:cNvSpPr/>
          <p:nvPr/>
        </p:nvSpPr>
        <p:spPr>
          <a:xfrm>
            <a:off x="962899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485"/>
          <p:cNvSpPr txBox="1"/>
          <p:nvPr/>
        </p:nvSpPr>
        <p:spPr>
          <a:xfrm>
            <a:off x="962899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e) 評估</a:t>
            </a:r>
            <a:endParaRPr lang="en-US" sz="1500" dirty="0"/>
          </a:p>
        </p:txBody>
      </p:sp>
      <p:sp>
        <p:nvSpPr>
          <p:cNvPr id="26" name="flow-body-486"/>
          <p:cNvSpPr/>
          <p:nvPr/>
        </p:nvSpPr>
        <p:spPr>
          <a:xfrm>
            <a:off x="9628998" y="1984248"/>
            <a:ext cx="2014057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487"/>
          <p:cNvSpPr txBox="1"/>
          <p:nvPr/>
        </p:nvSpPr>
        <p:spPr>
          <a:xfrm>
            <a:off x="9738726" y="2075688"/>
            <a:ext cx="179460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與風險準則比較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訂處理優先序</a:t>
            </a:r>
            <a:endParaRPr lang="en-US" sz="1700" dirty="0"/>
          </a:p>
        </p:txBody>
      </p:sp>
      <p:pic>
        <p:nvPicPr>
          <p:cNvPr id="28" name="allan-avatar-488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00500"/>
            <a:ext cx="868680" cy="868680"/>
          </a:xfrm>
          <a:prstGeom prst="rect">
            <a:avLst/>
          </a:prstGeom>
        </p:spPr>
      </p:pic>
      <p:sp>
        <p:nvSpPr>
          <p:cNvPr id="29" name="bubble-489"/>
          <p:cNvSpPr/>
          <p:nvPr/>
        </p:nvSpPr>
        <p:spPr>
          <a:xfrm>
            <a:off x="1508760" y="4023360"/>
            <a:ext cx="10134295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0" name="bubble-text-490"/>
          <p:cNvSpPr txBox="1"/>
          <p:nvPr/>
        </p:nvSpPr>
        <p:spPr>
          <a:xfrm>
            <a:off x="1645920" y="40233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和 27001 最大的差別在 d)1)：後果不只看組織，還要看對「個人和社會」的後果。</a:t>
            </a:r>
            <a:endParaRPr lang="en-US" sz="1700" dirty="0"/>
          </a:p>
        </p:txBody>
      </p:sp>
      <p:pic>
        <p:nvPicPr>
          <p:cNvPr id="31" name="arale-avatar-491" descr="助教阿拉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60620"/>
            <a:ext cx="868680" cy="868680"/>
          </a:xfrm>
          <a:prstGeom prst="rect">
            <a:avLst/>
          </a:prstGeom>
        </p:spPr>
      </p:pic>
      <p:sp>
        <p:nvSpPr>
          <p:cNvPr id="32" name="bubble-492"/>
          <p:cNvSpPr/>
          <p:nvPr/>
        </p:nvSpPr>
        <p:spPr>
          <a:xfrm>
            <a:off x="1508760" y="502920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3" name="bubble-text-493"/>
          <p:cNvSpPr txBox="1"/>
          <p:nvPr/>
        </p:nvSpPr>
        <p:spPr>
          <a:xfrm>
            <a:off x="1645920" y="502920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所以衝擊評鑑的結果可以直接拿來當後果評分的輸入！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特有風險：傳統資安清單找不到的</a:t>
            </a:r>
            <a:endParaRPr lang="en-US" sz="3000" dirty="0"/>
          </a:p>
        </p:txBody>
      </p:sp>
      <p:sp>
        <p:nvSpPr>
          <p:cNvPr id="4" name="card-494"/>
          <p:cNvSpPr/>
          <p:nvPr/>
        </p:nvSpPr>
        <p:spPr>
          <a:xfrm>
            <a:off x="548640" y="1325880"/>
            <a:ext cx="3545738" cy="1805940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495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49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497"/>
          <p:cNvSpPr txBox="1"/>
          <p:nvPr/>
        </p:nvSpPr>
        <p:spPr>
          <a:xfrm>
            <a:off x="1417320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偏差與不公平</a:t>
            </a:r>
            <a:endParaRPr lang="en-US" sz="1800" dirty="0"/>
          </a:p>
        </p:txBody>
      </p:sp>
      <p:sp>
        <p:nvSpPr>
          <p:cNvPr id="8" name="card-text-498"/>
          <p:cNvSpPr txBox="1"/>
          <p:nvPr/>
        </p:nvSpPr>
        <p:spPr>
          <a:xfrm>
            <a:off x="777240" y="2194560"/>
            <a:ext cx="31342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訓練資料代表性不足，對特定群體不利</a:t>
            </a:r>
            <a:endParaRPr lang="en-US" sz="1700" dirty="0"/>
          </a:p>
        </p:txBody>
      </p:sp>
      <p:sp>
        <p:nvSpPr>
          <p:cNvPr id="9" name="card-499"/>
          <p:cNvSpPr/>
          <p:nvPr/>
        </p:nvSpPr>
        <p:spPr>
          <a:xfrm>
            <a:off x="4322978" y="1325880"/>
            <a:ext cx="3545738" cy="1805940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500"/>
          <p:cNvSpPr/>
          <p:nvPr/>
        </p:nvSpPr>
        <p:spPr>
          <a:xfrm>
            <a:off x="450585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5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74" y="1636776"/>
            <a:ext cx="310896" cy="310896"/>
          </a:xfrm>
          <a:prstGeom prst="rect">
            <a:avLst/>
          </a:prstGeom>
        </p:spPr>
      </p:pic>
      <p:sp>
        <p:nvSpPr>
          <p:cNvPr id="12" name="card-title-502"/>
          <p:cNvSpPr txBox="1"/>
          <p:nvPr/>
        </p:nvSpPr>
        <p:spPr>
          <a:xfrm>
            <a:off x="5191658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幻覺與錯誤輸出</a:t>
            </a:r>
            <a:endParaRPr lang="en-US" sz="1800" dirty="0"/>
          </a:p>
        </p:txBody>
      </p:sp>
      <p:sp>
        <p:nvSpPr>
          <p:cNvPr id="13" name="card-text-503"/>
          <p:cNvSpPr txBox="1"/>
          <p:nvPr/>
        </p:nvSpPr>
        <p:spPr>
          <a:xfrm>
            <a:off x="4551578" y="2194560"/>
            <a:ext cx="31342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生成式 AI 一本正經地說錯</a:t>
            </a:r>
            <a:endParaRPr lang="en-US" sz="1700" dirty="0"/>
          </a:p>
        </p:txBody>
      </p:sp>
      <p:sp>
        <p:nvSpPr>
          <p:cNvPr id="14" name="card-504"/>
          <p:cNvSpPr/>
          <p:nvPr/>
        </p:nvSpPr>
        <p:spPr>
          <a:xfrm>
            <a:off x="8097317" y="1325880"/>
            <a:ext cx="3545738" cy="1805940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505"/>
          <p:cNvSpPr/>
          <p:nvPr/>
        </p:nvSpPr>
        <p:spPr>
          <a:xfrm>
            <a:off x="828019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50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213" y="1636776"/>
            <a:ext cx="310896" cy="310896"/>
          </a:xfrm>
          <a:prstGeom prst="rect">
            <a:avLst/>
          </a:prstGeom>
        </p:spPr>
      </p:pic>
      <p:sp>
        <p:nvSpPr>
          <p:cNvPr id="17" name="card-title-507"/>
          <p:cNvSpPr txBox="1"/>
          <p:nvPr/>
        </p:nvSpPr>
        <p:spPr>
          <a:xfrm>
            <a:off x="8965997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模型／資料漂移</a:t>
            </a:r>
            <a:endParaRPr lang="en-US" sz="1800" dirty="0"/>
          </a:p>
        </p:txBody>
      </p:sp>
      <p:sp>
        <p:nvSpPr>
          <p:cNvPr id="18" name="card-text-508"/>
          <p:cNvSpPr txBox="1"/>
          <p:nvPr/>
        </p:nvSpPr>
        <p:spPr>
          <a:xfrm>
            <a:off x="8325917" y="2194560"/>
            <a:ext cx="31342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上線後生產資料改變，效能下滑</a:t>
            </a:r>
            <a:endParaRPr lang="en-US" sz="1700" dirty="0"/>
          </a:p>
        </p:txBody>
      </p:sp>
      <p:sp>
        <p:nvSpPr>
          <p:cNvPr id="19" name="card-509"/>
          <p:cNvSpPr/>
          <p:nvPr/>
        </p:nvSpPr>
        <p:spPr>
          <a:xfrm>
            <a:off x="548640" y="3360420"/>
            <a:ext cx="3545738" cy="1805940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510"/>
          <p:cNvSpPr/>
          <p:nvPr/>
        </p:nvSpPr>
        <p:spPr>
          <a:xfrm>
            <a:off x="731520" y="354330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card-icon-5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671316"/>
            <a:ext cx="310896" cy="310896"/>
          </a:xfrm>
          <a:prstGeom prst="rect">
            <a:avLst/>
          </a:prstGeom>
        </p:spPr>
      </p:pic>
      <p:sp>
        <p:nvSpPr>
          <p:cNvPr id="22" name="card-title-512"/>
          <p:cNvSpPr txBox="1"/>
          <p:nvPr/>
        </p:nvSpPr>
        <p:spPr>
          <a:xfrm>
            <a:off x="1417320" y="352501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資料汙染</a:t>
            </a:r>
            <a:endParaRPr lang="en-US" sz="1800" dirty="0"/>
          </a:p>
        </p:txBody>
      </p:sp>
      <p:sp>
        <p:nvSpPr>
          <p:cNvPr id="23" name="card-text-513"/>
          <p:cNvSpPr txBox="1"/>
          <p:nvPr/>
        </p:nvSpPr>
        <p:spPr>
          <a:xfrm>
            <a:off x="777240" y="4229100"/>
            <a:ext cx="31342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訓練資料被惡意植入（標準點名）</a:t>
            </a:r>
            <a:endParaRPr lang="en-US" sz="1700" dirty="0"/>
          </a:p>
        </p:txBody>
      </p:sp>
      <p:sp>
        <p:nvSpPr>
          <p:cNvPr id="24" name="card-514"/>
          <p:cNvSpPr/>
          <p:nvPr/>
        </p:nvSpPr>
        <p:spPr>
          <a:xfrm>
            <a:off x="4322978" y="3360420"/>
            <a:ext cx="3545738" cy="1805940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515"/>
          <p:cNvSpPr/>
          <p:nvPr/>
        </p:nvSpPr>
        <p:spPr>
          <a:xfrm>
            <a:off x="4505858" y="354330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card-icon-5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874" y="3671316"/>
            <a:ext cx="310896" cy="310896"/>
          </a:xfrm>
          <a:prstGeom prst="rect">
            <a:avLst/>
          </a:prstGeom>
        </p:spPr>
      </p:pic>
      <p:sp>
        <p:nvSpPr>
          <p:cNvPr id="27" name="card-title-517"/>
          <p:cNvSpPr txBox="1"/>
          <p:nvPr/>
        </p:nvSpPr>
        <p:spPr>
          <a:xfrm>
            <a:off x="5191658" y="352501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模型竊取／反轉</a:t>
            </a:r>
            <a:endParaRPr lang="en-US" sz="1800" dirty="0"/>
          </a:p>
        </p:txBody>
      </p:sp>
      <p:sp>
        <p:nvSpPr>
          <p:cNvPr id="28" name="card-text-518"/>
          <p:cNvSpPr txBox="1"/>
          <p:nvPr/>
        </p:nvSpPr>
        <p:spPr>
          <a:xfrm>
            <a:off x="4551578" y="4229100"/>
            <a:ext cx="31342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盜取模型或反推訓練資料（標準點名）</a:t>
            </a:r>
            <a:endParaRPr lang="en-US" sz="1700" dirty="0"/>
          </a:p>
        </p:txBody>
      </p:sp>
      <p:sp>
        <p:nvSpPr>
          <p:cNvPr id="29" name="card-519"/>
          <p:cNvSpPr/>
          <p:nvPr/>
        </p:nvSpPr>
        <p:spPr>
          <a:xfrm>
            <a:off x="8097317" y="3360420"/>
            <a:ext cx="3545738" cy="1805940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-icon-bg-520"/>
          <p:cNvSpPr/>
          <p:nvPr/>
        </p:nvSpPr>
        <p:spPr>
          <a:xfrm>
            <a:off x="8280197" y="354330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card-icon-52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213" y="3671316"/>
            <a:ext cx="310896" cy="310896"/>
          </a:xfrm>
          <a:prstGeom prst="rect">
            <a:avLst/>
          </a:prstGeom>
        </p:spPr>
      </p:pic>
      <p:sp>
        <p:nvSpPr>
          <p:cNvPr id="32" name="card-title-522"/>
          <p:cNvSpPr txBox="1"/>
          <p:nvPr/>
        </p:nvSpPr>
        <p:spPr>
          <a:xfrm>
            <a:off x="8965997" y="352501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提示注入</a:t>
            </a:r>
            <a:endParaRPr lang="en-US" sz="1800" dirty="0"/>
          </a:p>
        </p:txBody>
      </p:sp>
      <p:sp>
        <p:nvSpPr>
          <p:cNvPr id="33" name="card-text-523"/>
          <p:cNvSpPr txBox="1"/>
          <p:nvPr/>
        </p:nvSpPr>
        <p:spPr>
          <a:xfrm>
            <a:off x="8325917" y="4229100"/>
            <a:ext cx="31342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誘導 LLM 違反指令（業界延伸）</a:t>
            </a:r>
            <a:endParaRPr lang="en-US" sz="1700" dirty="0"/>
          </a:p>
        </p:txBody>
      </p:sp>
      <p:pic>
        <p:nvPicPr>
          <p:cNvPr id="34" name="arale-avatar-524" descr="助教阿拉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326380"/>
            <a:ext cx="868680" cy="868680"/>
          </a:xfrm>
          <a:prstGeom prst="rect">
            <a:avLst/>
          </a:prstGeom>
        </p:spPr>
      </p:pic>
      <p:sp>
        <p:nvSpPr>
          <p:cNvPr id="35" name="bubble-525"/>
          <p:cNvSpPr/>
          <p:nvPr/>
        </p:nvSpPr>
        <p:spPr>
          <a:xfrm>
            <a:off x="1508760" y="5394960"/>
            <a:ext cx="3246120" cy="731520"/>
          </a:xfrm>
          <a:prstGeom prst="roundRect">
            <a:avLst>
              <a:gd name="adj" fmla="val 15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bubble-text-526"/>
          <p:cNvSpPr txBox="1"/>
          <p:nvPr/>
        </p:nvSpPr>
        <p:spPr>
          <a:xfrm>
            <a:off x="1645920" y="5394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這些都要放進風險登錄表嗎？</a:t>
            </a:r>
            <a:endParaRPr lang="en-US" sz="1700" dirty="0"/>
          </a:p>
        </p:txBody>
      </p:sp>
      <p:pic>
        <p:nvPicPr>
          <p:cNvPr id="37" name="allan-avatar-527" descr="Allan 講師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5326380"/>
            <a:ext cx="868680" cy="868680"/>
          </a:xfrm>
          <a:prstGeom prst="rect">
            <a:avLst/>
          </a:prstGeom>
        </p:spPr>
      </p:pic>
      <p:sp>
        <p:nvSpPr>
          <p:cNvPr id="38" name="bubble-528"/>
          <p:cNvSpPr/>
          <p:nvPr/>
        </p:nvSpPr>
        <p:spPr>
          <a:xfrm>
            <a:off x="5897880" y="5394960"/>
            <a:ext cx="5742432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9" name="bubble-text-529"/>
          <p:cNvSpPr txBox="1"/>
          <p:nvPr/>
        </p:nvSpPr>
        <p:spPr>
          <a:xfrm>
            <a:off x="6035040" y="5394960"/>
            <a:ext cx="5468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依你的 AI 系統與角色挑相關的，並對照附錄 C 風險來源。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風險登錄表範例（虛擬案例：福爾摩沙銀行）</a:t>
            </a:r>
            <a:endParaRPr lang="en-US" sz="3000" dirty="0"/>
          </a:p>
        </p:txBody>
      </p:sp>
      <p:graphicFrame>
        <p:nvGraphicFramePr>
          <p:cNvPr id="28" name="table-5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25880"/>
                <a:gridCol w="2286000"/>
                <a:gridCol w="1325880"/>
                <a:gridCol w="685800"/>
                <a:gridCol w="1051560"/>
                <a:gridCol w="685800"/>
                <a:gridCol w="1783080"/>
                <a:gridCol w="804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AI 系統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風險來源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風險情境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後果（組／個／社）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可能性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等級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處理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控制措施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剩餘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信用評分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資料品質（C.3.4）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歷史資料使特定族群核准率偏低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中／高／中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 不可接受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降低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A.7.4、A.6.2.4、A.9.3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信用評分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透明性（C.3.2）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客戶被拒卻無法得知主要原因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中／高／低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降低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A.8.2、A.6.2.7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反詐騙模型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生命週期（C.3.6）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詐騙手法改變造成漂移、漏報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高／高／中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 不可接受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降低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A.6.2.6、A.6.2.8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客服 LLM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安全（C.2.10）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提示注入導致洩漏客戶資料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高／高／低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降低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A.6.2.3、A.10.3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5" name="allan-avatar-531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34940"/>
            <a:ext cx="868680" cy="868680"/>
          </a:xfrm>
          <a:prstGeom prst="rect">
            <a:avLst/>
          </a:prstGeom>
        </p:spPr>
      </p:pic>
      <p:sp>
        <p:nvSpPr>
          <p:cNvPr id="6" name="bubble-532"/>
          <p:cNvSpPr/>
          <p:nvPr/>
        </p:nvSpPr>
        <p:spPr>
          <a:xfrm>
            <a:off x="1508760" y="530352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7" name="bubble-text-533"/>
          <p:cNvSpPr txBox="1"/>
          <p:nvPr/>
        </p:nvSpPr>
        <p:spPr>
          <a:xfrm>
            <a:off x="1645920" y="530352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稽核員會從登錄表任選一列，往下追：控制措施有沒有實施？剩餘風險誰核准？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6.1.3 AI 風險處理：a) 到 g)</a:t>
            </a:r>
            <a:endParaRPr lang="en-US" sz="3000" dirty="0"/>
          </a:p>
        </p:txBody>
      </p:sp>
      <p:sp>
        <p:nvSpPr>
          <p:cNvPr id="4" name="flow-head-534"/>
          <p:cNvSpPr/>
          <p:nvPr/>
        </p:nvSpPr>
        <p:spPr>
          <a:xfrm>
            <a:off x="548640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535"/>
          <p:cNvSpPr txBox="1"/>
          <p:nvPr/>
        </p:nvSpPr>
        <p:spPr>
          <a:xfrm>
            <a:off x="548640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a) 選處理選項</a:t>
            </a:r>
            <a:endParaRPr lang="en-US" sz="1500" dirty="0"/>
          </a:p>
        </p:txBody>
      </p:sp>
      <p:sp>
        <p:nvSpPr>
          <p:cNvPr id="6" name="flow-body-536"/>
          <p:cNvSpPr/>
          <p:nvPr/>
        </p:nvSpPr>
        <p:spPr>
          <a:xfrm>
            <a:off x="548640" y="1984248"/>
            <a:ext cx="2014057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537"/>
          <p:cNvSpPr txBox="1"/>
          <p:nvPr/>
        </p:nvSpPr>
        <p:spPr>
          <a:xfrm>
            <a:off x="658368" y="2075688"/>
            <a:ext cx="179460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降低、避免、移轉、保留</a:t>
            </a:r>
            <a:endParaRPr lang="en-US" sz="1700" dirty="0"/>
          </a:p>
        </p:txBody>
      </p:sp>
      <p:sp>
        <p:nvSpPr>
          <p:cNvPr id="8" name="flow-arrow-538"/>
          <p:cNvSpPr/>
          <p:nvPr/>
        </p:nvSpPr>
        <p:spPr>
          <a:xfrm rot="5400000">
            <a:off x="262670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539"/>
          <p:cNvSpPr/>
          <p:nvPr/>
        </p:nvSpPr>
        <p:spPr>
          <a:xfrm>
            <a:off x="281872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540"/>
          <p:cNvSpPr txBox="1"/>
          <p:nvPr/>
        </p:nvSpPr>
        <p:spPr>
          <a:xfrm>
            <a:off x="281872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b)–d) 決定控制</a:t>
            </a:r>
            <a:endParaRPr lang="en-US" sz="1500" dirty="0"/>
          </a:p>
        </p:txBody>
      </p:sp>
      <p:sp>
        <p:nvSpPr>
          <p:cNvPr id="11" name="flow-body-541"/>
          <p:cNvSpPr/>
          <p:nvPr/>
        </p:nvSpPr>
        <p:spPr>
          <a:xfrm>
            <a:off x="2818729" y="1984248"/>
            <a:ext cx="2014057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542"/>
          <p:cNvSpPr txBox="1"/>
          <p:nvPr/>
        </p:nvSpPr>
        <p:spPr>
          <a:xfrm>
            <a:off x="2928457" y="2075688"/>
            <a:ext cx="179460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與附錄 A 比對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必要時增加額外控制</a:t>
            </a:r>
            <a:endParaRPr lang="en-US" sz="1700" dirty="0"/>
          </a:p>
        </p:txBody>
      </p:sp>
      <p:sp>
        <p:nvSpPr>
          <p:cNvPr id="13" name="flow-arrow-543"/>
          <p:cNvSpPr/>
          <p:nvPr/>
        </p:nvSpPr>
        <p:spPr>
          <a:xfrm rot="5400000">
            <a:off x="489679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544"/>
          <p:cNvSpPr/>
          <p:nvPr/>
        </p:nvSpPr>
        <p:spPr>
          <a:xfrm>
            <a:off x="508881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545"/>
          <p:cNvSpPr txBox="1"/>
          <p:nvPr/>
        </p:nvSpPr>
        <p:spPr>
          <a:xfrm>
            <a:off x="508881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e) 參考附錄 B</a:t>
            </a:r>
            <a:endParaRPr lang="en-US" sz="1500" dirty="0"/>
          </a:p>
        </p:txBody>
      </p:sp>
      <p:sp>
        <p:nvSpPr>
          <p:cNvPr id="16" name="flow-body-546"/>
          <p:cNvSpPr/>
          <p:nvPr/>
        </p:nvSpPr>
        <p:spPr>
          <a:xfrm>
            <a:off x="5088819" y="1984248"/>
            <a:ext cx="2014057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547"/>
          <p:cNvSpPr txBox="1"/>
          <p:nvPr/>
        </p:nvSpPr>
        <p:spPr>
          <a:xfrm>
            <a:off x="5198547" y="2075688"/>
            <a:ext cx="179460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實作指引</a:t>
            </a:r>
            <a:endParaRPr lang="en-US" sz="1700" dirty="0"/>
          </a:p>
        </p:txBody>
      </p:sp>
      <p:sp>
        <p:nvSpPr>
          <p:cNvPr id="18" name="flow-arrow-548"/>
          <p:cNvSpPr/>
          <p:nvPr/>
        </p:nvSpPr>
        <p:spPr>
          <a:xfrm rot="5400000">
            <a:off x="716688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549"/>
          <p:cNvSpPr/>
          <p:nvPr/>
        </p:nvSpPr>
        <p:spPr>
          <a:xfrm>
            <a:off x="735890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550"/>
          <p:cNvSpPr txBox="1"/>
          <p:nvPr/>
        </p:nvSpPr>
        <p:spPr>
          <a:xfrm>
            <a:off x="735890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f) 產生 SoA</a:t>
            </a:r>
            <a:endParaRPr lang="en-US" sz="1500" dirty="0"/>
          </a:p>
        </p:txBody>
      </p:sp>
      <p:sp>
        <p:nvSpPr>
          <p:cNvPr id="21" name="flow-body-551"/>
          <p:cNvSpPr/>
          <p:nvPr/>
        </p:nvSpPr>
        <p:spPr>
          <a:xfrm>
            <a:off x="7358908" y="1984248"/>
            <a:ext cx="2014057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552"/>
          <p:cNvSpPr txBox="1"/>
          <p:nvPr/>
        </p:nvSpPr>
        <p:spPr>
          <a:xfrm>
            <a:off x="7468636" y="2075688"/>
            <a:ext cx="179460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必要控制措施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納入／排除理由</a:t>
            </a:r>
            <a:endParaRPr lang="en-US" sz="1700" dirty="0"/>
          </a:p>
        </p:txBody>
      </p:sp>
      <p:sp>
        <p:nvSpPr>
          <p:cNvPr id="23" name="flow-arrow-553"/>
          <p:cNvSpPr/>
          <p:nvPr/>
        </p:nvSpPr>
        <p:spPr>
          <a:xfrm rot="5400000">
            <a:off x="943697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554"/>
          <p:cNvSpPr/>
          <p:nvPr/>
        </p:nvSpPr>
        <p:spPr>
          <a:xfrm>
            <a:off x="962899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555"/>
          <p:cNvSpPr txBox="1"/>
          <p:nvPr/>
        </p:nvSpPr>
        <p:spPr>
          <a:xfrm>
            <a:off x="962899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g) 處理計畫</a:t>
            </a:r>
            <a:endParaRPr lang="en-US" sz="1500" dirty="0"/>
          </a:p>
        </p:txBody>
      </p:sp>
      <p:sp>
        <p:nvSpPr>
          <p:cNvPr id="26" name="flow-body-556"/>
          <p:cNvSpPr/>
          <p:nvPr/>
        </p:nvSpPr>
        <p:spPr>
          <a:xfrm>
            <a:off x="9628998" y="1984248"/>
            <a:ext cx="2014057" cy="1627632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557"/>
          <p:cNvSpPr txBox="1"/>
          <p:nvPr/>
        </p:nvSpPr>
        <p:spPr>
          <a:xfrm>
            <a:off x="9738726" y="2075688"/>
            <a:ext cx="179460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指定管理層核准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接受剩餘風險</a:t>
            </a:r>
            <a:endParaRPr lang="en-US" sz="1700" dirty="0"/>
          </a:p>
        </p:txBody>
      </p:sp>
      <p:pic>
        <p:nvPicPr>
          <p:cNvPr id="28" name="arale-avatar-558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6200"/>
            <a:ext cx="868680" cy="868680"/>
          </a:xfrm>
          <a:prstGeom prst="rect">
            <a:avLst/>
          </a:prstGeom>
        </p:spPr>
      </p:pic>
      <p:sp>
        <p:nvSpPr>
          <p:cNvPr id="29" name="bubble-559"/>
          <p:cNvSpPr/>
          <p:nvPr/>
        </p:nvSpPr>
        <p:spPr>
          <a:xfrm>
            <a:off x="1508760" y="3931920"/>
            <a:ext cx="3794760" cy="777240"/>
          </a:xfrm>
          <a:prstGeom prst="roundRect">
            <a:avLst>
              <a:gd name="adj" fmla="val 14118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0" name="bubble-text-560"/>
          <p:cNvSpPr txBox="1"/>
          <p:nvPr/>
        </p:nvSpPr>
        <p:spPr>
          <a:xfrm>
            <a:off x="1645920" y="3931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附錄 A 38 項全部都要做嗎？</a:t>
            </a:r>
            <a:endParaRPr lang="en-US" sz="1700" dirty="0"/>
          </a:p>
        </p:txBody>
      </p:sp>
      <p:pic>
        <p:nvPicPr>
          <p:cNvPr id="31" name="allan-avatar-561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886200"/>
            <a:ext cx="868680" cy="868680"/>
          </a:xfrm>
          <a:prstGeom prst="rect">
            <a:avLst/>
          </a:prstGeom>
        </p:spPr>
      </p:pic>
      <p:sp>
        <p:nvSpPr>
          <p:cNvPr id="32" name="bubble-562"/>
          <p:cNvSpPr/>
          <p:nvPr/>
        </p:nvSpPr>
        <p:spPr>
          <a:xfrm>
            <a:off x="6446520" y="3931920"/>
            <a:ext cx="5193792" cy="777240"/>
          </a:xfrm>
          <a:prstGeom prst="roundRect">
            <a:avLst>
              <a:gd name="adj" fmla="val 14118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3" name="bubble-text-563"/>
          <p:cNvSpPr txBox="1"/>
          <p:nvPr/>
        </p:nvSpPr>
        <p:spPr>
          <a:xfrm>
            <a:off x="6583680" y="393192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不用！依風險挑選，排除要寫理由；需要的話還可以加附錄 A 以外的控制措施。</a:t>
            </a:r>
            <a:endParaRPr lang="en-US" sz="1700" dirty="0"/>
          </a:p>
        </p:txBody>
      </p:sp>
      <p:pic>
        <p:nvPicPr>
          <p:cNvPr id="34" name="allan-avatar-564" descr="Allan 講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69180"/>
            <a:ext cx="868680" cy="868680"/>
          </a:xfrm>
          <a:prstGeom prst="rect">
            <a:avLst/>
          </a:prstGeom>
        </p:spPr>
      </p:pic>
      <p:sp>
        <p:nvSpPr>
          <p:cNvPr id="35" name="bubble-565"/>
          <p:cNvSpPr/>
          <p:nvPr/>
        </p:nvSpPr>
        <p:spPr>
          <a:xfrm>
            <a:off x="1508760" y="493776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6" name="bubble-text-566"/>
          <p:cNvSpPr txBox="1"/>
          <p:nvPr/>
        </p:nvSpPr>
        <p:spPr>
          <a:xfrm>
            <a:off x="1645920" y="493776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最常見的缺失：剩餘風險沒有任何核准紀錄。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適用性聲明（SoA）範例與排除理由</a:t>
            </a:r>
            <a:endParaRPr lang="en-US" sz="3000" dirty="0"/>
          </a:p>
        </p:txBody>
      </p:sp>
      <p:graphicFrame>
        <p:nvGraphicFramePr>
          <p:cNvPr id="30" name="table-5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338328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控制措施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適用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實施狀態（建議）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A.6.2.8 事件日誌紀錄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納入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風險 R-03 漂移監控需求；法規留存要求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已實施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A.7.3 資料之獲取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納入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使用外購與內部資料訓練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實施中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A.10.4 客戶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納入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提供 AI SaaS 給企業客戶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已實施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A.6.2.2 系統要求與規範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排除？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✗「本公司不開發 AI」——但有微調外部模型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A.6.1.3 設計開發流程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排除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 僅為 AI 使用者，經風險評鑑無開發活動（R-12）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568"/>
          <p:cNvSpPr/>
          <p:nvPr/>
        </p:nvSpPr>
        <p:spPr>
          <a:xfrm>
            <a:off x="8686800" y="1325880"/>
            <a:ext cx="2953512" cy="1988820"/>
          </a:xfrm>
          <a:prstGeom prst="roundRect">
            <a:avLst>
              <a:gd name="adj" fmla="val 45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569"/>
          <p:cNvSpPr/>
          <p:nvPr/>
        </p:nvSpPr>
        <p:spPr>
          <a:xfrm>
            <a:off x="8869680" y="150876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card-icon-57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696" y="1636776"/>
            <a:ext cx="310896" cy="310896"/>
          </a:xfrm>
          <a:prstGeom prst="rect">
            <a:avLst/>
          </a:prstGeom>
        </p:spPr>
      </p:pic>
      <p:sp>
        <p:nvSpPr>
          <p:cNvPr id="8" name="card-title-571"/>
          <p:cNvSpPr txBox="1"/>
          <p:nvPr/>
        </p:nvSpPr>
        <p:spPr>
          <a:xfrm>
            <a:off x="9555480" y="1490472"/>
            <a:ext cx="1947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好的排除理由</a:t>
            </a:r>
            <a:endParaRPr lang="en-US" sz="1900" dirty="0"/>
          </a:p>
        </p:txBody>
      </p:sp>
      <p:sp>
        <p:nvSpPr>
          <p:cNvPr id="9" name="card-text-572"/>
          <p:cNvSpPr txBox="1"/>
          <p:nvPr/>
        </p:nvSpPr>
        <p:spPr>
          <a:xfrm>
            <a:off x="8915400" y="2194560"/>
            <a:ext cx="254203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引用風險評鑑結果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引用外部要求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與 AI 角色一致</a:t>
            </a:r>
            <a:endParaRPr lang="en-US" sz="1700" dirty="0"/>
          </a:p>
        </p:txBody>
      </p:sp>
      <p:sp>
        <p:nvSpPr>
          <p:cNvPr id="10" name="card-573"/>
          <p:cNvSpPr/>
          <p:nvPr/>
        </p:nvSpPr>
        <p:spPr>
          <a:xfrm>
            <a:off x="8686800" y="3543300"/>
            <a:ext cx="2953512" cy="1988820"/>
          </a:xfrm>
          <a:prstGeom prst="roundRect">
            <a:avLst>
              <a:gd name="adj" fmla="val 45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icon-bg-574"/>
          <p:cNvSpPr/>
          <p:nvPr/>
        </p:nvSpPr>
        <p:spPr>
          <a:xfrm>
            <a:off x="8869680" y="37261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card-icon-5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696" y="3854196"/>
            <a:ext cx="310896" cy="310896"/>
          </a:xfrm>
          <a:prstGeom prst="rect">
            <a:avLst/>
          </a:prstGeom>
        </p:spPr>
      </p:pic>
      <p:sp>
        <p:nvSpPr>
          <p:cNvPr id="13" name="card-title-576"/>
          <p:cNvSpPr txBox="1"/>
          <p:nvPr/>
        </p:nvSpPr>
        <p:spPr>
          <a:xfrm>
            <a:off x="9555480" y="3707892"/>
            <a:ext cx="1947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不好的排除理由</a:t>
            </a:r>
            <a:endParaRPr lang="en-US" sz="1900" dirty="0"/>
          </a:p>
        </p:txBody>
      </p:sp>
      <p:sp>
        <p:nvSpPr>
          <p:cNvPr id="14" name="card-text-577"/>
          <p:cNvSpPr txBox="1"/>
          <p:nvPr/>
        </p:nvSpPr>
        <p:spPr>
          <a:xfrm>
            <a:off x="8915400" y="4411980"/>
            <a:ext cx="254203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「不適用」三個字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與實際活動矛盾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沒有人審查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6.1.4 AI 系統衝擊評鑑 vs AI 風險評鑑</a:t>
            </a:r>
            <a:endParaRPr lang="en-US" sz="3000" dirty="0"/>
          </a:p>
        </p:txBody>
      </p:sp>
      <p:graphicFrame>
        <p:nvGraphicFramePr>
          <p:cNvPr id="31" name="table-5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比較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AI 風險評鑑（6.1.2）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AI 系統衝擊評鑑（6.1.4）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關注焦點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對達成 AI 目標的不確定性影響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對個人或群體及社會的潛在後果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視角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組織視角為主（也看個人、社會後果）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受影響者視角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必須考量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可能性 × 後果 → 等級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部署、預期用途、可預見的濫用、司法管轄區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產出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風險等級、處理優先序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衝擊結果文件，可提供給關注方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關係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輸入衝擊評鑑結果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結果應納入風險評鑑考慮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arale-avatar-579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851660"/>
            <a:ext cx="868680" cy="868680"/>
          </a:xfrm>
          <a:prstGeom prst="rect">
            <a:avLst/>
          </a:prstGeom>
        </p:spPr>
      </p:pic>
      <p:sp>
        <p:nvSpPr>
          <p:cNvPr id="6" name="bubble-580"/>
          <p:cNvSpPr/>
          <p:nvPr/>
        </p:nvSpPr>
        <p:spPr>
          <a:xfrm>
            <a:off x="9418320" y="137160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bubble-text-581"/>
          <p:cNvSpPr txBox="1"/>
          <p:nvPr/>
        </p:nvSpPr>
        <p:spPr>
          <a:xfrm>
            <a:off x="9555480" y="1371600"/>
            <a:ext cx="1947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風險評鑑問「公司會不會受傷」，衝擊評鑑問「別人會不會受傷」？</a:t>
            </a:r>
            <a:endParaRPr lang="en-US" sz="1600" dirty="0"/>
          </a:p>
        </p:txBody>
      </p:sp>
      <p:pic>
        <p:nvPicPr>
          <p:cNvPr id="8" name="allan-avatar-582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26180"/>
            <a:ext cx="868680" cy="868680"/>
          </a:xfrm>
          <a:prstGeom prst="rect">
            <a:avLst/>
          </a:prstGeom>
        </p:spPr>
      </p:pic>
      <p:sp>
        <p:nvSpPr>
          <p:cNvPr id="9" name="bubble-583"/>
          <p:cNvSpPr/>
          <p:nvPr/>
        </p:nvSpPr>
        <p:spPr>
          <a:xfrm>
            <a:off x="9418320" y="3429000"/>
            <a:ext cx="2221992" cy="1463040"/>
          </a:xfrm>
          <a:prstGeom prst="roundRect">
            <a:avLst>
              <a:gd name="adj" fmla="val 75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0" name="bubble-text-584"/>
          <p:cNvSpPr txBox="1"/>
          <p:nvPr/>
        </p:nvSpPr>
        <p:spPr>
          <a:xfrm>
            <a:off x="9555480" y="3429000"/>
            <a:ext cx="1947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說得好！兩者要互相輸入，不是各做各的。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衝擊評鑑要看哪些面向？</a:t>
            </a:r>
            <a:endParaRPr lang="en-US" sz="3000" dirty="0"/>
          </a:p>
        </p:txBody>
      </p:sp>
      <p:sp>
        <p:nvSpPr>
          <p:cNvPr id="4" name="card-585"/>
          <p:cNvSpPr/>
          <p:nvPr/>
        </p:nvSpPr>
        <p:spPr>
          <a:xfrm>
            <a:off x="548640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586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58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588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個人或群體（A.5.4）</a:t>
            </a:r>
            <a:endParaRPr lang="en-US" sz="1900" dirty="0"/>
          </a:p>
        </p:txBody>
      </p:sp>
      <p:sp>
        <p:nvSpPr>
          <p:cNvPr id="8" name="card-text-589"/>
          <p:cNvSpPr txBox="1"/>
          <p:nvPr/>
        </p:nvSpPr>
        <p:spPr>
          <a:xfrm>
            <a:off x="777240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公平性、當責性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透明性與可解釋性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資安與隱私、安全與健康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財務後果、可及性、人權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特別關注兒童、身障者、長者、工人</a:t>
            </a:r>
            <a:endParaRPr lang="en-US" sz="1700" dirty="0"/>
          </a:p>
        </p:txBody>
      </p:sp>
      <p:sp>
        <p:nvSpPr>
          <p:cNvPr id="9" name="card-590"/>
          <p:cNvSpPr/>
          <p:nvPr/>
        </p:nvSpPr>
        <p:spPr>
          <a:xfrm>
            <a:off x="4338218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591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59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593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社會（A.5.5）</a:t>
            </a:r>
            <a:endParaRPr lang="en-US" sz="1900" dirty="0"/>
          </a:p>
        </p:txBody>
      </p:sp>
      <p:sp>
        <p:nvSpPr>
          <p:cNvPr id="13" name="card-text-594"/>
          <p:cNvSpPr txBox="1"/>
          <p:nvPr/>
        </p:nvSpPr>
        <p:spPr>
          <a:xfrm>
            <a:off x="4566818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環境永續（能耗、碳排、用水）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經濟（金融服務可及性、就業）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政府（錯誤資訊、刑事司法）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健康與安全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規範、傳統、文化與價值觀</a:t>
            </a:r>
            <a:endParaRPr lang="en-US" sz="1700" dirty="0"/>
          </a:p>
        </p:txBody>
      </p:sp>
      <p:sp>
        <p:nvSpPr>
          <p:cNvPr id="14" name="card-595"/>
          <p:cNvSpPr/>
          <p:nvPr/>
        </p:nvSpPr>
        <p:spPr>
          <a:xfrm>
            <a:off x="8127797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596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59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598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觸發時機（B.5.2）</a:t>
            </a:r>
            <a:endParaRPr lang="en-US" sz="1900" dirty="0"/>
          </a:p>
        </p:txBody>
      </p:sp>
      <p:sp>
        <p:nvSpPr>
          <p:cNvPr id="18" name="card-text-599"/>
          <p:cNvSpPr txBox="1"/>
          <p:nvPr/>
        </p:nvSpPr>
        <p:spPr>
          <a:xfrm>
            <a:off x="8356397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預期目的與處境的關鍵性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技術複雜度與自動化程度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處理資料的類型與敏感性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以上任一重大變更</a:t>
            </a:r>
            <a:endParaRPr lang="en-US" sz="1700" dirty="0"/>
          </a:p>
        </p:txBody>
      </p:sp>
      <p:pic>
        <p:nvPicPr>
          <p:cNvPr id="19" name="allan-avatar-600" descr="Allan 講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89220"/>
            <a:ext cx="868680" cy="868680"/>
          </a:xfrm>
          <a:prstGeom prst="rect">
            <a:avLst/>
          </a:prstGeom>
        </p:spPr>
      </p:pic>
      <p:sp>
        <p:nvSpPr>
          <p:cNvPr id="20" name="bubble-601"/>
          <p:cNvSpPr/>
          <p:nvPr/>
        </p:nvSpPr>
        <p:spPr>
          <a:xfrm>
            <a:off x="1508760" y="525780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602"/>
          <p:cNvSpPr txBox="1"/>
          <p:nvPr/>
        </p:nvSpPr>
        <p:spPr>
          <a:xfrm>
            <a:off x="1645920" y="525780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記得寫「可預見的濫用」：例如履歷篩選被拿去做裁員排序。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6.2 AI 目標與 6.3 變更之規劃</a:t>
            </a:r>
            <a:endParaRPr lang="en-US" sz="3000" dirty="0"/>
          </a:p>
        </p:txBody>
      </p:sp>
      <p:graphicFrame>
        <p:nvGraphicFramePr>
          <p:cNvPr id="33" name="table-6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371600"/>
                <a:gridCol w="100584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AI 目標（虛擬範例）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指標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負責人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期限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評估方式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信用評分對不同群體公平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核准率比值 ≥ 0.8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風控 AI 負責人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2026 Q4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每季偏差報告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客服 AI 回答正確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抽測正確率 ≥ 95%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客服 AI 負責人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每月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人工抽樣 200 則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使用者知情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揭露覆蓋率 100%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產品經理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2026 Q2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上線檢核表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全員 AI 認知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訓練完成率 ≥ 95%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人資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2026 Q3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訓練系統紀錄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rd-604"/>
          <p:cNvSpPr/>
          <p:nvPr/>
        </p:nvSpPr>
        <p:spPr>
          <a:xfrm>
            <a:off x="8595360" y="1325880"/>
            <a:ext cx="3044952" cy="18973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605"/>
          <p:cNvSpPr/>
          <p:nvPr/>
        </p:nvSpPr>
        <p:spPr>
          <a:xfrm>
            <a:off x="877824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ard-icon-6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1636776"/>
            <a:ext cx="310896" cy="310896"/>
          </a:xfrm>
          <a:prstGeom prst="rect">
            <a:avLst/>
          </a:prstGeom>
        </p:spPr>
      </p:pic>
      <p:sp>
        <p:nvSpPr>
          <p:cNvPr id="8" name="card-title-607"/>
          <p:cNvSpPr txBox="1"/>
          <p:nvPr/>
        </p:nvSpPr>
        <p:spPr>
          <a:xfrm>
            <a:off x="9464040" y="1490472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6.2 七個「應」</a:t>
            </a:r>
            <a:endParaRPr lang="en-US" sz="1900" dirty="0"/>
          </a:p>
        </p:txBody>
      </p:sp>
      <p:sp>
        <p:nvSpPr>
          <p:cNvPr id="9" name="card-text-608"/>
          <p:cNvSpPr txBox="1"/>
          <p:nvPr/>
        </p:nvSpPr>
        <p:spPr>
          <a:xfrm>
            <a:off x="8823960" y="2194560"/>
            <a:ext cx="263347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一致、可量測、考量要求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受監控、傳達、更新、文件化</a:t>
            </a:r>
            <a:endParaRPr lang="en-US" sz="1700" dirty="0"/>
          </a:p>
        </p:txBody>
      </p:sp>
      <p:sp>
        <p:nvSpPr>
          <p:cNvPr id="10" name="card-609"/>
          <p:cNvSpPr/>
          <p:nvPr/>
        </p:nvSpPr>
        <p:spPr>
          <a:xfrm>
            <a:off x="8595360" y="3451860"/>
            <a:ext cx="3044952" cy="18973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icon-bg-610"/>
          <p:cNvSpPr/>
          <p:nvPr/>
        </p:nvSpPr>
        <p:spPr>
          <a:xfrm>
            <a:off x="8778240" y="36347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card-icon-6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256" y="3762756"/>
            <a:ext cx="310896" cy="310896"/>
          </a:xfrm>
          <a:prstGeom prst="rect">
            <a:avLst/>
          </a:prstGeom>
        </p:spPr>
      </p:pic>
      <p:sp>
        <p:nvSpPr>
          <p:cNvPr id="13" name="card-title-612"/>
          <p:cNvSpPr txBox="1"/>
          <p:nvPr/>
        </p:nvSpPr>
        <p:spPr>
          <a:xfrm>
            <a:off x="9464040" y="3616452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6.3 變更規劃</a:t>
            </a:r>
            <a:endParaRPr lang="en-US" sz="1900" dirty="0"/>
          </a:p>
        </p:txBody>
      </p:sp>
      <p:sp>
        <p:nvSpPr>
          <p:cNvPr id="14" name="card-text-613"/>
          <p:cNvSpPr txBox="1"/>
          <p:nvPr/>
        </p:nvSpPr>
        <p:spPr>
          <a:xfrm>
            <a:off x="8823960" y="4320540"/>
            <a:ext cx="263347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目的與後果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資源、權責重新分配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分組演練：樂購電商「生成式 AI 客服」</a:t>
            </a:r>
            <a:endParaRPr lang="en-US" sz="3000" dirty="0"/>
          </a:p>
        </p:txBody>
      </p:sp>
      <p:sp>
        <p:nvSpPr>
          <p:cNvPr id="4" name="card-614"/>
          <p:cNvSpPr/>
          <p:nvPr/>
        </p:nvSpPr>
        <p:spPr>
          <a:xfrm>
            <a:off x="548640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615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616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card-title-617"/>
          <p:cNvSpPr txBox="1"/>
          <p:nvPr/>
        </p:nvSpPr>
        <p:spPr>
          <a:xfrm>
            <a:off x="1417320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判定角色</a:t>
            </a:r>
            <a:endParaRPr lang="en-US" sz="1800" dirty="0"/>
          </a:p>
        </p:txBody>
      </p:sp>
      <p:sp>
        <p:nvSpPr>
          <p:cNvPr id="8" name="card-text-618"/>
          <p:cNvSpPr txBox="1"/>
          <p:nvPr/>
        </p:nvSpPr>
        <p:spPr>
          <a:xfrm>
            <a:off x="777240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對自有客服系統與外部 LLM 各是什麼角色？</a:t>
            </a:r>
            <a:endParaRPr lang="en-US" sz="1700" dirty="0"/>
          </a:p>
        </p:txBody>
      </p:sp>
      <p:sp>
        <p:nvSpPr>
          <p:cNvPr id="9" name="card-619"/>
          <p:cNvSpPr/>
          <p:nvPr/>
        </p:nvSpPr>
        <p:spPr>
          <a:xfrm>
            <a:off x="3379394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620"/>
          <p:cNvSpPr/>
          <p:nvPr/>
        </p:nvSpPr>
        <p:spPr>
          <a:xfrm>
            <a:off x="3562274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621"/>
          <p:cNvSpPr txBox="1"/>
          <p:nvPr/>
        </p:nvSpPr>
        <p:spPr>
          <a:xfrm>
            <a:off x="3562274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card-title-622"/>
          <p:cNvSpPr txBox="1"/>
          <p:nvPr/>
        </p:nvSpPr>
        <p:spPr>
          <a:xfrm>
            <a:off x="4248074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兩個 AI 風險</a:t>
            </a:r>
            <a:endParaRPr lang="en-US" sz="1800" dirty="0"/>
          </a:p>
        </p:txBody>
      </p:sp>
      <p:sp>
        <p:nvSpPr>
          <p:cNvPr id="13" name="card-text-623"/>
          <p:cNvSpPr txBox="1"/>
          <p:nvPr/>
        </p:nvSpPr>
        <p:spPr>
          <a:xfrm>
            <a:off x="3607994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情境、後果（組織／個人／社會）、等級</a:t>
            </a:r>
            <a:endParaRPr lang="en-US" sz="1700" dirty="0"/>
          </a:p>
        </p:txBody>
      </p:sp>
      <p:sp>
        <p:nvSpPr>
          <p:cNvPr id="14" name="card-624"/>
          <p:cNvSpPr/>
          <p:nvPr/>
        </p:nvSpPr>
        <p:spPr>
          <a:xfrm>
            <a:off x="6210148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625"/>
          <p:cNvSpPr/>
          <p:nvPr/>
        </p:nvSpPr>
        <p:spPr>
          <a:xfrm>
            <a:off x="6393028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626"/>
          <p:cNvSpPr txBox="1"/>
          <p:nvPr/>
        </p:nvSpPr>
        <p:spPr>
          <a:xfrm>
            <a:off x="639302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card-title-627"/>
          <p:cNvSpPr txBox="1"/>
          <p:nvPr/>
        </p:nvSpPr>
        <p:spPr>
          <a:xfrm>
            <a:off x="7078828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衝擊與濫用</a:t>
            </a:r>
            <a:endParaRPr lang="en-US" sz="1800" dirty="0"/>
          </a:p>
        </p:txBody>
      </p:sp>
      <p:sp>
        <p:nvSpPr>
          <p:cNvPr id="18" name="card-text-628"/>
          <p:cNvSpPr txBox="1"/>
          <p:nvPr/>
        </p:nvSpPr>
        <p:spPr>
          <a:xfrm>
            <a:off x="6438748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誰會受影響？可預見的濫用是什麼？</a:t>
            </a:r>
            <a:endParaRPr lang="en-US" sz="1700" dirty="0"/>
          </a:p>
        </p:txBody>
      </p:sp>
      <p:sp>
        <p:nvSpPr>
          <p:cNvPr id="19" name="card-629"/>
          <p:cNvSpPr/>
          <p:nvPr/>
        </p:nvSpPr>
        <p:spPr>
          <a:xfrm>
            <a:off x="9040901" y="1325880"/>
            <a:ext cx="2602154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630"/>
          <p:cNvSpPr/>
          <p:nvPr/>
        </p:nvSpPr>
        <p:spPr>
          <a:xfrm>
            <a:off x="9223781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ard-badge-631"/>
          <p:cNvSpPr txBox="1"/>
          <p:nvPr/>
        </p:nvSpPr>
        <p:spPr>
          <a:xfrm>
            <a:off x="9223781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card-title-632"/>
          <p:cNvSpPr txBox="1"/>
          <p:nvPr/>
        </p:nvSpPr>
        <p:spPr>
          <a:xfrm>
            <a:off x="9909581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控制措施</a:t>
            </a:r>
            <a:endParaRPr lang="en-US" sz="1800" dirty="0"/>
          </a:p>
        </p:txBody>
      </p:sp>
      <p:sp>
        <p:nvSpPr>
          <p:cNvPr id="23" name="card-text-633"/>
          <p:cNvSpPr txBox="1"/>
          <p:nvPr/>
        </p:nvSpPr>
        <p:spPr>
          <a:xfrm>
            <a:off x="9269501" y="2194560"/>
            <a:ext cx="21906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挑 3–5 個附錄 A 控制措施並說明理由</a:t>
            </a:r>
            <a:endParaRPr lang="en-US" sz="1700" dirty="0"/>
          </a:p>
        </p:txBody>
      </p:sp>
      <p:pic>
        <p:nvPicPr>
          <p:cNvPr id="24" name="arale-ex-634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31920"/>
            <a:ext cx="1600200" cy="2177016"/>
          </a:xfrm>
          <a:prstGeom prst="rect">
            <a:avLst/>
          </a:prstGeom>
        </p:spPr>
      </p:pic>
      <p:pic>
        <p:nvPicPr>
          <p:cNvPr id="25" name="arale-avatar-635" descr="助教阿拉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183380"/>
            <a:ext cx="868680" cy="868680"/>
          </a:xfrm>
          <a:prstGeom prst="rect">
            <a:avLst/>
          </a:prstGeom>
        </p:spPr>
      </p:pic>
      <p:sp>
        <p:nvSpPr>
          <p:cNvPr id="26" name="bubble-636"/>
          <p:cNvSpPr/>
          <p:nvPr/>
        </p:nvSpPr>
        <p:spPr>
          <a:xfrm>
            <a:off x="3840480" y="4160520"/>
            <a:ext cx="7799832" cy="914400"/>
          </a:xfrm>
          <a:prstGeom prst="roundRect">
            <a:avLst>
              <a:gd name="adj" fmla="val 12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7" name="bubble-text-637"/>
          <p:cNvSpPr txBox="1"/>
          <p:nvPr/>
        </p:nvSpPr>
        <p:spPr>
          <a:xfrm>
            <a:off x="3977640" y="4160520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計時 6 分鐘！每組派一位報告，講最有梗的那一個風險就好～</a:t>
            </a:r>
            <a:endParaRPr lang="en-US" sz="1800" dirty="0"/>
          </a:p>
        </p:txBody>
      </p:sp>
      <p:sp>
        <p:nvSpPr>
          <p:cNvPr id="28" name="tag-638"/>
          <p:cNvSpPr/>
          <p:nvPr/>
        </p:nvSpPr>
        <p:spPr>
          <a:xfrm>
            <a:off x="2880360" y="5349240"/>
            <a:ext cx="164592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ag-text-639"/>
          <p:cNvSpPr txBox="1"/>
          <p:nvPr/>
        </p:nvSpPr>
        <p:spPr>
          <a:xfrm>
            <a:off x="2880360" y="5349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⏱ 6 分鐘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休息 10 分鐘 ☕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下一節：條文 7–10 支援、運作、績效評估與改善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阿拉蕾：「要準時回來喔，不然我會用 んちゃ 光線喚醒你！」</a:t>
            </a:r>
            <a:endParaRPr lang="en-US" sz="2000" dirty="0"/>
          </a:p>
        </p:txBody>
      </p:sp>
      <p:pic>
        <p:nvPicPr>
          <p:cNvPr id="5" name="arale-break-640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371600"/>
            <a:ext cx="204593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條文 7–10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支援、運作、績效評估、改善</a:t>
            </a:r>
            <a:endParaRPr lang="en-US" sz="2000" dirty="0"/>
          </a:p>
        </p:txBody>
      </p:sp>
      <p:sp>
        <p:nvSpPr>
          <p:cNvPr id="5" name="section-num-641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642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</a:t>
            </a:r>
            <a:endParaRPr lang="en-US" sz="4000" dirty="0"/>
          </a:p>
        </p:txBody>
      </p:sp>
      <p:sp>
        <p:nvSpPr>
          <p:cNvPr id="7" name="section-time-643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20 分鐘</a:t>
            </a:r>
            <a:endParaRPr lang="en-US" sz="1400" dirty="0"/>
          </a:p>
        </p:txBody>
      </p:sp>
      <p:pic>
        <p:nvPicPr>
          <p:cNvPr id="8" name="allan-644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7.1–7.3 資源、能力、認知</a:t>
            </a:r>
            <a:endParaRPr lang="en-US" sz="3000" dirty="0"/>
          </a:p>
        </p:txBody>
      </p:sp>
      <p:graphicFrame>
        <p:nvGraphicFramePr>
          <p:cNvPr id="37" name="table-6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角色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必要能力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能力證據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資料科學家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模型開發、偏差檢測、驗證方法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學經歷、訓練紀錄、作品審查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MLOps 工程師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部署、監控、版本與變更管理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證照、內部考核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風險管理者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風險／衝擊評鑑、法規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訓練證明、評鑑報告審查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人為監管者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判讀 AI 輸出、覆寫時機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上崗訓練與測驗紀錄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內部稽核員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42001 條文、稽核技巧、AI 基礎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內稽員訓練證書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646"/>
          <p:cNvSpPr/>
          <p:nvPr/>
        </p:nvSpPr>
        <p:spPr>
          <a:xfrm>
            <a:off x="8412480" y="1325880"/>
            <a:ext cx="3227832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647"/>
          <p:cNvSpPr/>
          <p:nvPr/>
        </p:nvSpPr>
        <p:spPr>
          <a:xfrm>
            <a:off x="859536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ard-icon-6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76" y="1636776"/>
            <a:ext cx="310896" cy="310896"/>
          </a:xfrm>
          <a:prstGeom prst="rect">
            <a:avLst/>
          </a:prstGeom>
        </p:spPr>
      </p:pic>
      <p:sp>
        <p:nvSpPr>
          <p:cNvPr id="8" name="card-title-649"/>
          <p:cNvSpPr txBox="1"/>
          <p:nvPr/>
        </p:nvSpPr>
        <p:spPr>
          <a:xfrm>
            <a:off x="9281160" y="1490472"/>
            <a:ext cx="2221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7.3 全員認知</a:t>
            </a:r>
            <a:endParaRPr lang="en-US" sz="1900" dirty="0"/>
          </a:p>
        </p:txBody>
      </p:sp>
      <p:sp>
        <p:nvSpPr>
          <p:cNvPr id="9" name="card-text-650"/>
          <p:cNvSpPr txBox="1"/>
          <p:nvPr/>
        </p:nvSpPr>
        <p:spPr>
          <a:xfrm>
            <a:off x="8641080" y="2194560"/>
            <a:ext cx="2816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政策重點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使用守則：哪些資料不能貼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違規後果</a:t>
            </a:r>
            <a:endParaRPr lang="en-US" sz="1700" dirty="0"/>
          </a:p>
        </p:txBody>
      </p:sp>
      <p:pic>
        <p:nvPicPr>
          <p:cNvPr id="10" name="arale-avatar-651" descr="助教阿拉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771900"/>
            <a:ext cx="868680" cy="868680"/>
          </a:xfrm>
          <a:prstGeom prst="rect">
            <a:avLst/>
          </a:prstGeom>
        </p:spPr>
      </p:pic>
      <p:sp>
        <p:nvSpPr>
          <p:cNvPr id="11" name="bubble-652"/>
          <p:cNvSpPr/>
          <p:nvPr/>
        </p:nvSpPr>
        <p:spPr>
          <a:xfrm>
            <a:off x="9372600" y="3749040"/>
            <a:ext cx="2267712" cy="914400"/>
          </a:xfrm>
          <a:prstGeom prst="roundRect">
            <a:avLst>
              <a:gd name="adj" fmla="val 12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bubble-text-653"/>
          <p:cNvSpPr txBox="1"/>
          <p:nvPr/>
        </p:nvSpPr>
        <p:spPr>
          <a:xfrm>
            <a:off x="9509760" y="37490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所以「上過課」不等於「有能力」？</a:t>
            </a:r>
            <a:endParaRPr lang="en-US" sz="1600" dirty="0"/>
          </a:p>
        </p:txBody>
      </p:sp>
      <p:pic>
        <p:nvPicPr>
          <p:cNvPr id="13" name="allan-avatar-654" descr="Allan 講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823460"/>
            <a:ext cx="868680" cy="868680"/>
          </a:xfrm>
          <a:prstGeom prst="rect">
            <a:avLst/>
          </a:prstGeom>
        </p:spPr>
      </p:pic>
      <p:sp>
        <p:nvSpPr>
          <p:cNvPr id="14" name="bubble-655"/>
          <p:cNvSpPr/>
          <p:nvPr/>
        </p:nvSpPr>
        <p:spPr>
          <a:xfrm>
            <a:off x="9372600" y="4800600"/>
            <a:ext cx="2267712" cy="9144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5" name="bubble-text-656"/>
          <p:cNvSpPr txBox="1"/>
          <p:nvPr/>
        </p:nvSpPr>
        <p:spPr>
          <a:xfrm>
            <a:off x="9509760" y="480060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對，7.2 還要評估行動有效性。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7.4 溝通與 7.5 文件化資訊</a:t>
            </a:r>
            <a:endParaRPr lang="en-US" sz="3000" dirty="0"/>
          </a:p>
        </p:txBody>
      </p:sp>
      <p:sp>
        <p:nvSpPr>
          <p:cNvPr id="4" name="h-657"/>
          <p:cNvSpPr txBox="1"/>
          <p:nvPr/>
        </p:nvSpPr>
        <p:spPr>
          <a:xfrm>
            <a:off x="54864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條文明確要求的文件化資訊（必備清單）</a:t>
            </a:r>
            <a:endParaRPr lang="en-US" sz="1800" dirty="0"/>
          </a:p>
        </p:txBody>
      </p:sp>
      <p:sp>
        <p:nvSpPr>
          <p:cNvPr id="5" name="doc-658"/>
          <p:cNvSpPr/>
          <p:nvPr/>
        </p:nvSpPr>
        <p:spPr>
          <a:xfrm>
            <a:off x="54864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c-text-659"/>
          <p:cNvSpPr txBox="1"/>
          <p:nvPr/>
        </p:nvSpPr>
        <p:spPr>
          <a:xfrm>
            <a:off x="658368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4.3 AIMS 範圍</a:t>
            </a:r>
            <a:endParaRPr lang="en-US" sz="1300" dirty="0"/>
          </a:p>
        </p:txBody>
      </p:sp>
      <p:sp>
        <p:nvSpPr>
          <p:cNvPr id="7" name="doc-660"/>
          <p:cNvSpPr/>
          <p:nvPr/>
        </p:nvSpPr>
        <p:spPr>
          <a:xfrm>
            <a:off x="329184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c-text-661"/>
          <p:cNvSpPr txBox="1"/>
          <p:nvPr/>
        </p:nvSpPr>
        <p:spPr>
          <a:xfrm>
            <a:off x="3401568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5.2 AI 政策</a:t>
            </a:r>
            <a:endParaRPr lang="en-US" sz="1300" dirty="0"/>
          </a:p>
        </p:txBody>
      </p:sp>
      <p:sp>
        <p:nvSpPr>
          <p:cNvPr id="9" name="doc-662"/>
          <p:cNvSpPr/>
          <p:nvPr/>
        </p:nvSpPr>
        <p:spPr>
          <a:xfrm>
            <a:off x="603504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c-text-663"/>
          <p:cNvSpPr txBox="1"/>
          <p:nvPr/>
        </p:nvSpPr>
        <p:spPr>
          <a:xfrm>
            <a:off x="6144768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6.1.1 風險與機會因應行動</a:t>
            </a:r>
            <a:endParaRPr lang="en-US" sz="1300" dirty="0"/>
          </a:p>
        </p:txBody>
      </p:sp>
      <p:sp>
        <p:nvSpPr>
          <p:cNvPr id="11" name="doc-664"/>
          <p:cNvSpPr/>
          <p:nvPr/>
        </p:nvSpPr>
        <p:spPr>
          <a:xfrm>
            <a:off x="548640" y="2441448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oc-text-665"/>
          <p:cNvSpPr txBox="1"/>
          <p:nvPr/>
        </p:nvSpPr>
        <p:spPr>
          <a:xfrm>
            <a:off x="658368" y="24414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6.1.2 AI 風險評鑑流程</a:t>
            </a:r>
            <a:endParaRPr lang="en-US" sz="1300" dirty="0"/>
          </a:p>
        </p:txBody>
      </p:sp>
      <p:sp>
        <p:nvSpPr>
          <p:cNvPr id="13" name="doc-666"/>
          <p:cNvSpPr/>
          <p:nvPr/>
        </p:nvSpPr>
        <p:spPr>
          <a:xfrm>
            <a:off x="3291840" y="2441448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c-text-667"/>
          <p:cNvSpPr txBox="1"/>
          <p:nvPr/>
        </p:nvSpPr>
        <p:spPr>
          <a:xfrm>
            <a:off x="3401568" y="24414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6.1.3 AI 風險處理流程</a:t>
            </a:r>
            <a:endParaRPr lang="en-US" sz="1300" dirty="0"/>
          </a:p>
        </p:txBody>
      </p:sp>
      <p:sp>
        <p:nvSpPr>
          <p:cNvPr id="15" name="doc-668"/>
          <p:cNvSpPr/>
          <p:nvPr/>
        </p:nvSpPr>
        <p:spPr>
          <a:xfrm>
            <a:off x="6035040" y="2441448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oc-text-669"/>
          <p:cNvSpPr txBox="1"/>
          <p:nvPr/>
        </p:nvSpPr>
        <p:spPr>
          <a:xfrm>
            <a:off x="6144768" y="24414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6.1.3 適用性聲明 SoA</a:t>
            </a:r>
            <a:endParaRPr lang="en-US" sz="1300" dirty="0"/>
          </a:p>
        </p:txBody>
      </p:sp>
      <p:sp>
        <p:nvSpPr>
          <p:cNvPr id="17" name="doc-670"/>
          <p:cNvSpPr/>
          <p:nvPr/>
        </p:nvSpPr>
        <p:spPr>
          <a:xfrm>
            <a:off x="548640" y="3099816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oc-text-671"/>
          <p:cNvSpPr txBox="1"/>
          <p:nvPr/>
        </p:nvSpPr>
        <p:spPr>
          <a:xfrm>
            <a:off x="658368" y="30998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6.1.4 衝擊評鑑結果</a:t>
            </a:r>
            <a:endParaRPr lang="en-US" sz="1300" dirty="0"/>
          </a:p>
        </p:txBody>
      </p:sp>
      <p:sp>
        <p:nvSpPr>
          <p:cNvPr id="19" name="doc-672"/>
          <p:cNvSpPr/>
          <p:nvPr/>
        </p:nvSpPr>
        <p:spPr>
          <a:xfrm>
            <a:off x="3291840" y="3099816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c-text-673"/>
          <p:cNvSpPr txBox="1"/>
          <p:nvPr/>
        </p:nvSpPr>
        <p:spPr>
          <a:xfrm>
            <a:off x="3401568" y="30998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6.2 AI 目標</a:t>
            </a:r>
            <a:endParaRPr lang="en-US" sz="1300" dirty="0"/>
          </a:p>
        </p:txBody>
      </p:sp>
      <p:sp>
        <p:nvSpPr>
          <p:cNvPr id="21" name="doc-674"/>
          <p:cNvSpPr/>
          <p:nvPr/>
        </p:nvSpPr>
        <p:spPr>
          <a:xfrm>
            <a:off x="6035040" y="3099816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oc-text-675"/>
          <p:cNvSpPr txBox="1"/>
          <p:nvPr/>
        </p:nvSpPr>
        <p:spPr>
          <a:xfrm>
            <a:off x="6144768" y="30998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7.2 能力證據</a:t>
            </a:r>
            <a:endParaRPr lang="en-US" sz="1300" dirty="0"/>
          </a:p>
        </p:txBody>
      </p:sp>
      <p:sp>
        <p:nvSpPr>
          <p:cNvPr id="23" name="doc-676"/>
          <p:cNvSpPr/>
          <p:nvPr/>
        </p:nvSpPr>
        <p:spPr>
          <a:xfrm>
            <a:off x="548640" y="3758184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c-text-677"/>
          <p:cNvSpPr txBox="1"/>
          <p:nvPr/>
        </p:nvSpPr>
        <p:spPr>
          <a:xfrm>
            <a:off x="658368" y="37581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8.1 流程依規劃執行之證據</a:t>
            </a:r>
            <a:endParaRPr lang="en-US" sz="1300" dirty="0"/>
          </a:p>
        </p:txBody>
      </p:sp>
      <p:sp>
        <p:nvSpPr>
          <p:cNvPr id="25" name="doc-678"/>
          <p:cNvSpPr/>
          <p:nvPr/>
        </p:nvSpPr>
        <p:spPr>
          <a:xfrm>
            <a:off x="3291840" y="3758184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doc-text-679"/>
          <p:cNvSpPr txBox="1"/>
          <p:nvPr/>
        </p:nvSpPr>
        <p:spPr>
          <a:xfrm>
            <a:off x="3401568" y="37581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8.2 風險評鑑結果</a:t>
            </a:r>
            <a:endParaRPr lang="en-US" sz="1300" dirty="0"/>
          </a:p>
        </p:txBody>
      </p:sp>
      <p:sp>
        <p:nvSpPr>
          <p:cNvPr id="27" name="doc-680"/>
          <p:cNvSpPr/>
          <p:nvPr/>
        </p:nvSpPr>
        <p:spPr>
          <a:xfrm>
            <a:off x="6035040" y="3758184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doc-text-681"/>
          <p:cNvSpPr txBox="1"/>
          <p:nvPr/>
        </p:nvSpPr>
        <p:spPr>
          <a:xfrm>
            <a:off x="6144768" y="37581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8.3 風險處理結果</a:t>
            </a:r>
            <a:endParaRPr lang="en-US" sz="1300" dirty="0"/>
          </a:p>
        </p:txBody>
      </p:sp>
      <p:sp>
        <p:nvSpPr>
          <p:cNvPr id="29" name="doc-682"/>
          <p:cNvSpPr/>
          <p:nvPr/>
        </p:nvSpPr>
        <p:spPr>
          <a:xfrm>
            <a:off x="548640" y="4416552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doc-text-683"/>
          <p:cNvSpPr txBox="1"/>
          <p:nvPr/>
        </p:nvSpPr>
        <p:spPr>
          <a:xfrm>
            <a:off x="658368" y="4416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8.4 衝擊評鑑結果</a:t>
            </a:r>
            <a:endParaRPr lang="en-US" sz="1300" dirty="0"/>
          </a:p>
        </p:txBody>
      </p:sp>
      <p:sp>
        <p:nvSpPr>
          <p:cNvPr id="31" name="doc-684"/>
          <p:cNvSpPr/>
          <p:nvPr/>
        </p:nvSpPr>
        <p:spPr>
          <a:xfrm>
            <a:off x="3291840" y="4416552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doc-text-685"/>
          <p:cNvSpPr txBox="1"/>
          <p:nvPr/>
        </p:nvSpPr>
        <p:spPr>
          <a:xfrm>
            <a:off x="3401568" y="4416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9.1 監督量測結果</a:t>
            </a:r>
            <a:endParaRPr lang="en-US" sz="1300" dirty="0"/>
          </a:p>
        </p:txBody>
      </p:sp>
      <p:sp>
        <p:nvSpPr>
          <p:cNvPr id="33" name="doc-686"/>
          <p:cNvSpPr/>
          <p:nvPr/>
        </p:nvSpPr>
        <p:spPr>
          <a:xfrm>
            <a:off x="6035040" y="4416552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doc-text-687"/>
          <p:cNvSpPr txBox="1"/>
          <p:nvPr/>
        </p:nvSpPr>
        <p:spPr>
          <a:xfrm>
            <a:off x="6144768" y="4416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9.2 稽核方案與結果</a:t>
            </a:r>
            <a:endParaRPr lang="en-US" sz="1300" dirty="0"/>
          </a:p>
        </p:txBody>
      </p:sp>
      <p:sp>
        <p:nvSpPr>
          <p:cNvPr id="35" name="doc-688"/>
          <p:cNvSpPr/>
          <p:nvPr/>
        </p:nvSpPr>
        <p:spPr>
          <a:xfrm>
            <a:off x="548640" y="507492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doc-text-689"/>
          <p:cNvSpPr txBox="1"/>
          <p:nvPr/>
        </p:nvSpPr>
        <p:spPr>
          <a:xfrm>
            <a:off x="658368" y="5074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9.3 管理審查結果</a:t>
            </a:r>
            <a:endParaRPr lang="en-US" sz="1300" dirty="0"/>
          </a:p>
        </p:txBody>
      </p:sp>
      <p:sp>
        <p:nvSpPr>
          <p:cNvPr id="37" name="doc-690"/>
          <p:cNvSpPr/>
          <p:nvPr/>
        </p:nvSpPr>
        <p:spPr>
          <a:xfrm>
            <a:off x="3291840" y="507492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doc-text-691"/>
          <p:cNvSpPr txBox="1"/>
          <p:nvPr/>
        </p:nvSpPr>
        <p:spPr>
          <a:xfrm>
            <a:off x="3401568" y="5074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10.2 不符合與矯正措施</a:t>
            </a:r>
            <a:endParaRPr lang="en-US" sz="1300" dirty="0"/>
          </a:p>
        </p:txBody>
      </p:sp>
      <p:pic>
        <p:nvPicPr>
          <p:cNvPr id="39" name="allan-avatar-692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20340"/>
            <a:ext cx="868680" cy="868680"/>
          </a:xfrm>
          <a:prstGeom prst="rect">
            <a:avLst/>
          </a:prstGeom>
        </p:spPr>
      </p:pic>
      <p:sp>
        <p:nvSpPr>
          <p:cNvPr id="40" name="bubble-693"/>
          <p:cNvSpPr/>
          <p:nvPr/>
        </p:nvSpPr>
        <p:spPr>
          <a:xfrm>
            <a:off x="9875520" y="1783080"/>
            <a:ext cx="1764792" cy="2743200"/>
          </a:xfrm>
          <a:prstGeom prst="roundRect">
            <a:avLst>
              <a:gd name="adj" fmla="val 6218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1" name="bubble-text-694"/>
          <p:cNvSpPr txBox="1"/>
          <p:nvPr/>
        </p:nvSpPr>
        <p:spPr>
          <a:xfrm>
            <a:off x="10012680" y="1783080"/>
            <a:ext cx="1490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清單只是最低要求。7.5.1 b) 還包括「組織認為對 AIMS 有效性必要」的文件。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條文 8 運作：把規劃變成日常</a:t>
            </a:r>
            <a:endParaRPr lang="en-US" sz="3000" dirty="0"/>
          </a:p>
        </p:txBody>
      </p:sp>
      <p:sp>
        <p:nvSpPr>
          <p:cNvPr id="4" name="card-695"/>
          <p:cNvSpPr/>
          <p:nvPr/>
        </p:nvSpPr>
        <p:spPr>
          <a:xfrm>
            <a:off x="548640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696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697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8.1</a:t>
            </a:r>
            <a:endParaRPr lang="en-US" sz="1200" dirty="0"/>
          </a:p>
        </p:txBody>
      </p:sp>
      <p:sp>
        <p:nvSpPr>
          <p:cNvPr id="7" name="card-title-698"/>
          <p:cNvSpPr txBox="1"/>
          <p:nvPr/>
        </p:nvSpPr>
        <p:spPr>
          <a:xfrm>
            <a:off x="1417320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運作規劃及控制</a:t>
            </a:r>
            <a:endParaRPr lang="en-US" sz="1800" dirty="0"/>
          </a:p>
        </p:txBody>
      </p:sp>
      <p:sp>
        <p:nvSpPr>
          <p:cNvPr id="8" name="card-text-699"/>
          <p:cNvSpPr txBox="1"/>
          <p:nvPr/>
        </p:nvSpPr>
        <p:spPr>
          <a:xfrm>
            <a:off x="777240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建立流程準則並依準則控制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監督控制措施有效性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控制外部提供的 AI 服務</a:t>
            </a:r>
            <a:endParaRPr lang="en-US" sz="1700" dirty="0"/>
          </a:p>
        </p:txBody>
      </p:sp>
      <p:sp>
        <p:nvSpPr>
          <p:cNvPr id="9" name="card-700"/>
          <p:cNvSpPr/>
          <p:nvPr/>
        </p:nvSpPr>
        <p:spPr>
          <a:xfrm>
            <a:off x="3379394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701"/>
          <p:cNvSpPr/>
          <p:nvPr/>
        </p:nvSpPr>
        <p:spPr>
          <a:xfrm>
            <a:off x="3562274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702"/>
          <p:cNvSpPr txBox="1"/>
          <p:nvPr/>
        </p:nvSpPr>
        <p:spPr>
          <a:xfrm>
            <a:off x="3562274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8.2</a:t>
            </a:r>
            <a:endParaRPr lang="en-US" sz="1200" dirty="0"/>
          </a:p>
        </p:txBody>
      </p:sp>
      <p:sp>
        <p:nvSpPr>
          <p:cNvPr id="12" name="card-title-703"/>
          <p:cNvSpPr txBox="1"/>
          <p:nvPr/>
        </p:nvSpPr>
        <p:spPr>
          <a:xfrm>
            <a:off x="4248074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風險評鑑</a:t>
            </a:r>
            <a:endParaRPr lang="en-US" sz="1800" dirty="0"/>
          </a:p>
        </p:txBody>
      </p:sp>
      <p:sp>
        <p:nvSpPr>
          <p:cNvPr id="13" name="card-text-704"/>
          <p:cNvSpPr txBox="1"/>
          <p:nvPr/>
        </p:nvSpPr>
        <p:spPr>
          <a:xfrm>
            <a:off x="3607994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依規劃期間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或提議／發生重大變更時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保存所有結果</a:t>
            </a:r>
            <a:endParaRPr lang="en-US" sz="1700" dirty="0"/>
          </a:p>
        </p:txBody>
      </p:sp>
      <p:sp>
        <p:nvSpPr>
          <p:cNvPr id="14" name="card-705"/>
          <p:cNvSpPr/>
          <p:nvPr/>
        </p:nvSpPr>
        <p:spPr>
          <a:xfrm>
            <a:off x="6210148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706"/>
          <p:cNvSpPr/>
          <p:nvPr/>
        </p:nvSpPr>
        <p:spPr>
          <a:xfrm>
            <a:off x="6393028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707"/>
          <p:cNvSpPr txBox="1"/>
          <p:nvPr/>
        </p:nvSpPr>
        <p:spPr>
          <a:xfrm>
            <a:off x="639302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8.3</a:t>
            </a:r>
            <a:endParaRPr lang="en-US" sz="1200" dirty="0"/>
          </a:p>
        </p:txBody>
      </p:sp>
      <p:sp>
        <p:nvSpPr>
          <p:cNvPr id="17" name="card-title-708"/>
          <p:cNvSpPr txBox="1"/>
          <p:nvPr/>
        </p:nvSpPr>
        <p:spPr>
          <a:xfrm>
            <a:off x="7078828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風險處理</a:t>
            </a:r>
            <a:endParaRPr lang="en-US" sz="1800" dirty="0"/>
          </a:p>
        </p:txBody>
      </p:sp>
      <p:sp>
        <p:nvSpPr>
          <p:cNvPr id="18" name="card-text-709"/>
          <p:cNvSpPr txBox="1"/>
          <p:nvPr/>
        </p:nvSpPr>
        <p:spPr>
          <a:xfrm>
            <a:off x="6438748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實施處理計畫並驗證有效性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新風險 → 依 6.1.3 處理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處理無效 → 審查並更新計畫</a:t>
            </a:r>
            <a:endParaRPr lang="en-US" sz="1700" dirty="0"/>
          </a:p>
        </p:txBody>
      </p:sp>
      <p:sp>
        <p:nvSpPr>
          <p:cNvPr id="19" name="card-710"/>
          <p:cNvSpPr/>
          <p:nvPr/>
        </p:nvSpPr>
        <p:spPr>
          <a:xfrm>
            <a:off x="9040901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711"/>
          <p:cNvSpPr/>
          <p:nvPr/>
        </p:nvSpPr>
        <p:spPr>
          <a:xfrm>
            <a:off x="9223781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ard-badge-712"/>
          <p:cNvSpPr txBox="1"/>
          <p:nvPr/>
        </p:nvSpPr>
        <p:spPr>
          <a:xfrm>
            <a:off x="9223781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8.4</a:t>
            </a:r>
            <a:endParaRPr lang="en-US" sz="1200" dirty="0"/>
          </a:p>
        </p:txBody>
      </p:sp>
      <p:sp>
        <p:nvSpPr>
          <p:cNvPr id="22" name="card-title-713"/>
          <p:cNvSpPr txBox="1"/>
          <p:nvPr/>
        </p:nvSpPr>
        <p:spPr>
          <a:xfrm>
            <a:off x="9909581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系統衝擊評鑑</a:t>
            </a:r>
            <a:endParaRPr lang="en-US" sz="1800" dirty="0"/>
          </a:p>
        </p:txBody>
      </p:sp>
      <p:sp>
        <p:nvSpPr>
          <p:cNvPr id="23" name="card-text-714"/>
          <p:cNvSpPr txBox="1"/>
          <p:nvPr/>
        </p:nvSpPr>
        <p:spPr>
          <a:xfrm>
            <a:off x="9269501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依規劃期間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或發生重大變更時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保存所有結果</a:t>
            </a:r>
            <a:endParaRPr lang="en-US" sz="1700" dirty="0"/>
          </a:p>
        </p:txBody>
      </p:sp>
      <p:sp>
        <p:nvSpPr>
          <p:cNvPr id="24" name="h-715"/>
          <p:cNvSpPr txBox="1"/>
          <p:nvPr/>
        </p:nvSpPr>
        <p:spPr>
          <a:xfrm>
            <a:off x="548640" y="4343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「重大變更」觸發範例：</a:t>
            </a:r>
            <a:endParaRPr lang="en-US" sz="1600" dirty="0"/>
          </a:p>
        </p:txBody>
      </p:sp>
      <p:sp>
        <p:nvSpPr>
          <p:cNvPr id="25" name="tag-716"/>
          <p:cNvSpPr/>
          <p:nvPr/>
        </p:nvSpPr>
        <p:spPr>
          <a:xfrm>
            <a:off x="548640" y="489204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ag-text-717"/>
          <p:cNvSpPr txBox="1"/>
          <p:nvPr/>
        </p:nvSpPr>
        <p:spPr>
          <a:xfrm>
            <a:off x="54864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模型更版或換供應商</a:t>
            </a:r>
            <a:endParaRPr lang="en-US" sz="1300" dirty="0"/>
          </a:p>
        </p:txBody>
      </p:sp>
      <p:sp>
        <p:nvSpPr>
          <p:cNvPr id="27" name="tag-718"/>
          <p:cNvSpPr/>
          <p:nvPr/>
        </p:nvSpPr>
        <p:spPr>
          <a:xfrm>
            <a:off x="2788920" y="489204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ag-text-719"/>
          <p:cNvSpPr txBox="1"/>
          <p:nvPr/>
        </p:nvSpPr>
        <p:spPr>
          <a:xfrm>
            <a:off x="278892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訓練資料來源變更</a:t>
            </a:r>
            <a:endParaRPr lang="en-US" sz="1300" dirty="0"/>
          </a:p>
        </p:txBody>
      </p:sp>
      <p:sp>
        <p:nvSpPr>
          <p:cNvPr id="29" name="tag-720"/>
          <p:cNvSpPr/>
          <p:nvPr/>
        </p:nvSpPr>
        <p:spPr>
          <a:xfrm>
            <a:off x="5029200" y="489204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ag-text-721"/>
          <p:cNvSpPr txBox="1"/>
          <p:nvPr/>
        </p:nvSpPr>
        <p:spPr>
          <a:xfrm>
            <a:off x="502920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預期用途擴大</a:t>
            </a:r>
            <a:endParaRPr lang="en-US" sz="1300" dirty="0"/>
          </a:p>
        </p:txBody>
      </p:sp>
      <p:sp>
        <p:nvSpPr>
          <p:cNvPr id="31" name="tag-722"/>
          <p:cNvSpPr/>
          <p:nvPr/>
        </p:nvSpPr>
        <p:spPr>
          <a:xfrm>
            <a:off x="7269480" y="489204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ag-text-723"/>
          <p:cNvSpPr txBox="1"/>
          <p:nvPr/>
        </p:nvSpPr>
        <p:spPr>
          <a:xfrm>
            <a:off x="726948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上線新國家／地區</a:t>
            </a:r>
            <a:endParaRPr lang="en-US" sz="1300" dirty="0"/>
          </a:p>
        </p:txBody>
      </p:sp>
      <p:sp>
        <p:nvSpPr>
          <p:cNvPr id="33" name="tag-724"/>
          <p:cNvSpPr/>
          <p:nvPr/>
        </p:nvSpPr>
        <p:spPr>
          <a:xfrm>
            <a:off x="9509760" y="4892040"/>
            <a:ext cx="210312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ag-text-725"/>
          <p:cNvSpPr txBox="1"/>
          <p:nvPr/>
        </p:nvSpPr>
        <p:spPr>
          <a:xfrm>
            <a:off x="950976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自動化程度提高</a:t>
            </a:r>
            <a:endParaRPr lang="en-US" sz="1300" dirty="0"/>
          </a:p>
        </p:txBody>
      </p:sp>
      <p:pic>
        <p:nvPicPr>
          <p:cNvPr id="35" name="arale-avatar-726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94960"/>
            <a:ext cx="868680" cy="868680"/>
          </a:xfrm>
          <a:prstGeom prst="rect">
            <a:avLst/>
          </a:prstGeom>
        </p:spPr>
      </p:pic>
      <p:sp>
        <p:nvSpPr>
          <p:cNvPr id="36" name="bubble-727"/>
          <p:cNvSpPr/>
          <p:nvPr/>
        </p:nvSpPr>
        <p:spPr>
          <a:xfrm>
            <a:off x="1508760" y="5486400"/>
            <a:ext cx="4526280" cy="685800"/>
          </a:xfrm>
          <a:prstGeom prst="roundRect">
            <a:avLst>
              <a:gd name="adj" fmla="val 16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7" name="bubble-text-728"/>
          <p:cNvSpPr txBox="1"/>
          <p:nvPr/>
        </p:nvSpPr>
        <p:spPr>
          <a:xfrm>
            <a:off x="1645920" y="5486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外部 LLM 換新版本也算重大變更嗎？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9.1 監督量測：AIMS 與 AI 系統兩種績效</a:t>
            </a:r>
            <a:endParaRPr lang="en-US" sz="3000" dirty="0"/>
          </a:p>
        </p:txBody>
      </p:sp>
      <p:sp>
        <p:nvSpPr>
          <p:cNvPr id="4" name="stat-num-729"/>
          <p:cNvSpPr txBox="1"/>
          <p:nvPr/>
        </p:nvSpPr>
        <p:spPr>
          <a:xfrm>
            <a:off x="54864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95%</a:t>
            </a:r>
            <a:endParaRPr lang="en-US" sz="5400" dirty="0"/>
          </a:p>
        </p:txBody>
      </p:sp>
      <p:sp>
        <p:nvSpPr>
          <p:cNvPr id="5" name="stat-label-730"/>
          <p:cNvSpPr txBox="1"/>
          <p:nvPr/>
        </p:nvSpPr>
        <p:spPr>
          <a:xfrm>
            <a:off x="54864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B"/>
                </a:solidFill>
              </a:rPr>
              <a:t>客服 AI 抽測正確率目標</a:t>
            </a:r>
            <a:endParaRPr lang="en-US" sz="1400" dirty="0"/>
          </a:p>
        </p:txBody>
      </p:sp>
      <p:sp>
        <p:nvSpPr>
          <p:cNvPr id="6" name="stat-num-731"/>
          <p:cNvSpPr txBox="1"/>
          <p:nvPr/>
        </p:nvSpPr>
        <p:spPr>
          <a:xfrm>
            <a:off x="333756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0.8</a:t>
            </a:r>
            <a:endParaRPr lang="en-US" sz="5400" dirty="0"/>
          </a:p>
        </p:txBody>
      </p:sp>
      <p:sp>
        <p:nvSpPr>
          <p:cNvPr id="7" name="stat-label-732"/>
          <p:cNvSpPr txBox="1"/>
          <p:nvPr/>
        </p:nvSpPr>
        <p:spPr>
          <a:xfrm>
            <a:off x="333756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B"/>
                </a:solidFill>
              </a:rPr>
              <a:t>偏差：群體核准率比值下限</a:t>
            </a:r>
            <a:endParaRPr lang="en-US" sz="1400" dirty="0"/>
          </a:p>
        </p:txBody>
      </p:sp>
      <p:sp>
        <p:nvSpPr>
          <p:cNvPr id="8" name="stat-num-733"/>
          <p:cNvSpPr txBox="1"/>
          <p:nvPr/>
        </p:nvSpPr>
        <p:spPr>
          <a:xfrm>
            <a:off x="612648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 天</a:t>
            </a:r>
            <a:endParaRPr lang="en-US" sz="5400" dirty="0"/>
          </a:p>
        </p:txBody>
      </p:sp>
      <p:sp>
        <p:nvSpPr>
          <p:cNvPr id="9" name="stat-label-734"/>
          <p:cNvSpPr txBox="1"/>
          <p:nvPr/>
        </p:nvSpPr>
        <p:spPr>
          <a:xfrm>
            <a:off x="612648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B"/>
                </a:solidFill>
              </a:rPr>
              <a:t>AI 申訴回覆時效</a:t>
            </a:r>
            <a:endParaRPr lang="en-US" sz="1400" dirty="0"/>
          </a:p>
        </p:txBody>
      </p:sp>
      <p:sp>
        <p:nvSpPr>
          <p:cNvPr id="10" name="stat-num-735"/>
          <p:cNvSpPr txBox="1"/>
          <p:nvPr/>
        </p:nvSpPr>
        <p:spPr>
          <a:xfrm>
            <a:off x="891540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100%</a:t>
            </a:r>
            <a:endParaRPr lang="en-US" sz="5400" dirty="0"/>
          </a:p>
        </p:txBody>
      </p:sp>
      <p:sp>
        <p:nvSpPr>
          <p:cNvPr id="11" name="stat-label-736"/>
          <p:cNvSpPr txBox="1"/>
          <p:nvPr/>
        </p:nvSpPr>
        <p:spPr>
          <a:xfrm>
            <a:off x="891540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B"/>
                </a:solidFill>
              </a:rPr>
              <a:t>高風險 AI 年度衝擊評鑑完成率</a:t>
            </a:r>
            <a:endParaRPr lang="en-US" sz="1400" dirty="0"/>
          </a:p>
        </p:txBody>
      </p:sp>
      <p:sp>
        <p:nvSpPr>
          <p:cNvPr id="12" name="caption-737"/>
          <p:cNvSpPr txBox="1"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</a:rPr>
              <a:t>以上數值皆為虛擬範例，門檻由組織依風險準則自訂</a:t>
            </a:r>
            <a:endParaRPr lang="en-US" sz="1200" dirty="0"/>
          </a:p>
        </p:txBody>
      </p:sp>
      <p:sp>
        <p:nvSpPr>
          <p:cNvPr id="13" name="card-738"/>
          <p:cNvSpPr/>
          <p:nvPr/>
        </p:nvSpPr>
        <p:spPr>
          <a:xfrm>
            <a:off x="548640" y="3611880"/>
            <a:ext cx="54100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-icon-bg-739"/>
          <p:cNvSpPr/>
          <p:nvPr/>
        </p:nvSpPr>
        <p:spPr>
          <a:xfrm>
            <a:off x="731520" y="3794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ard-icon-7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922776"/>
            <a:ext cx="310896" cy="310896"/>
          </a:xfrm>
          <a:prstGeom prst="rect">
            <a:avLst/>
          </a:prstGeom>
        </p:spPr>
      </p:pic>
      <p:sp>
        <p:nvSpPr>
          <p:cNvPr id="16" name="card-title-741"/>
          <p:cNvSpPr txBox="1"/>
          <p:nvPr/>
        </p:nvSpPr>
        <p:spPr>
          <a:xfrm>
            <a:off x="1417320" y="3776472"/>
            <a:ext cx="440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AI 系統績效</a:t>
            </a:r>
            <a:endParaRPr lang="en-US" sz="1900" dirty="0"/>
          </a:p>
        </p:txBody>
      </p:sp>
      <p:sp>
        <p:nvSpPr>
          <p:cNvPr id="17" name="card-text-742"/>
          <p:cNvSpPr txBox="1"/>
          <p:nvPr/>
        </p:nvSpPr>
        <p:spPr>
          <a:xfrm>
            <a:off x="777240" y="4480560"/>
            <a:ext cx="499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準確率、F1、誤判率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漂移告警數、人為覆寫率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生成式 AI 幻覺率</a:t>
            </a:r>
            <a:endParaRPr lang="en-US" sz="1700" dirty="0"/>
          </a:p>
        </p:txBody>
      </p:sp>
      <p:sp>
        <p:nvSpPr>
          <p:cNvPr id="18" name="card-743"/>
          <p:cNvSpPr/>
          <p:nvPr/>
        </p:nvSpPr>
        <p:spPr>
          <a:xfrm>
            <a:off x="6233008" y="3611880"/>
            <a:ext cx="541004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icon-bg-744"/>
          <p:cNvSpPr/>
          <p:nvPr/>
        </p:nvSpPr>
        <p:spPr>
          <a:xfrm>
            <a:off x="6415888" y="3794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card-icon-7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904" y="3922776"/>
            <a:ext cx="310896" cy="310896"/>
          </a:xfrm>
          <a:prstGeom prst="rect">
            <a:avLst/>
          </a:prstGeom>
        </p:spPr>
      </p:pic>
      <p:sp>
        <p:nvSpPr>
          <p:cNvPr id="21" name="card-title-746"/>
          <p:cNvSpPr txBox="1"/>
          <p:nvPr/>
        </p:nvSpPr>
        <p:spPr>
          <a:xfrm>
            <a:off x="7101688" y="3776472"/>
            <a:ext cx="440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AIMS 績效</a:t>
            </a:r>
            <a:endParaRPr lang="en-US" sz="1900" dirty="0"/>
          </a:p>
        </p:txBody>
      </p:sp>
      <p:sp>
        <p:nvSpPr>
          <p:cNvPr id="22" name="card-text-747"/>
          <p:cNvSpPr txBox="1"/>
          <p:nvPr/>
        </p:nvSpPr>
        <p:spPr>
          <a:xfrm>
            <a:off x="6461608" y="4480560"/>
            <a:ext cx="499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目標達成率、訓練完成率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事故與申訴處理時效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矯正措施如期結案率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9.2 內部稽核與 9.3 管理審查</a:t>
            </a:r>
            <a:endParaRPr lang="en-US" sz="3000" dirty="0"/>
          </a:p>
        </p:txBody>
      </p:sp>
      <p:sp>
        <p:nvSpPr>
          <p:cNvPr id="4" name="card-748"/>
          <p:cNvSpPr/>
          <p:nvPr/>
        </p:nvSpPr>
        <p:spPr>
          <a:xfrm>
            <a:off x="548640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749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7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751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9.2 內部稽核</a:t>
            </a:r>
            <a:endParaRPr lang="en-US" sz="1900" dirty="0"/>
          </a:p>
        </p:txBody>
      </p:sp>
      <p:sp>
        <p:nvSpPr>
          <p:cNvPr id="8" name="card-text-752"/>
          <p:cNvSpPr txBox="1"/>
          <p:nvPr/>
        </p:nvSpPr>
        <p:spPr>
          <a:xfrm>
            <a:off x="777240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稽核方案：頻率、方法、責任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納入重要流程與前次結果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稽核員客觀公正，不稽核自己的工作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建議涵蓋 AI 技術流程（資料、模型、監控）</a:t>
            </a:r>
            <a:endParaRPr lang="en-US" sz="1700" dirty="0"/>
          </a:p>
        </p:txBody>
      </p:sp>
      <p:sp>
        <p:nvSpPr>
          <p:cNvPr id="9" name="card-753"/>
          <p:cNvSpPr/>
          <p:nvPr/>
        </p:nvSpPr>
        <p:spPr>
          <a:xfrm>
            <a:off x="4338218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754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75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756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9.3.2 管理審查輸入</a:t>
            </a:r>
            <a:endParaRPr lang="en-US" sz="1900" dirty="0"/>
          </a:p>
        </p:txBody>
      </p:sp>
      <p:sp>
        <p:nvSpPr>
          <p:cNvPr id="13" name="card-text-757"/>
          <p:cNvSpPr txBox="1"/>
          <p:nvPr/>
        </p:nvSpPr>
        <p:spPr>
          <a:xfrm>
            <a:off x="4566818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a) 過往決議處理狀態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b) 內外部議題變更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c) 關注方需要與期望變更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d) 績效趨勢：不符合、監督量測、稽核結果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e) 持續改善機會</a:t>
            </a:r>
            <a:endParaRPr lang="en-US" sz="1700" dirty="0"/>
          </a:p>
        </p:txBody>
      </p:sp>
      <p:sp>
        <p:nvSpPr>
          <p:cNvPr id="14" name="card-758"/>
          <p:cNvSpPr/>
          <p:nvPr/>
        </p:nvSpPr>
        <p:spPr>
          <a:xfrm>
            <a:off x="8127797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759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76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761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9.3.3 管理審查結果</a:t>
            </a:r>
            <a:endParaRPr lang="en-US" sz="1900" dirty="0"/>
          </a:p>
        </p:txBody>
      </p:sp>
      <p:sp>
        <p:nvSpPr>
          <p:cNvPr id="18" name="card-text-762"/>
          <p:cNvSpPr txBox="1"/>
          <p:nvPr/>
        </p:nvSpPr>
        <p:spPr>
          <a:xfrm>
            <a:off x="8356397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持續改善機會相關決策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AIMS 變更的需要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保存文件化資訊作為證據</a:t>
            </a:r>
            <a:endParaRPr lang="en-US" sz="1700" dirty="0"/>
          </a:p>
        </p:txBody>
      </p:sp>
      <p:pic>
        <p:nvPicPr>
          <p:cNvPr id="19" name="allan-avatar-763" descr="Allan 講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89220"/>
            <a:ext cx="868680" cy="868680"/>
          </a:xfrm>
          <a:prstGeom prst="rect">
            <a:avLst/>
          </a:prstGeom>
        </p:spPr>
      </p:pic>
      <p:sp>
        <p:nvSpPr>
          <p:cNvPr id="20" name="bubble-764"/>
          <p:cNvSpPr/>
          <p:nvPr/>
        </p:nvSpPr>
        <p:spPr>
          <a:xfrm>
            <a:off x="1508760" y="525780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765"/>
          <p:cNvSpPr txBox="1"/>
          <p:nvPr/>
        </p:nvSpPr>
        <p:spPr>
          <a:xfrm>
            <a:off x="1645920" y="525780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管審紀錄常見缺失：輸入少了 b)、c)，或只有報告、沒有「決策」。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10.2 不符合事項及矯正措施：以 AI 偏差事件為例</a:t>
            </a:r>
            <a:endParaRPr lang="en-US" sz="3000" dirty="0"/>
          </a:p>
        </p:txBody>
      </p:sp>
      <p:sp>
        <p:nvSpPr>
          <p:cNvPr id="4" name="flow-head-766"/>
          <p:cNvSpPr/>
          <p:nvPr/>
        </p:nvSpPr>
        <p:spPr>
          <a:xfrm>
            <a:off x="548640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767"/>
          <p:cNvSpPr txBox="1"/>
          <p:nvPr/>
        </p:nvSpPr>
        <p:spPr>
          <a:xfrm>
            <a:off x="548640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a) 反應</a:t>
            </a:r>
            <a:endParaRPr lang="en-US" sz="1500" dirty="0"/>
          </a:p>
        </p:txBody>
      </p:sp>
      <p:sp>
        <p:nvSpPr>
          <p:cNvPr id="6" name="flow-body-768"/>
          <p:cNvSpPr/>
          <p:nvPr/>
        </p:nvSpPr>
        <p:spPr>
          <a:xfrm>
            <a:off x="548640" y="1984248"/>
            <a:ext cx="1696669" cy="190195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769"/>
          <p:cNvSpPr txBox="1"/>
          <p:nvPr/>
        </p:nvSpPr>
        <p:spPr>
          <a:xfrm>
            <a:off x="658368" y="2075688"/>
            <a:ext cx="1477213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暫停自動淘汰，改人工複審</a:t>
            </a:r>
            <a:endParaRPr lang="en-US" sz="1700" dirty="0"/>
          </a:p>
        </p:txBody>
      </p:sp>
      <p:sp>
        <p:nvSpPr>
          <p:cNvPr id="8" name="flow-arrow-770"/>
          <p:cNvSpPr/>
          <p:nvPr/>
        </p:nvSpPr>
        <p:spPr>
          <a:xfrm rot="5400000">
            <a:off x="2291029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771"/>
          <p:cNvSpPr/>
          <p:nvPr/>
        </p:nvSpPr>
        <p:spPr>
          <a:xfrm>
            <a:off x="2428189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772"/>
          <p:cNvSpPr txBox="1"/>
          <p:nvPr/>
        </p:nvSpPr>
        <p:spPr>
          <a:xfrm>
            <a:off x="2428189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b) 找原因</a:t>
            </a:r>
            <a:endParaRPr lang="en-US" sz="1500" dirty="0"/>
          </a:p>
        </p:txBody>
      </p:sp>
      <p:sp>
        <p:nvSpPr>
          <p:cNvPr id="11" name="flow-body-773"/>
          <p:cNvSpPr/>
          <p:nvPr/>
        </p:nvSpPr>
        <p:spPr>
          <a:xfrm>
            <a:off x="2428189" y="1984248"/>
            <a:ext cx="1696669" cy="190195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774"/>
          <p:cNvSpPr txBox="1"/>
          <p:nvPr/>
        </p:nvSpPr>
        <p:spPr>
          <a:xfrm>
            <a:off x="2537917" y="2075688"/>
            <a:ext cx="1477213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5 Why → 訓練資料代表性不足，且無偏差測試關卡</a:t>
            </a:r>
            <a:endParaRPr lang="en-US" sz="1700" dirty="0"/>
          </a:p>
        </p:txBody>
      </p:sp>
      <p:sp>
        <p:nvSpPr>
          <p:cNvPr id="13" name="flow-arrow-775"/>
          <p:cNvSpPr/>
          <p:nvPr/>
        </p:nvSpPr>
        <p:spPr>
          <a:xfrm rot="5400000">
            <a:off x="4170578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776"/>
          <p:cNvSpPr/>
          <p:nvPr/>
        </p:nvSpPr>
        <p:spPr>
          <a:xfrm>
            <a:off x="4307738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777"/>
          <p:cNvSpPr txBox="1"/>
          <p:nvPr/>
        </p:nvSpPr>
        <p:spPr>
          <a:xfrm>
            <a:off x="4307738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b)3) 類似？</a:t>
            </a:r>
            <a:endParaRPr lang="en-US" sz="1500" dirty="0"/>
          </a:p>
        </p:txBody>
      </p:sp>
      <p:sp>
        <p:nvSpPr>
          <p:cNvPr id="16" name="flow-body-778"/>
          <p:cNvSpPr/>
          <p:nvPr/>
        </p:nvSpPr>
        <p:spPr>
          <a:xfrm>
            <a:off x="4307738" y="1984248"/>
            <a:ext cx="1696669" cy="190195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779"/>
          <p:cNvSpPr txBox="1"/>
          <p:nvPr/>
        </p:nvSpPr>
        <p:spPr>
          <a:xfrm>
            <a:off x="4417466" y="2075688"/>
            <a:ext cx="1477213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檢查其他 AI 系統是否也缺偏差測試</a:t>
            </a:r>
            <a:endParaRPr lang="en-US" sz="1700" dirty="0"/>
          </a:p>
        </p:txBody>
      </p:sp>
      <p:sp>
        <p:nvSpPr>
          <p:cNvPr id="18" name="flow-arrow-780"/>
          <p:cNvSpPr/>
          <p:nvPr/>
        </p:nvSpPr>
        <p:spPr>
          <a:xfrm rot="5400000">
            <a:off x="6050128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781"/>
          <p:cNvSpPr/>
          <p:nvPr/>
        </p:nvSpPr>
        <p:spPr>
          <a:xfrm>
            <a:off x="6187288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782"/>
          <p:cNvSpPr txBox="1"/>
          <p:nvPr/>
        </p:nvSpPr>
        <p:spPr>
          <a:xfrm>
            <a:off x="6187288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c) 實作</a:t>
            </a:r>
            <a:endParaRPr lang="en-US" sz="1500" dirty="0"/>
          </a:p>
        </p:txBody>
      </p:sp>
      <p:sp>
        <p:nvSpPr>
          <p:cNvPr id="21" name="flow-body-783"/>
          <p:cNvSpPr/>
          <p:nvPr/>
        </p:nvSpPr>
        <p:spPr>
          <a:xfrm>
            <a:off x="6187288" y="1984248"/>
            <a:ext cx="1696669" cy="190195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784"/>
          <p:cNvSpPr txBox="1"/>
          <p:nvPr/>
        </p:nvSpPr>
        <p:spPr>
          <a:xfrm>
            <a:off x="6297016" y="2075688"/>
            <a:ext cx="1477213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補資料、加入發布前偏差檢測</a:t>
            </a:r>
            <a:endParaRPr lang="en-US" sz="1700" dirty="0"/>
          </a:p>
        </p:txBody>
      </p:sp>
      <p:sp>
        <p:nvSpPr>
          <p:cNvPr id="23" name="flow-arrow-785"/>
          <p:cNvSpPr/>
          <p:nvPr/>
        </p:nvSpPr>
        <p:spPr>
          <a:xfrm rot="5400000">
            <a:off x="7929677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786"/>
          <p:cNvSpPr/>
          <p:nvPr/>
        </p:nvSpPr>
        <p:spPr>
          <a:xfrm>
            <a:off x="8066837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787"/>
          <p:cNvSpPr txBox="1"/>
          <p:nvPr/>
        </p:nvSpPr>
        <p:spPr>
          <a:xfrm>
            <a:off x="8066837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d) 有效性</a:t>
            </a:r>
            <a:endParaRPr lang="en-US" sz="1500" dirty="0"/>
          </a:p>
        </p:txBody>
      </p:sp>
      <p:sp>
        <p:nvSpPr>
          <p:cNvPr id="26" name="flow-body-788"/>
          <p:cNvSpPr/>
          <p:nvPr/>
        </p:nvSpPr>
        <p:spPr>
          <a:xfrm>
            <a:off x="8066837" y="1984248"/>
            <a:ext cx="1696669" cy="190195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789"/>
          <p:cNvSpPr txBox="1"/>
          <p:nvPr/>
        </p:nvSpPr>
        <p:spPr>
          <a:xfrm>
            <a:off x="8176565" y="2075688"/>
            <a:ext cx="1477213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連續三個月偏差指標達標</a:t>
            </a:r>
            <a:endParaRPr lang="en-US" sz="1700" dirty="0"/>
          </a:p>
        </p:txBody>
      </p:sp>
      <p:sp>
        <p:nvSpPr>
          <p:cNvPr id="28" name="flow-arrow-790"/>
          <p:cNvSpPr/>
          <p:nvPr/>
        </p:nvSpPr>
        <p:spPr>
          <a:xfrm rot="5400000">
            <a:off x="9809226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9" name="flow-head-791"/>
          <p:cNvSpPr/>
          <p:nvPr/>
        </p:nvSpPr>
        <p:spPr>
          <a:xfrm>
            <a:off x="9946386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flow-head-text-792"/>
          <p:cNvSpPr txBox="1"/>
          <p:nvPr/>
        </p:nvSpPr>
        <p:spPr>
          <a:xfrm>
            <a:off x="9946386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e) 變更 AIMS</a:t>
            </a:r>
            <a:endParaRPr lang="en-US" sz="1500" dirty="0"/>
          </a:p>
        </p:txBody>
      </p:sp>
      <p:sp>
        <p:nvSpPr>
          <p:cNvPr id="31" name="flow-body-793"/>
          <p:cNvSpPr/>
          <p:nvPr/>
        </p:nvSpPr>
        <p:spPr>
          <a:xfrm>
            <a:off x="9946386" y="1984248"/>
            <a:ext cx="1696669" cy="190195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low-body-text-794"/>
          <p:cNvSpPr txBox="1"/>
          <p:nvPr/>
        </p:nvSpPr>
        <p:spPr>
          <a:xfrm>
            <a:off x="10056114" y="2075688"/>
            <a:ext cx="1477213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修訂開發流程與發布準則</a:t>
            </a:r>
            <a:endParaRPr lang="en-US" sz="1700" dirty="0"/>
          </a:p>
        </p:txBody>
      </p:sp>
      <p:pic>
        <p:nvPicPr>
          <p:cNvPr id="33" name="arale-avatar-795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83380"/>
            <a:ext cx="868680" cy="868680"/>
          </a:xfrm>
          <a:prstGeom prst="rect">
            <a:avLst/>
          </a:prstGeom>
        </p:spPr>
      </p:pic>
      <p:sp>
        <p:nvSpPr>
          <p:cNvPr id="34" name="bubble-796"/>
          <p:cNvSpPr/>
          <p:nvPr/>
        </p:nvSpPr>
        <p:spPr>
          <a:xfrm>
            <a:off x="1508760" y="420624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5" name="bubble-text-797"/>
          <p:cNvSpPr txBox="1"/>
          <p:nvPr/>
        </p:nvSpPr>
        <p:spPr>
          <a:xfrm>
            <a:off x="1645920" y="42062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只把模型重新訓練一次，算矯正措施嗎？</a:t>
            </a:r>
            <a:endParaRPr lang="en-US" sz="1700" dirty="0"/>
          </a:p>
        </p:txBody>
      </p:sp>
      <p:pic>
        <p:nvPicPr>
          <p:cNvPr id="36" name="allan-avatar-798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183380"/>
            <a:ext cx="868680" cy="868680"/>
          </a:xfrm>
          <a:prstGeom prst="rect">
            <a:avLst/>
          </a:prstGeom>
        </p:spPr>
      </p:pic>
      <p:sp>
        <p:nvSpPr>
          <p:cNvPr id="37" name="bubble-799"/>
          <p:cNvSpPr/>
          <p:nvPr/>
        </p:nvSpPr>
        <p:spPr>
          <a:xfrm>
            <a:off x="6812280" y="4206240"/>
            <a:ext cx="4828032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8" name="bubble-text-800"/>
          <p:cNvSpPr txBox="1"/>
          <p:nvPr/>
        </p:nvSpPr>
        <p:spPr>
          <a:xfrm>
            <a:off x="6949440" y="4206240"/>
            <a:ext cx="4553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那只是「矯正」。3.17 矯正措施要消除根本原因、防止再發生。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附錄 A／B：38 項控制措施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9 個領域逐一拆解，並與 27001／27701／9001 整合</a:t>
            </a:r>
            <a:endParaRPr lang="en-US" sz="2000" dirty="0"/>
          </a:p>
        </p:txBody>
      </p:sp>
      <p:sp>
        <p:nvSpPr>
          <p:cNvPr id="5" name="section-num-801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802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</a:t>
            </a:r>
            <a:endParaRPr lang="en-US" sz="4000" dirty="0"/>
          </a:p>
        </p:txBody>
      </p:sp>
      <p:sp>
        <p:nvSpPr>
          <p:cNvPr id="7" name="section-time-803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25 分鐘</a:t>
            </a:r>
            <a:endParaRPr lang="en-US" sz="1400" dirty="0"/>
          </a:p>
        </p:txBody>
      </p:sp>
      <p:pic>
        <p:nvPicPr>
          <p:cNvPr id="8" name="allan-804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附錄 A 全景：9 個領域、38 項控制措施</a:t>
            </a:r>
            <a:endParaRPr lang="en-US" sz="3000" dirty="0"/>
          </a:p>
        </p:txBody>
      </p:sp>
      <p:sp>
        <p:nvSpPr>
          <p:cNvPr id="4" name="card-805"/>
          <p:cNvSpPr/>
          <p:nvPr/>
        </p:nvSpPr>
        <p:spPr>
          <a:xfrm>
            <a:off x="548640" y="1325880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806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807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A.2</a:t>
            </a:r>
            <a:endParaRPr lang="en-US" sz="1200" dirty="0"/>
          </a:p>
        </p:txBody>
      </p:sp>
      <p:sp>
        <p:nvSpPr>
          <p:cNvPr id="7" name="card-title-808"/>
          <p:cNvSpPr txBox="1"/>
          <p:nvPr/>
        </p:nvSpPr>
        <p:spPr>
          <a:xfrm>
            <a:off x="1417320" y="1490472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相關政策｜3 項</a:t>
            </a:r>
            <a:endParaRPr lang="en-US" sz="1800" dirty="0"/>
          </a:p>
        </p:txBody>
      </p:sp>
      <p:sp>
        <p:nvSpPr>
          <p:cNvPr id="8" name="card-809"/>
          <p:cNvSpPr/>
          <p:nvPr/>
        </p:nvSpPr>
        <p:spPr>
          <a:xfrm>
            <a:off x="3176016" y="1325880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icon-bg-810"/>
          <p:cNvSpPr/>
          <p:nvPr/>
        </p:nvSpPr>
        <p:spPr>
          <a:xfrm>
            <a:off x="3358896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card-badge-811"/>
          <p:cNvSpPr txBox="1"/>
          <p:nvPr/>
        </p:nvSpPr>
        <p:spPr>
          <a:xfrm>
            <a:off x="3358896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A.3</a:t>
            </a:r>
            <a:endParaRPr lang="en-US" sz="1200" dirty="0"/>
          </a:p>
        </p:txBody>
      </p:sp>
      <p:sp>
        <p:nvSpPr>
          <p:cNvPr id="11" name="card-title-812"/>
          <p:cNvSpPr txBox="1"/>
          <p:nvPr/>
        </p:nvSpPr>
        <p:spPr>
          <a:xfrm>
            <a:off x="4044696" y="1490472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內部組織｜2 項</a:t>
            </a:r>
            <a:endParaRPr lang="en-US" sz="1800" dirty="0"/>
          </a:p>
        </p:txBody>
      </p:sp>
      <p:sp>
        <p:nvSpPr>
          <p:cNvPr id="12" name="card-813"/>
          <p:cNvSpPr/>
          <p:nvPr/>
        </p:nvSpPr>
        <p:spPr>
          <a:xfrm>
            <a:off x="5803392" y="1325880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icon-bg-814"/>
          <p:cNvSpPr/>
          <p:nvPr/>
        </p:nvSpPr>
        <p:spPr>
          <a:xfrm>
            <a:off x="5986272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card-badge-815"/>
          <p:cNvSpPr txBox="1"/>
          <p:nvPr/>
        </p:nvSpPr>
        <p:spPr>
          <a:xfrm>
            <a:off x="5986272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A.4</a:t>
            </a:r>
            <a:endParaRPr lang="en-US" sz="1200" dirty="0"/>
          </a:p>
        </p:txBody>
      </p:sp>
      <p:sp>
        <p:nvSpPr>
          <p:cNvPr id="15" name="card-title-816"/>
          <p:cNvSpPr txBox="1"/>
          <p:nvPr/>
        </p:nvSpPr>
        <p:spPr>
          <a:xfrm>
            <a:off x="6672072" y="1490472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系統資源｜5 項</a:t>
            </a:r>
            <a:endParaRPr lang="en-US" sz="1800" dirty="0"/>
          </a:p>
        </p:txBody>
      </p:sp>
      <p:sp>
        <p:nvSpPr>
          <p:cNvPr id="16" name="card-817"/>
          <p:cNvSpPr/>
          <p:nvPr/>
        </p:nvSpPr>
        <p:spPr>
          <a:xfrm>
            <a:off x="548640" y="2855976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rd-icon-bg-818"/>
          <p:cNvSpPr/>
          <p:nvPr/>
        </p:nvSpPr>
        <p:spPr>
          <a:xfrm>
            <a:off x="731520" y="303885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card-badge-819"/>
          <p:cNvSpPr txBox="1"/>
          <p:nvPr/>
        </p:nvSpPr>
        <p:spPr>
          <a:xfrm>
            <a:off x="731520" y="3038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A.5</a:t>
            </a:r>
            <a:endParaRPr lang="en-US" sz="1200" dirty="0"/>
          </a:p>
        </p:txBody>
      </p:sp>
      <p:sp>
        <p:nvSpPr>
          <p:cNvPr id="19" name="card-title-820"/>
          <p:cNvSpPr txBox="1"/>
          <p:nvPr/>
        </p:nvSpPr>
        <p:spPr>
          <a:xfrm>
            <a:off x="1417320" y="3020568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系統衝擊評鑑｜4 項</a:t>
            </a:r>
            <a:endParaRPr lang="en-US" sz="1800" dirty="0"/>
          </a:p>
        </p:txBody>
      </p:sp>
      <p:sp>
        <p:nvSpPr>
          <p:cNvPr id="20" name="card-821"/>
          <p:cNvSpPr/>
          <p:nvPr/>
        </p:nvSpPr>
        <p:spPr>
          <a:xfrm>
            <a:off x="3176016" y="2855976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d-icon-bg-822"/>
          <p:cNvSpPr/>
          <p:nvPr/>
        </p:nvSpPr>
        <p:spPr>
          <a:xfrm>
            <a:off x="3358896" y="303885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card-badge-823"/>
          <p:cNvSpPr txBox="1"/>
          <p:nvPr/>
        </p:nvSpPr>
        <p:spPr>
          <a:xfrm>
            <a:off x="3358896" y="3038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A.6</a:t>
            </a:r>
            <a:endParaRPr lang="en-US" sz="1200" dirty="0"/>
          </a:p>
        </p:txBody>
      </p:sp>
      <p:sp>
        <p:nvSpPr>
          <p:cNvPr id="23" name="card-title-824"/>
          <p:cNvSpPr txBox="1"/>
          <p:nvPr/>
        </p:nvSpPr>
        <p:spPr>
          <a:xfrm>
            <a:off x="4044696" y="3020568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系統生命週期｜9 項</a:t>
            </a:r>
            <a:endParaRPr lang="en-US" sz="1800" dirty="0"/>
          </a:p>
        </p:txBody>
      </p:sp>
      <p:sp>
        <p:nvSpPr>
          <p:cNvPr id="24" name="card-825"/>
          <p:cNvSpPr/>
          <p:nvPr/>
        </p:nvSpPr>
        <p:spPr>
          <a:xfrm>
            <a:off x="5803392" y="2855976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826"/>
          <p:cNvSpPr/>
          <p:nvPr/>
        </p:nvSpPr>
        <p:spPr>
          <a:xfrm>
            <a:off x="5986272" y="3038856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card-badge-827"/>
          <p:cNvSpPr txBox="1"/>
          <p:nvPr/>
        </p:nvSpPr>
        <p:spPr>
          <a:xfrm>
            <a:off x="5986272" y="3038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A.7</a:t>
            </a:r>
            <a:endParaRPr lang="en-US" sz="1200" dirty="0"/>
          </a:p>
        </p:txBody>
      </p:sp>
      <p:sp>
        <p:nvSpPr>
          <p:cNvPr id="27" name="card-title-828"/>
          <p:cNvSpPr txBox="1"/>
          <p:nvPr/>
        </p:nvSpPr>
        <p:spPr>
          <a:xfrm>
            <a:off x="6672072" y="3020568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系統之資料｜5 項</a:t>
            </a:r>
            <a:endParaRPr lang="en-US" sz="1800" dirty="0"/>
          </a:p>
        </p:txBody>
      </p:sp>
      <p:sp>
        <p:nvSpPr>
          <p:cNvPr id="28" name="card-829"/>
          <p:cNvSpPr/>
          <p:nvPr/>
        </p:nvSpPr>
        <p:spPr>
          <a:xfrm>
            <a:off x="548640" y="4386072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-icon-bg-830"/>
          <p:cNvSpPr/>
          <p:nvPr/>
        </p:nvSpPr>
        <p:spPr>
          <a:xfrm>
            <a:off x="731520" y="45689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ard-badge-831"/>
          <p:cNvSpPr txBox="1"/>
          <p:nvPr/>
        </p:nvSpPr>
        <p:spPr>
          <a:xfrm>
            <a:off x="731520" y="4568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A.8</a:t>
            </a:r>
            <a:endParaRPr lang="en-US" sz="1200" dirty="0"/>
          </a:p>
        </p:txBody>
      </p:sp>
      <p:sp>
        <p:nvSpPr>
          <p:cNvPr id="31" name="card-title-832"/>
          <p:cNvSpPr txBox="1"/>
          <p:nvPr/>
        </p:nvSpPr>
        <p:spPr>
          <a:xfrm>
            <a:off x="1417320" y="4550664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關注方資訊｜4 項</a:t>
            </a:r>
            <a:endParaRPr lang="en-US" sz="1800" dirty="0"/>
          </a:p>
        </p:txBody>
      </p:sp>
      <p:sp>
        <p:nvSpPr>
          <p:cNvPr id="32" name="card-833"/>
          <p:cNvSpPr/>
          <p:nvPr/>
        </p:nvSpPr>
        <p:spPr>
          <a:xfrm>
            <a:off x="3176016" y="4386072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card-icon-bg-834"/>
          <p:cNvSpPr/>
          <p:nvPr/>
        </p:nvSpPr>
        <p:spPr>
          <a:xfrm>
            <a:off x="3358896" y="456895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card-badge-835"/>
          <p:cNvSpPr txBox="1"/>
          <p:nvPr/>
        </p:nvSpPr>
        <p:spPr>
          <a:xfrm>
            <a:off x="3358896" y="4568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A.9</a:t>
            </a:r>
            <a:endParaRPr lang="en-US" sz="1200" dirty="0"/>
          </a:p>
        </p:txBody>
      </p:sp>
      <p:sp>
        <p:nvSpPr>
          <p:cNvPr id="35" name="card-title-836"/>
          <p:cNvSpPr txBox="1"/>
          <p:nvPr/>
        </p:nvSpPr>
        <p:spPr>
          <a:xfrm>
            <a:off x="4044696" y="4550664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系統之使用｜3 項</a:t>
            </a:r>
            <a:endParaRPr lang="en-US" sz="1800" dirty="0"/>
          </a:p>
        </p:txBody>
      </p:sp>
      <p:sp>
        <p:nvSpPr>
          <p:cNvPr id="36" name="card-837"/>
          <p:cNvSpPr/>
          <p:nvPr/>
        </p:nvSpPr>
        <p:spPr>
          <a:xfrm>
            <a:off x="5803392" y="4386072"/>
            <a:ext cx="2426208" cy="1328928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card-icon-bg-838"/>
          <p:cNvSpPr/>
          <p:nvPr/>
        </p:nvSpPr>
        <p:spPr>
          <a:xfrm>
            <a:off x="5986272" y="4568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card-badge-839"/>
          <p:cNvSpPr txBox="1"/>
          <p:nvPr/>
        </p:nvSpPr>
        <p:spPr>
          <a:xfrm>
            <a:off x="5986272" y="4568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A.10</a:t>
            </a:r>
            <a:endParaRPr lang="en-US" sz="1200" dirty="0"/>
          </a:p>
        </p:txBody>
      </p:sp>
      <p:sp>
        <p:nvSpPr>
          <p:cNvPr id="39" name="card-title-840"/>
          <p:cNvSpPr txBox="1"/>
          <p:nvPr/>
        </p:nvSpPr>
        <p:spPr>
          <a:xfrm>
            <a:off x="6672072" y="4550664"/>
            <a:ext cx="142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第三方與客戶｜3 項</a:t>
            </a:r>
            <a:endParaRPr lang="en-US" sz="1800" dirty="0"/>
          </a:p>
        </p:txBody>
      </p:sp>
      <p:sp>
        <p:nvSpPr>
          <p:cNvPr id="40" name="stat-num-841"/>
          <p:cNvSpPr txBox="1"/>
          <p:nvPr/>
        </p:nvSpPr>
        <p:spPr>
          <a:xfrm>
            <a:off x="8503920" y="1554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38</a:t>
            </a:r>
            <a:endParaRPr lang="en-US" sz="5400" dirty="0"/>
          </a:p>
        </p:txBody>
      </p:sp>
      <p:sp>
        <p:nvSpPr>
          <p:cNvPr id="41" name="stat-label-842"/>
          <p:cNvSpPr txBox="1"/>
          <p:nvPr/>
        </p:nvSpPr>
        <p:spPr>
          <a:xfrm>
            <a:off x="850392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B"/>
                </a:solidFill>
              </a:rPr>
              <a:t>項控制措施</a:t>
            </a:r>
            <a:endParaRPr lang="en-US" sz="1400" dirty="0"/>
          </a:p>
        </p:txBody>
      </p:sp>
      <p:sp>
        <p:nvSpPr>
          <p:cNvPr id="42" name="stat-num-843"/>
          <p:cNvSpPr txBox="1"/>
          <p:nvPr/>
        </p:nvSpPr>
        <p:spPr>
          <a:xfrm>
            <a:off x="850392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</a:t>
            </a:r>
            <a:endParaRPr lang="en-US" sz="5400" dirty="0"/>
          </a:p>
        </p:txBody>
      </p:sp>
      <p:sp>
        <p:nvSpPr>
          <p:cNvPr id="43" name="stat-label-844"/>
          <p:cNvSpPr txBox="1"/>
          <p:nvPr/>
        </p:nvSpPr>
        <p:spPr>
          <a:xfrm>
            <a:off x="850392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B"/>
                </a:solidFill>
              </a:rPr>
              <a:t>個控制目標領域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A.2 政策、A.3 內部組織、A.4 資源</a:t>
            </a:r>
            <a:endParaRPr lang="en-US" sz="3000" dirty="0"/>
          </a:p>
        </p:txBody>
      </p:sp>
      <p:sp>
        <p:nvSpPr>
          <p:cNvPr id="4" name="card-845"/>
          <p:cNvSpPr/>
          <p:nvPr/>
        </p:nvSpPr>
        <p:spPr>
          <a:xfrm>
            <a:off x="548640" y="1325880"/>
            <a:ext cx="3794760" cy="40233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846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847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A.3.3</a:t>
            </a:r>
            <a:endParaRPr lang="en-US" sz="1200" dirty="0"/>
          </a:p>
        </p:txBody>
      </p:sp>
      <p:sp>
        <p:nvSpPr>
          <p:cNvPr id="7" name="card-title-848"/>
          <p:cNvSpPr txBox="1"/>
          <p:nvPr/>
        </p:nvSpPr>
        <p:spPr>
          <a:xfrm>
            <a:off x="1417320" y="149047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關注事項通報機制</a:t>
            </a:r>
            <a:endParaRPr lang="en-US" sz="1900" dirty="0"/>
          </a:p>
        </p:txBody>
      </p:sp>
      <p:sp>
        <p:nvSpPr>
          <p:cNvPr id="8" name="card-text-849"/>
          <p:cNvSpPr txBox="1"/>
          <p:nvPr/>
        </p:nvSpPr>
        <p:spPr>
          <a:xfrm>
            <a:off x="777240" y="21945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保密或匿名選項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推廣給員工及契約人員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具資格人員負責、有調查權限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及時升級、防止報復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在適當時間內回應</a:t>
            </a:r>
            <a:endParaRPr lang="en-US" sz="1700" dirty="0"/>
          </a:p>
        </p:txBody>
      </p:sp>
      <p:sp>
        <p:nvSpPr>
          <p:cNvPr id="9" name="card-850"/>
          <p:cNvSpPr/>
          <p:nvPr/>
        </p:nvSpPr>
        <p:spPr>
          <a:xfrm>
            <a:off x="4617720" y="1325880"/>
            <a:ext cx="3794760" cy="40233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851"/>
          <p:cNvSpPr/>
          <p:nvPr/>
        </p:nvSpPr>
        <p:spPr>
          <a:xfrm>
            <a:off x="4800600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852"/>
          <p:cNvSpPr txBox="1"/>
          <p:nvPr/>
        </p:nvSpPr>
        <p:spPr>
          <a:xfrm>
            <a:off x="480060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A.4</a:t>
            </a:r>
            <a:endParaRPr lang="en-US" sz="1200" dirty="0"/>
          </a:p>
        </p:txBody>
      </p:sp>
      <p:sp>
        <p:nvSpPr>
          <p:cNvPr id="12" name="card-title-853"/>
          <p:cNvSpPr txBox="1"/>
          <p:nvPr/>
        </p:nvSpPr>
        <p:spPr>
          <a:xfrm>
            <a:off x="5486400" y="149047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AI 系統資源文件化</a:t>
            </a:r>
            <a:endParaRPr lang="en-US" sz="1900" dirty="0"/>
          </a:p>
        </p:txBody>
      </p:sp>
      <p:sp>
        <p:nvSpPr>
          <p:cNvPr id="13" name="card-text-854"/>
          <p:cNvSpPr txBox="1"/>
          <p:nvPr/>
        </p:nvSpPr>
        <p:spPr>
          <a:xfrm>
            <a:off x="4846320" y="21945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A.4.3 資料資源：來源、更新日、分類、標記、偏差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A.4.4 工具資源：演算法、模型、工具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A.4.5 系統與運算：地端／雲端／邊緣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A.4.6 人力資源與能力</a:t>
            </a:r>
            <a:endParaRPr lang="en-US" sz="1700" dirty="0"/>
          </a:p>
        </p:txBody>
      </p:sp>
      <p:pic>
        <p:nvPicPr>
          <p:cNvPr id="14" name="arale-avatar-855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714500"/>
            <a:ext cx="868680" cy="868680"/>
          </a:xfrm>
          <a:prstGeom prst="rect">
            <a:avLst/>
          </a:prstGeom>
        </p:spPr>
      </p:pic>
      <p:sp>
        <p:nvSpPr>
          <p:cNvPr id="15" name="bubble-856"/>
          <p:cNvSpPr/>
          <p:nvPr/>
        </p:nvSpPr>
        <p:spPr>
          <a:xfrm>
            <a:off x="9646920" y="1371600"/>
            <a:ext cx="1993392" cy="1554480"/>
          </a:xfrm>
          <a:prstGeom prst="roundRect">
            <a:avLst>
              <a:gd name="adj" fmla="val 7059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bubble-text-857"/>
          <p:cNvSpPr txBox="1"/>
          <p:nvPr/>
        </p:nvSpPr>
        <p:spPr>
          <a:xfrm>
            <a:off x="9784080" y="137160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員工發現 AI 怪怪的，要跟誰說？</a:t>
            </a:r>
            <a:endParaRPr lang="en-US" sz="1600" dirty="0"/>
          </a:p>
        </p:txBody>
      </p:sp>
      <p:pic>
        <p:nvPicPr>
          <p:cNvPr id="17" name="allan-avatar-858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34740"/>
            <a:ext cx="868680" cy="868680"/>
          </a:xfrm>
          <a:prstGeom prst="rect">
            <a:avLst/>
          </a:prstGeom>
        </p:spPr>
      </p:pic>
      <p:sp>
        <p:nvSpPr>
          <p:cNvPr id="18" name="bubble-859"/>
          <p:cNvSpPr/>
          <p:nvPr/>
        </p:nvSpPr>
        <p:spPr>
          <a:xfrm>
            <a:off x="9646920" y="3154680"/>
            <a:ext cx="1993392" cy="182880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bubble-text-860"/>
          <p:cNvSpPr txBox="1"/>
          <p:nvPr/>
        </p:nvSpPr>
        <p:spPr>
          <a:xfrm>
            <a:off x="9784080" y="315468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A.3.3 就是要回答這題，而且可以匿名、不能被報復。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A.5 衝擊評鑑 與 A.6.1 開發的管理指導</a:t>
            </a:r>
            <a:endParaRPr lang="en-US" sz="3000" dirty="0"/>
          </a:p>
        </p:txBody>
      </p:sp>
      <p:sp>
        <p:nvSpPr>
          <p:cNvPr id="4" name="card-861"/>
          <p:cNvSpPr/>
          <p:nvPr/>
        </p:nvSpPr>
        <p:spPr>
          <a:xfrm>
            <a:off x="548640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862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863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A.5</a:t>
            </a:r>
            <a:endParaRPr lang="en-US" sz="1200" dirty="0"/>
          </a:p>
        </p:txBody>
      </p:sp>
      <p:sp>
        <p:nvSpPr>
          <p:cNvPr id="7" name="card-title-864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衝擊評鑑 4 項</a:t>
            </a:r>
            <a:endParaRPr lang="en-US" sz="1900" dirty="0"/>
          </a:p>
        </p:txBody>
      </p:sp>
      <p:sp>
        <p:nvSpPr>
          <p:cNvPr id="8" name="card-text-865"/>
          <p:cNvSpPr txBox="1"/>
          <p:nvPr/>
        </p:nvSpPr>
        <p:spPr>
          <a:xfrm>
            <a:off x="777240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A.5.2 建立流程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A.5.3 文件化並留存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A.5.4 對個人或群體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A.5.5 對社會</a:t>
            </a:r>
            <a:endParaRPr lang="en-US" sz="1700" dirty="0"/>
          </a:p>
        </p:txBody>
      </p:sp>
      <p:sp>
        <p:nvSpPr>
          <p:cNvPr id="9" name="card-866"/>
          <p:cNvSpPr/>
          <p:nvPr/>
        </p:nvSpPr>
        <p:spPr>
          <a:xfrm>
            <a:off x="4338218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867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868"/>
          <p:cNvSpPr txBox="1"/>
          <p:nvPr/>
        </p:nvSpPr>
        <p:spPr>
          <a:xfrm>
            <a:off x="452109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A.6.1.2</a:t>
            </a:r>
            <a:endParaRPr lang="en-US" sz="1200" dirty="0"/>
          </a:p>
        </p:txBody>
      </p:sp>
      <p:sp>
        <p:nvSpPr>
          <p:cNvPr id="12" name="card-title-869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負責任開發目標</a:t>
            </a:r>
            <a:endParaRPr lang="en-US" sz="1900" dirty="0"/>
          </a:p>
        </p:txBody>
      </p:sp>
      <p:sp>
        <p:nvSpPr>
          <p:cNvPr id="13" name="card-text-870"/>
          <p:cNvSpPr txBox="1"/>
          <p:nvPr/>
        </p:nvSpPr>
        <p:spPr>
          <a:xfrm>
            <a:off x="4566818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例：把「公平性」納入需求、資料、訓練、驗證各階段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要求使用特定偏差測試工具</a:t>
            </a:r>
            <a:endParaRPr lang="en-US" sz="1700" dirty="0"/>
          </a:p>
        </p:txBody>
      </p:sp>
      <p:sp>
        <p:nvSpPr>
          <p:cNvPr id="14" name="card-871"/>
          <p:cNvSpPr/>
          <p:nvPr/>
        </p:nvSpPr>
        <p:spPr>
          <a:xfrm>
            <a:off x="8127797" y="132588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872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873"/>
          <p:cNvSpPr txBox="1"/>
          <p:nvPr/>
        </p:nvSpPr>
        <p:spPr>
          <a:xfrm>
            <a:off x="8310677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A.6.1.3</a:t>
            </a:r>
            <a:endParaRPr lang="en-US" sz="1200" dirty="0"/>
          </a:p>
        </p:txBody>
      </p:sp>
      <p:sp>
        <p:nvSpPr>
          <p:cNvPr id="17" name="card-title-874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負責任設計開發流程</a:t>
            </a:r>
            <a:endParaRPr lang="en-US" sz="1900" dirty="0"/>
          </a:p>
        </p:txBody>
      </p:sp>
      <p:sp>
        <p:nvSpPr>
          <p:cNvPr id="18" name="card-text-875"/>
          <p:cNvSpPr txBox="1"/>
          <p:nvPr/>
        </p:nvSpPr>
        <p:spPr>
          <a:xfrm>
            <a:off x="8356397" y="2194560"/>
            <a:ext cx="31037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生命週期階段、測試要求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人為監管、衝擊評鑑時點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訓練資料規則、發布準則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核准簽核、變更控制</a:t>
            </a:r>
            <a:endParaRPr lang="en-US" sz="1700" dirty="0"/>
          </a:p>
        </p:txBody>
      </p:sp>
      <p:pic>
        <p:nvPicPr>
          <p:cNvPr id="19" name="allan-avatar-876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89220"/>
            <a:ext cx="868680" cy="868680"/>
          </a:xfrm>
          <a:prstGeom prst="rect">
            <a:avLst/>
          </a:prstGeom>
        </p:spPr>
      </p:pic>
      <p:sp>
        <p:nvSpPr>
          <p:cNvPr id="20" name="bubble-877"/>
          <p:cNvSpPr/>
          <p:nvPr/>
        </p:nvSpPr>
        <p:spPr>
          <a:xfrm>
            <a:off x="1508760" y="525780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bubble-text-878"/>
          <p:cNvSpPr txBox="1"/>
          <p:nvPr/>
        </p:nvSpPr>
        <p:spPr>
          <a:xfrm>
            <a:off x="1645920" y="525780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目標要「整合進流程」：只寫在政策裡、開發流程沒有對應關卡，就是缺口。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A.6.2 AI 系統生命週期：七個控制點</a:t>
            </a:r>
            <a:endParaRPr lang="en-US" sz="3000" dirty="0"/>
          </a:p>
        </p:txBody>
      </p:sp>
      <p:sp>
        <p:nvSpPr>
          <p:cNvPr id="4" name="flow-head-879"/>
          <p:cNvSpPr/>
          <p:nvPr/>
        </p:nvSpPr>
        <p:spPr>
          <a:xfrm>
            <a:off x="548640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880"/>
          <p:cNvSpPr txBox="1"/>
          <p:nvPr/>
        </p:nvSpPr>
        <p:spPr>
          <a:xfrm>
            <a:off x="548640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A.6.2.2</a:t>
            </a:r>
            <a:endParaRPr lang="en-US" sz="1500" dirty="0"/>
          </a:p>
        </p:txBody>
      </p:sp>
      <p:sp>
        <p:nvSpPr>
          <p:cNvPr id="6" name="flow-body-881"/>
          <p:cNvSpPr/>
          <p:nvPr/>
        </p:nvSpPr>
        <p:spPr>
          <a:xfrm>
            <a:off x="548640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882"/>
          <p:cNvSpPr txBox="1"/>
          <p:nvPr/>
        </p:nvSpPr>
        <p:spPr>
          <a:xfrm>
            <a:off x="658368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要求與規範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為何開發、資料要求</a:t>
            </a:r>
            <a:endParaRPr lang="en-US" sz="1600" dirty="0"/>
          </a:p>
        </p:txBody>
      </p:sp>
      <p:sp>
        <p:nvSpPr>
          <p:cNvPr id="8" name="flow-arrow-883"/>
          <p:cNvSpPr/>
          <p:nvPr/>
        </p:nvSpPr>
        <p:spPr>
          <a:xfrm rot="5400000">
            <a:off x="2033626" y="1508760"/>
            <a:ext cx="8229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884"/>
          <p:cNvSpPr/>
          <p:nvPr/>
        </p:nvSpPr>
        <p:spPr>
          <a:xfrm>
            <a:off x="2157070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885"/>
          <p:cNvSpPr txBox="1"/>
          <p:nvPr/>
        </p:nvSpPr>
        <p:spPr>
          <a:xfrm>
            <a:off x="2157070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A.6.2.3</a:t>
            </a:r>
            <a:endParaRPr lang="en-US" sz="1500" dirty="0"/>
          </a:p>
        </p:txBody>
      </p:sp>
      <p:sp>
        <p:nvSpPr>
          <p:cNvPr id="11" name="flow-body-886"/>
          <p:cNvSpPr/>
          <p:nvPr/>
        </p:nvSpPr>
        <p:spPr>
          <a:xfrm>
            <a:off x="2157070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887"/>
          <p:cNvSpPr txBox="1"/>
          <p:nvPr/>
        </p:nvSpPr>
        <p:spPr>
          <a:xfrm>
            <a:off x="2266798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設計開發文件化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含 AI 資安威脅</a:t>
            </a:r>
            <a:endParaRPr lang="en-US" sz="1600" dirty="0"/>
          </a:p>
        </p:txBody>
      </p:sp>
      <p:sp>
        <p:nvSpPr>
          <p:cNvPr id="13" name="flow-arrow-888"/>
          <p:cNvSpPr/>
          <p:nvPr/>
        </p:nvSpPr>
        <p:spPr>
          <a:xfrm rot="5400000">
            <a:off x="3642055" y="1508760"/>
            <a:ext cx="8229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889"/>
          <p:cNvSpPr/>
          <p:nvPr/>
        </p:nvSpPr>
        <p:spPr>
          <a:xfrm>
            <a:off x="3765499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890"/>
          <p:cNvSpPr txBox="1"/>
          <p:nvPr/>
        </p:nvSpPr>
        <p:spPr>
          <a:xfrm>
            <a:off x="3765499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A.6.2.4</a:t>
            </a:r>
            <a:endParaRPr lang="en-US" sz="1500" dirty="0"/>
          </a:p>
        </p:txBody>
      </p:sp>
      <p:sp>
        <p:nvSpPr>
          <p:cNvPr id="16" name="flow-body-891"/>
          <p:cNvSpPr/>
          <p:nvPr/>
        </p:nvSpPr>
        <p:spPr>
          <a:xfrm>
            <a:off x="3765499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892"/>
          <p:cNvSpPr txBox="1"/>
          <p:nvPr/>
        </p:nvSpPr>
        <p:spPr>
          <a:xfrm>
            <a:off x="3875227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驗證與確認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評估準則、錯誤率</a:t>
            </a:r>
            <a:endParaRPr lang="en-US" sz="1600" dirty="0"/>
          </a:p>
        </p:txBody>
      </p:sp>
      <p:sp>
        <p:nvSpPr>
          <p:cNvPr id="18" name="flow-arrow-893"/>
          <p:cNvSpPr/>
          <p:nvPr/>
        </p:nvSpPr>
        <p:spPr>
          <a:xfrm rot="5400000">
            <a:off x="5250485" y="1508760"/>
            <a:ext cx="8229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894"/>
          <p:cNvSpPr/>
          <p:nvPr/>
        </p:nvSpPr>
        <p:spPr>
          <a:xfrm>
            <a:off x="5373929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895"/>
          <p:cNvSpPr txBox="1"/>
          <p:nvPr/>
        </p:nvSpPr>
        <p:spPr>
          <a:xfrm>
            <a:off x="5373929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A.6.2.5</a:t>
            </a:r>
            <a:endParaRPr lang="en-US" sz="1500" dirty="0"/>
          </a:p>
        </p:txBody>
      </p:sp>
      <p:sp>
        <p:nvSpPr>
          <p:cNvPr id="21" name="flow-body-896"/>
          <p:cNvSpPr/>
          <p:nvPr/>
        </p:nvSpPr>
        <p:spPr>
          <a:xfrm>
            <a:off x="5373929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897"/>
          <p:cNvSpPr txBox="1"/>
          <p:nvPr/>
        </p:nvSpPr>
        <p:spPr>
          <a:xfrm>
            <a:off x="5483657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部署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發布準則與簽核</a:t>
            </a:r>
            <a:endParaRPr lang="en-US" sz="1600" dirty="0"/>
          </a:p>
        </p:txBody>
      </p:sp>
      <p:sp>
        <p:nvSpPr>
          <p:cNvPr id="23" name="flow-arrow-898"/>
          <p:cNvSpPr/>
          <p:nvPr/>
        </p:nvSpPr>
        <p:spPr>
          <a:xfrm rot="5400000">
            <a:off x="6858914" y="1508760"/>
            <a:ext cx="8229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899"/>
          <p:cNvSpPr/>
          <p:nvPr/>
        </p:nvSpPr>
        <p:spPr>
          <a:xfrm>
            <a:off x="6982358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900"/>
          <p:cNvSpPr txBox="1"/>
          <p:nvPr/>
        </p:nvSpPr>
        <p:spPr>
          <a:xfrm>
            <a:off x="6982358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A.6.2.6</a:t>
            </a:r>
            <a:endParaRPr lang="en-US" sz="1500" dirty="0"/>
          </a:p>
        </p:txBody>
      </p:sp>
      <p:sp>
        <p:nvSpPr>
          <p:cNvPr id="26" name="flow-body-901"/>
          <p:cNvSpPr/>
          <p:nvPr/>
        </p:nvSpPr>
        <p:spPr>
          <a:xfrm>
            <a:off x="6982358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902"/>
          <p:cNvSpPr txBox="1"/>
          <p:nvPr/>
        </p:nvSpPr>
        <p:spPr>
          <a:xfrm>
            <a:off x="7092086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運作與監控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漂移、維修、更新</a:t>
            </a:r>
            <a:endParaRPr lang="en-US" sz="1600" dirty="0"/>
          </a:p>
        </p:txBody>
      </p:sp>
      <p:sp>
        <p:nvSpPr>
          <p:cNvPr id="28" name="flow-arrow-903"/>
          <p:cNvSpPr/>
          <p:nvPr/>
        </p:nvSpPr>
        <p:spPr>
          <a:xfrm rot="5400000">
            <a:off x="8467344" y="1508760"/>
            <a:ext cx="8229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9" name="flow-head-904"/>
          <p:cNvSpPr/>
          <p:nvPr/>
        </p:nvSpPr>
        <p:spPr>
          <a:xfrm>
            <a:off x="8590788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flow-head-text-905"/>
          <p:cNvSpPr txBox="1"/>
          <p:nvPr/>
        </p:nvSpPr>
        <p:spPr>
          <a:xfrm>
            <a:off x="8590788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A.6.2.7</a:t>
            </a:r>
            <a:endParaRPr lang="en-US" sz="1500" dirty="0"/>
          </a:p>
        </p:txBody>
      </p:sp>
      <p:sp>
        <p:nvSpPr>
          <p:cNvPr id="31" name="flow-body-906"/>
          <p:cNvSpPr/>
          <p:nvPr/>
        </p:nvSpPr>
        <p:spPr>
          <a:xfrm>
            <a:off x="8590788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low-body-text-907"/>
          <p:cNvSpPr txBox="1"/>
          <p:nvPr/>
        </p:nvSpPr>
        <p:spPr>
          <a:xfrm>
            <a:off x="8700516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技術文件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依關注方提供</a:t>
            </a:r>
            <a:endParaRPr lang="en-US" sz="1600" dirty="0"/>
          </a:p>
        </p:txBody>
      </p:sp>
      <p:sp>
        <p:nvSpPr>
          <p:cNvPr id="33" name="flow-arrow-908"/>
          <p:cNvSpPr/>
          <p:nvPr/>
        </p:nvSpPr>
        <p:spPr>
          <a:xfrm rot="5400000">
            <a:off x="10075774" y="1508760"/>
            <a:ext cx="8229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34" name="flow-head-909"/>
          <p:cNvSpPr/>
          <p:nvPr/>
        </p:nvSpPr>
        <p:spPr>
          <a:xfrm>
            <a:off x="10199218" y="1325880"/>
            <a:ext cx="1443838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flow-head-text-910"/>
          <p:cNvSpPr txBox="1"/>
          <p:nvPr/>
        </p:nvSpPr>
        <p:spPr>
          <a:xfrm>
            <a:off x="10199218" y="1325880"/>
            <a:ext cx="144383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A.6.2.8</a:t>
            </a:r>
            <a:endParaRPr lang="en-US" sz="1500" dirty="0"/>
          </a:p>
        </p:txBody>
      </p:sp>
      <p:sp>
        <p:nvSpPr>
          <p:cNvPr id="36" name="flow-body-911"/>
          <p:cNvSpPr/>
          <p:nvPr/>
        </p:nvSpPr>
        <p:spPr>
          <a:xfrm>
            <a:off x="10199218" y="1984248"/>
            <a:ext cx="1443838" cy="1627632"/>
          </a:xfrm>
          <a:prstGeom prst="roundRect">
            <a:avLst>
              <a:gd name="adj" fmla="val 50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flow-body-text-912"/>
          <p:cNvSpPr txBox="1"/>
          <p:nvPr/>
        </p:nvSpPr>
        <p:spPr>
          <a:xfrm>
            <a:off x="10308946" y="2075688"/>
            <a:ext cx="122438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事件日誌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至少使用時啟用</a:t>
            </a:r>
            <a:endParaRPr lang="en-US" sz="1600" dirty="0"/>
          </a:p>
        </p:txBody>
      </p:sp>
      <p:graphicFrame>
        <p:nvGraphicFramePr>
          <p:cNvPr id="47" name="table-9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7498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發布準則範例（虛擬：反詐騙模型）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門檻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測試集召回率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組織訂定之值，且不低於現行規則引擎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各客群誤報率差異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在可接受範圍內並經風控主管審查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衝擊評鑑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已更新並經核准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回復計畫（rollback）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已演練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39" name="arale-avatar-914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886200"/>
            <a:ext cx="868680" cy="868680"/>
          </a:xfrm>
          <a:prstGeom prst="rect">
            <a:avLst/>
          </a:prstGeom>
        </p:spPr>
      </p:pic>
      <p:sp>
        <p:nvSpPr>
          <p:cNvPr id="40" name="bubble-915"/>
          <p:cNvSpPr/>
          <p:nvPr/>
        </p:nvSpPr>
        <p:spPr>
          <a:xfrm>
            <a:off x="9281160" y="3931920"/>
            <a:ext cx="2359152" cy="777240"/>
          </a:xfrm>
          <a:prstGeom prst="roundRect">
            <a:avLst>
              <a:gd name="adj" fmla="val 14118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1" name="bubble-text-916"/>
          <p:cNvSpPr txBox="1"/>
          <p:nvPr/>
        </p:nvSpPr>
        <p:spPr>
          <a:xfrm>
            <a:off x="9418320" y="393192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日誌要記什麼？</a:t>
            </a:r>
            <a:endParaRPr lang="en-US" sz="1600" dirty="0"/>
          </a:p>
        </p:txBody>
      </p:sp>
      <p:pic>
        <p:nvPicPr>
          <p:cNvPr id="42" name="allan-avatar-917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937760"/>
            <a:ext cx="868680" cy="868680"/>
          </a:xfrm>
          <a:prstGeom prst="rect">
            <a:avLst/>
          </a:prstGeom>
        </p:spPr>
      </p:pic>
      <p:sp>
        <p:nvSpPr>
          <p:cNvPr id="43" name="bubble-918"/>
          <p:cNvSpPr/>
          <p:nvPr/>
        </p:nvSpPr>
        <p:spPr>
          <a:xfrm>
            <a:off x="9281160" y="4846320"/>
            <a:ext cx="2359152" cy="1051560"/>
          </a:xfrm>
          <a:prstGeom prst="roundRect">
            <a:avLst>
              <a:gd name="adj" fmla="val 10435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4" name="bubble-text-919"/>
          <p:cNvSpPr txBox="1"/>
          <p:nvPr/>
        </p:nvSpPr>
        <p:spPr>
          <a:xfrm>
            <a:off x="9418320" y="484632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時間、輸入資料、輸出、超出範圍的情況，並依留存政策保存。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A.7 AI 系統之資料：5 項控制</a:t>
            </a:r>
            <a:endParaRPr lang="en-US" sz="3000" dirty="0"/>
          </a:p>
        </p:txBody>
      </p:sp>
      <p:sp>
        <p:nvSpPr>
          <p:cNvPr id="4" name="card-920"/>
          <p:cNvSpPr/>
          <p:nvPr/>
        </p:nvSpPr>
        <p:spPr>
          <a:xfrm>
            <a:off x="548640" y="1325880"/>
            <a:ext cx="2072579" cy="21945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921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922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7.2</a:t>
            </a:r>
            <a:endParaRPr lang="en-US" sz="1200" dirty="0"/>
          </a:p>
        </p:txBody>
      </p:sp>
      <p:sp>
        <p:nvSpPr>
          <p:cNvPr id="7" name="card-title-923"/>
          <p:cNvSpPr txBox="1"/>
          <p:nvPr/>
        </p:nvSpPr>
        <p:spPr>
          <a:xfrm>
            <a:off x="1417320" y="1490472"/>
            <a:ext cx="10667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資料管理流程</a:t>
            </a:r>
            <a:endParaRPr lang="en-US" sz="1700" dirty="0"/>
          </a:p>
        </p:txBody>
      </p:sp>
      <p:sp>
        <p:nvSpPr>
          <p:cNvPr id="8" name="card-text-924"/>
          <p:cNvSpPr txBox="1"/>
          <p:nvPr/>
        </p:nvSpPr>
        <p:spPr>
          <a:xfrm>
            <a:off x="777240" y="2194560"/>
            <a:ext cx="16610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隱私資安、代表性、準確完整</a:t>
            </a:r>
            <a:endParaRPr lang="en-US" sz="1700" dirty="0"/>
          </a:p>
        </p:txBody>
      </p:sp>
      <p:sp>
        <p:nvSpPr>
          <p:cNvPr id="9" name="card-925"/>
          <p:cNvSpPr/>
          <p:nvPr/>
        </p:nvSpPr>
        <p:spPr>
          <a:xfrm>
            <a:off x="2804099" y="1325880"/>
            <a:ext cx="2072579" cy="21945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926"/>
          <p:cNvSpPr/>
          <p:nvPr/>
        </p:nvSpPr>
        <p:spPr>
          <a:xfrm>
            <a:off x="2986979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927"/>
          <p:cNvSpPr txBox="1"/>
          <p:nvPr/>
        </p:nvSpPr>
        <p:spPr>
          <a:xfrm>
            <a:off x="2986979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7.3</a:t>
            </a:r>
            <a:endParaRPr lang="en-US" sz="1200" dirty="0"/>
          </a:p>
        </p:txBody>
      </p:sp>
      <p:sp>
        <p:nvSpPr>
          <p:cNvPr id="12" name="card-title-928"/>
          <p:cNvSpPr txBox="1"/>
          <p:nvPr/>
        </p:nvSpPr>
        <p:spPr>
          <a:xfrm>
            <a:off x="3672779" y="1490472"/>
            <a:ext cx="10667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資料之獲取</a:t>
            </a:r>
            <a:endParaRPr lang="en-US" sz="1700" dirty="0"/>
          </a:p>
        </p:txBody>
      </p:sp>
      <p:sp>
        <p:nvSpPr>
          <p:cNvPr id="13" name="card-text-929"/>
          <p:cNvSpPr txBox="1"/>
          <p:nvPr/>
        </p:nvSpPr>
        <p:spPr>
          <a:xfrm>
            <a:off x="3032699" y="2194560"/>
            <a:ext cx="16610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來源、權利（PII、版權）、偏差</a:t>
            </a:r>
            <a:endParaRPr lang="en-US" sz="1700" dirty="0"/>
          </a:p>
        </p:txBody>
      </p:sp>
      <p:sp>
        <p:nvSpPr>
          <p:cNvPr id="14" name="card-930"/>
          <p:cNvSpPr/>
          <p:nvPr/>
        </p:nvSpPr>
        <p:spPr>
          <a:xfrm>
            <a:off x="5059558" y="1325880"/>
            <a:ext cx="2072579" cy="21945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931"/>
          <p:cNvSpPr/>
          <p:nvPr/>
        </p:nvSpPr>
        <p:spPr>
          <a:xfrm>
            <a:off x="5242438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932"/>
          <p:cNvSpPr txBox="1"/>
          <p:nvPr/>
        </p:nvSpPr>
        <p:spPr>
          <a:xfrm>
            <a:off x="524243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7.4</a:t>
            </a:r>
            <a:endParaRPr lang="en-US" sz="1200" dirty="0"/>
          </a:p>
        </p:txBody>
      </p:sp>
      <p:sp>
        <p:nvSpPr>
          <p:cNvPr id="17" name="card-title-933"/>
          <p:cNvSpPr txBox="1"/>
          <p:nvPr/>
        </p:nvSpPr>
        <p:spPr>
          <a:xfrm>
            <a:off x="5928238" y="1490472"/>
            <a:ext cx="10667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資料品質</a:t>
            </a:r>
            <a:endParaRPr lang="en-US" sz="1700" dirty="0"/>
          </a:p>
        </p:txBody>
      </p:sp>
      <p:sp>
        <p:nvSpPr>
          <p:cNvPr id="18" name="card-text-934"/>
          <p:cNvSpPr txBox="1"/>
          <p:nvPr/>
        </p:nvSpPr>
        <p:spPr>
          <a:xfrm>
            <a:off x="5288158" y="2194560"/>
            <a:ext cx="16610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定義要求並確保符合</a:t>
            </a:r>
            <a:endParaRPr lang="en-US" sz="1700" dirty="0"/>
          </a:p>
        </p:txBody>
      </p:sp>
      <p:sp>
        <p:nvSpPr>
          <p:cNvPr id="19" name="card-935"/>
          <p:cNvSpPr/>
          <p:nvPr/>
        </p:nvSpPr>
        <p:spPr>
          <a:xfrm>
            <a:off x="7315017" y="1325880"/>
            <a:ext cx="2072579" cy="21945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936"/>
          <p:cNvSpPr/>
          <p:nvPr/>
        </p:nvSpPr>
        <p:spPr>
          <a:xfrm>
            <a:off x="7497897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ard-badge-937"/>
          <p:cNvSpPr txBox="1"/>
          <p:nvPr/>
        </p:nvSpPr>
        <p:spPr>
          <a:xfrm>
            <a:off x="7497897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7.5</a:t>
            </a:r>
            <a:endParaRPr lang="en-US" sz="1200" dirty="0"/>
          </a:p>
        </p:txBody>
      </p:sp>
      <p:sp>
        <p:nvSpPr>
          <p:cNvPr id="22" name="card-title-938"/>
          <p:cNvSpPr txBox="1"/>
          <p:nvPr/>
        </p:nvSpPr>
        <p:spPr>
          <a:xfrm>
            <a:off x="8183697" y="1490472"/>
            <a:ext cx="10667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資料來歷</a:t>
            </a:r>
            <a:endParaRPr lang="en-US" sz="1700" dirty="0"/>
          </a:p>
        </p:txBody>
      </p:sp>
      <p:sp>
        <p:nvSpPr>
          <p:cNvPr id="23" name="card-text-939"/>
          <p:cNvSpPr txBox="1"/>
          <p:nvPr/>
        </p:nvSpPr>
        <p:spPr>
          <a:xfrm>
            <a:off x="7543617" y="2194560"/>
            <a:ext cx="16610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建立、更新、轉移的紀錄</a:t>
            </a:r>
            <a:endParaRPr lang="en-US" sz="1700" dirty="0"/>
          </a:p>
        </p:txBody>
      </p:sp>
      <p:sp>
        <p:nvSpPr>
          <p:cNvPr id="24" name="card-940"/>
          <p:cNvSpPr/>
          <p:nvPr/>
        </p:nvSpPr>
        <p:spPr>
          <a:xfrm>
            <a:off x="9570476" y="1325880"/>
            <a:ext cx="2072579" cy="21945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941"/>
          <p:cNvSpPr/>
          <p:nvPr/>
        </p:nvSpPr>
        <p:spPr>
          <a:xfrm>
            <a:off x="9753356" y="150876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card-badge-942"/>
          <p:cNvSpPr txBox="1"/>
          <p:nvPr/>
        </p:nvSpPr>
        <p:spPr>
          <a:xfrm>
            <a:off x="9753356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7.6</a:t>
            </a:r>
            <a:endParaRPr lang="en-US" sz="1200" dirty="0"/>
          </a:p>
        </p:txBody>
      </p:sp>
      <p:sp>
        <p:nvSpPr>
          <p:cNvPr id="27" name="card-title-943"/>
          <p:cNvSpPr txBox="1"/>
          <p:nvPr/>
        </p:nvSpPr>
        <p:spPr>
          <a:xfrm>
            <a:off x="10439156" y="1490472"/>
            <a:ext cx="10667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資料準備</a:t>
            </a:r>
            <a:endParaRPr lang="en-US" sz="1700" dirty="0"/>
          </a:p>
        </p:txBody>
      </p:sp>
      <p:sp>
        <p:nvSpPr>
          <p:cNvPr id="28" name="card-text-944"/>
          <p:cNvSpPr txBox="1"/>
          <p:nvPr/>
        </p:nvSpPr>
        <p:spPr>
          <a:xfrm>
            <a:off x="9799076" y="2194560"/>
            <a:ext cx="16610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清理、補缺、正規化、標記</a:t>
            </a:r>
            <a:endParaRPr lang="en-US" sz="1700" dirty="0"/>
          </a:p>
        </p:txBody>
      </p:sp>
      <p:graphicFrame>
        <p:nvGraphicFramePr>
          <p:cNvPr id="48" name="table-9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資料卡（Datasheet）建議欄位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說明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來源與取得方式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內部、外購、公開、合成；授權條件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分類與用途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訓練／驗證／測試／生產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品質與偏差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缺漏率、群體分佈、已知偏差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來歷與版本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建立、修改、轉移紀錄與版本號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30" name="allan-avatar-946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320540"/>
            <a:ext cx="868680" cy="868680"/>
          </a:xfrm>
          <a:prstGeom prst="rect">
            <a:avLst/>
          </a:prstGeom>
        </p:spPr>
      </p:pic>
      <p:sp>
        <p:nvSpPr>
          <p:cNvPr id="31" name="bubble-947"/>
          <p:cNvSpPr/>
          <p:nvPr/>
        </p:nvSpPr>
        <p:spPr>
          <a:xfrm>
            <a:off x="9281160" y="3840480"/>
            <a:ext cx="2359152" cy="182880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2" name="bubble-text-948"/>
          <p:cNvSpPr txBox="1"/>
          <p:nvPr/>
        </p:nvSpPr>
        <p:spPr>
          <a:xfrm>
            <a:off x="9418320" y="384048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稽核員最愛問：「這個模型用哪一版資料訓練的？拿來看看。」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A.8 關注方資訊 與 A.9 AI 系統之使用</a:t>
            </a:r>
            <a:endParaRPr lang="en-US" sz="3000" dirty="0"/>
          </a:p>
        </p:txBody>
      </p:sp>
      <p:sp>
        <p:nvSpPr>
          <p:cNvPr id="4" name="card-949"/>
          <p:cNvSpPr/>
          <p:nvPr/>
        </p:nvSpPr>
        <p:spPr>
          <a:xfrm>
            <a:off x="548640" y="1325880"/>
            <a:ext cx="3703320" cy="3840480"/>
          </a:xfrm>
          <a:prstGeom prst="roundRect">
            <a:avLst>
              <a:gd name="adj" fmla="val 24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950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951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A.8</a:t>
            </a:r>
            <a:endParaRPr lang="en-US" sz="1200" dirty="0"/>
          </a:p>
        </p:txBody>
      </p:sp>
      <p:sp>
        <p:nvSpPr>
          <p:cNvPr id="7" name="card-title-952"/>
          <p:cNvSpPr txBox="1"/>
          <p:nvPr/>
        </p:nvSpPr>
        <p:spPr>
          <a:xfrm>
            <a:off x="1417320" y="149047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讓關注方知道</a:t>
            </a:r>
            <a:endParaRPr lang="en-US" sz="1900" dirty="0"/>
          </a:p>
        </p:txBody>
      </p:sp>
      <p:sp>
        <p:nvSpPr>
          <p:cNvPr id="8" name="card-text-953"/>
          <p:cNvSpPr txBox="1"/>
          <p:nvPr/>
        </p:nvSpPr>
        <p:spPr>
          <a:xfrm>
            <a:off x="777240" y="21945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8.2 告知「正在與 AI 互動」與如何覆寫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8.3 提供外部通報不良衝擊管道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8.4 事故通知規劃（類型、時程、對象）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8.5 向主管機關等報告的義務</a:t>
            </a:r>
            <a:endParaRPr lang="en-US" sz="1700" dirty="0"/>
          </a:p>
        </p:txBody>
      </p:sp>
      <p:sp>
        <p:nvSpPr>
          <p:cNvPr id="9" name="card-954"/>
          <p:cNvSpPr/>
          <p:nvPr/>
        </p:nvSpPr>
        <p:spPr>
          <a:xfrm>
            <a:off x="4526280" y="1325880"/>
            <a:ext cx="3703320" cy="3840480"/>
          </a:xfrm>
          <a:prstGeom prst="roundRect">
            <a:avLst>
              <a:gd name="adj" fmla="val 24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955"/>
          <p:cNvSpPr/>
          <p:nvPr/>
        </p:nvSpPr>
        <p:spPr>
          <a:xfrm>
            <a:off x="4709160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956"/>
          <p:cNvSpPr txBox="1"/>
          <p:nvPr/>
        </p:nvSpPr>
        <p:spPr>
          <a:xfrm>
            <a:off x="470916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A.9</a:t>
            </a:r>
            <a:endParaRPr lang="en-US" sz="1200" dirty="0"/>
          </a:p>
        </p:txBody>
      </p:sp>
      <p:sp>
        <p:nvSpPr>
          <p:cNvPr id="12" name="card-title-957"/>
          <p:cNvSpPr txBox="1"/>
          <p:nvPr/>
        </p:nvSpPr>
        <p:spPr>
          <a:xfrm>
            <a:off x="5394960" y="149047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負責任地使用</a:t>
            </a:r>
            <a:endParaRPr lang="en-US" sz="1900" dirty="0"/>
          </a:p>
        </p:txBody>
      </p:sp>
      <p:sp>
        <p:nvSpPr>
          <p:cNvPr id="13" name="card-text-958"/>
          <p:cNvSpPr txBox="1"/>
          <p:nvPr/>
        </p:nvSpPr>
        <p:spPr>
          <a:xfrm>
            <a:off x="4754880" y="219456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9.2 使用流程：核可、成本、採購、法規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9.3 目標：公平、當責、透明、可靠、安全…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有意義的人為監管：有權覆寫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9.4 依預期用途與隨附文件使用</a:t>
            </a:r>
            <a:endParaRPr lang="en-US" sz="1700" dirty="0"/>
          </a:p>
        </p:txBody>
      </p:sp>
      <p:sp>
        <p:nvSpPr>
          <p:cNvPr id="14" name="disclose-959"/>
          <p:cNvSpPr/>
          <p:nvPr/>
        </p:nvSpPr>
        <p:spPr>
          <a:xfrm>
            <a:off x="8503920" y="1325880"/>
            <a:ext cx="3136392" cy="2103120"/>
          </a:xfrm>
          <a:prstGeom prst="roundRect">
            <a:avLst>
              <a:gd name="adj" fmla="val 4348"/>
            </a:avLst>
          </a:prstGeom>
          <a:solidFill>
            <a:srgbClr val="FFE8EE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disclose-text-960"/>
          <p:cNvSpPr txBox="1"/>
          <p:nvPr/>
        </p:nvSpPr>
        <p:spPr>
          <a:xfrm>
            <a:off x="8641080" y="141732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AI 揭露範例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「您好，我是樂購 AI 客服小幫手，回覆由 AI 產生，可能有誤；如需真人服務請輸入『轉真人』。」</a:t>
            </a:r>
            <a:endParaRPr lang="en-US" sz="1400" dirty="0"/>
          </a:p>
        </p:txBody>
      </p:sp>
      <p:pic>
        <p:nvPicPr>
          <p:cNvPr id="16" name="allan-avatar-961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3977640"/>
            <a:ext cx="868680" cy="868680"/>
          </a:xfrm>
          <a:prstGeom prst="rect">
            <a:avLst/>
          </a:prstGeom>
        </p:spPr>
      </p:pic>
      <p:sp>
        <p:nvSpPr>
          <p:cNvPr id="17" name="bubble-962"/>
          <p:cNvSpPr/>
          <p:nvPr/>
        </p:nvSpPr>
        <p:spPr>
          <a:xfrm>
            <a:off x="9464040" y="3657600"/>
            <a:ext cx="2176272" cy="150876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8" name="bubble-text-963"/>
          <p:cNvSpPr txBox="1"/>
          <p:nvPr/>
        </p:nvSpPr>
        <p:spPr>
          <a:xfrm>
            <a:off x="9601200" y="3657600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人為監管若只是「按確認」，就是流於形式。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A.10 第三方與客戶：責任要寫進合約</a:t>
            </a:r>
            <a:endParaRPr lang="en-US" sz="3000" dirty="0"/>
          </a:p>
        </p:txBody>
      </p:sp>
      <p:graphicFrame>
        <p:nvGraphicFramePr>
          <p:cNvPr id="50" name="table-9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供應商 AI 評估問卷（節錄）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對應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模型訓練資料來源與授權？是否使用我方資料再訓練？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A.7.3、A.10.3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是否提供模型卡、效能限制與已知風險？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A.6.2.7、A.8.2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模型更版是否事先通知？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A.6.2.6、8.1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事故通知時限與聯絡窗口？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A.8.4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是否取得 ISO/IEC 42001、27001 驗證？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A.10.3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965"/>
          <p:cNvSpPr/>
          <p:nvPr/>
        </p:nvSpPr>
        <p:spPr>
          <a:xfrm>
            <a:off x="8503920" y="1325880"/>
            <a:ext cx="31363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icon-bg-966"/>
          <p:cNvSpPr/>
          <p:nvPr/>
        </p:nvSpPr>
        <p:spPr>
          <a:xfrm>
            <a:off x="868680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rd-badge-967"/>
          <p:cNvSpPr txBox="1"/>
          <p:nvPr/>
        </p:nvSpPr>
        <p:spPr>
          <a:xfrm>
            <a:off x="868680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10.2</a:t>
            </a:r>
            <a:endParaRPr lang="en-US" sz="1200" dirty="0"/>
          </a:p>
        </p:txBody>
      </p:sp>
      <p:sp>
        <p:nvSpPr>
          <p:cNvPr id="8" name="card-title-968"/>
          <p:cNvSpPr txBox="1"/>
          <p:nvPr/>
        </p:nvSpPr>
        <p:spPr>
          <a:xfrm>
            <a:off x="9372600" y="1490472"/>
            <a:ext cx="2130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責任分配</a:t>
            </a:r>
            <a:endParaRPr lang="en-US" sz="1700" dirty="0"/>
          </a:p>
        </p:txBody>
      </p:sp>
      <p:sp>
        <p:nvSpPr>
          <p:cNvPr id="9" name="card-text-969"/>
          <p:cNvSpPr txBox="1"/>
          <p:nvPr/>
        </p:nvSpPr>
        <p:spPr>
          <a:xfrm>
            <a:off x="8732520" y="21945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資料、模型、部署、使用各由誰負責</a:t>
            </a:r>
            <a:endParaRPr lang="en-US" sz="1700" dirty="0"/>
          </a:p>
        </p:txBody>
      </p:sp>
      <p:sp>
        <p:nvSpPr>
          <p:cNvPr id="10" name="card-970"/>
          <p:cNvSpPr/>
          <p:nvPr/>
        </p:nvSpPr>
        <p:spPr>
          <a:xfrm>
            <a:off x="8503920" y="2880360"/>
            <a:ext cx="31363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icon-bg-971"/>
          <p:cNvSpPr/>
          <p:nvPr/>
        </p:nvSpPr>
        <p:spPr>
          <a:xfrm>
            <a:off x="8686800" y="3063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card-badge-972"/>
          <p:cNvSpPr txBox="1"/>
          <p:nvPr/>
        </p:nvSpPr>
        <p:spPr>
          <a:xfrm>
            <a:off x="868680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10.3</a:t>
            </a:r>
            <a:endParaRPr lang="en-US" sz="1200" dirty="0"/>
          </a:p>
        </p:txBody>
      </p:sp>
      <p:sp>
        <p:nvSpPr>
          <p:cNvPr id="13" name="card-title-973"/>
          <p:cNvSpPr txBox="1"/>
          <p:nvPr/>
        </p:nvSpPr>
        <p:spPr>
          <a:xfrm>
            <a:off x="9372600" y="3044952"/>
            <a:ext cx="2130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供應商</a:t>
            </a:r>
            <a:endParaRPr lang="en-US" sz="1700" dirty="0"/>
          </a:p>
        </p:txBody>
      </p:sp>
      <p:sp>
        <p:nvSpPr>
          <p:cNvPr id="14" name="card-text-974"/>
          <p:cNvSpPr txBox="1"/>
          <p:nvPr/>
        </p:nvSpPr>
        <p:spPr>
          <a:xfrm>
            <a:off x="8732520" y="37490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依風險選擇、要求、持續監督</a:t>
            </a:r>
            <a:endParaRPr lang="en-US" sz="1700" dirty="0"/>
          </a:p>
        </p:txBody>
      </p:sp>
      <p:sp>
        <p:nvSpPr>
          <p:cNvPr id="15" name="card-975"/>
          <p:cNvSpPr/>
          <p:nvPr/>
        </p:nvSpPr>
        <p:spPr>
          <a:xfrm>
            <a:off x="8503920" y="4434840"/>
            <a:ext cx="31363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-icon-bg-976"/>
          <p:cNvSpPr/>
          <p:nvPr/>
        </p:nvSpPr>
        <p:spPr>
          <a:xfrm>
            <a:off x="8686800" y="46177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card-badge-977"/>
          <p:cNvSpPr txBox="1"/>
          <p:nvPr/>
        </p:nvSpPr>
        <p:spPr>
          <a:xfrm>
            <a:off x="868680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10.4</a:t>
            </a:r>
            <a:endParaRPr lang="en-US" sz="1200" dirty="0"/>
          </a:p>
        </p:txBody>
      </p:sp>
      <p:sp>
        <p:nvSpPr>
          <p:cNvPr id="18" name="card-title-978"/>
          <p:cNvSpPr txBox="1"/>
          <p:nvPr/>
        </p:nvSpPr>
        <p:spPr>
          <a:xfrm>
            <a:off x="9372600" y="4599432"/>
            <a:ext cx="2130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客戶</a:t>
            </a:r>
            <a:endParaRPr lang="en-US" sz="1700" dirty="0"/>
          </a:p>
        </p:txBody>
      </p:sp>
      <p:sp>
        <p:nvSpPr>
          <p:cNvPr id="19" name="card-text-979"/>
          <p:cNvSpPr txBox="1"/>
          <p:nvPr/>
        </p:nvSpPr>
        <p:spPr>
          <a:xfrm>
            <a:off x="8732520" y="53035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了解期望，傳達適用限制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附錄 C：AI 目標與風險來源</a:t>
            </a:r>
            <a:endParaRPr lang="en-US" sz="3000" dirty="0"/>
          </a:p>
        </p:txBody>
      </p:sp>
      <p:sp>
        <p:nvSpPr>
          <p:cNvPr id="4" name="card-980"/>
          <p:cNvSpPr/>
          <p:nvPr/>
        </p:nvSpPr>
        <p:spPr>
          <a:xfrm>
            <a:off x="548640" y="1325880"/>
            <a:ext cx="5410048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981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9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983"/>
          <p:cNvSpPr txBox="1"/>
          <p:nvPr/>
        </p:nvSpPr>
        <p:spPr>
          <a:xfrm>
            <a:off x="1417320" y="1490472"/>
            <a:ext cx="440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C.2 潛在組織目標（11）</a:t>
            </a:r>
            <a:endParaRPr lang="en-US" sz="1900" dirty="0"/>
          </a:p>
        </p:txBody>
      </p:sp>
      <p:sp>
        <p:nvSpPr>
          <p:cNvPr id="8" name="card-text-984"/>
          <p:cNvSpPr txBox="1"/>
          <p:nvPr/>
        </p:nvSpPr>
        <p:spPr>
          <a:xfrm>
            <a:off x="777240" y="2194560"/>
            <a:ext cx="49985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當責性、AI 專業知識、資料可用性與品質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環境影響、公平性、可維護性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隱私性、穩健性、安全性、資安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透明性和可解釋性</a:t>
            </a:r>
            <a:endParaRPr lang="en-US" sz="1800" dirty="0"/>
          </a:p>
        </p:txBody>
      </p:sp>
      <p:sp>
        <p:nvSpPr>
          <p:cNvPr id="9" name="card-985"/>
          <p:cNvSpPr/>
          <p:nvPr/>
        </p:nvSpPr>
        <p:spPr>
          <a:xfrm>
            <a:off x="6233008" y="1325880"/>
            <a:ext cx="5410048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986"/>
          <p:cNvSpPr/>
          <p:nvPr/>
        </p:nvSpPr>
        <p:spPr>
          <a:xfrm>
            <a:off x="641588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9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904" y="1636776"/>
            <a:ext cx="310896" cy="310896"/>
          </a:xfrm>
          <a:prstGeom prst="rect">
            <a:avLst/>
          </a:prstGeom>
        </p:spPr>
      </p:pic>
      <p:sp>
        <p:nvSpPr>
          <p:cNvPr id="12" name="card-title-988"/>
          <p:cNvSpPr txBox="1"/>
          <p:nvPr/>
        </p:nvSpPr>
        <p:spPr>
          <a:xfrm>
            <a:off x="7101688" y="1490472"/>
            <a:ext cx="440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C.3 風險來源（7）</a:t>
            </a:r>
            <a:endParaRPr lang="en-US" sz="1900" dirty="0"/>
          </a:p>
        </p:txBody>
      </p:sp>
      <p:sp>
        <p:nvSpPr>
          <p:cNvPr id="13" name="card-text-989"/>
          <p:cNvSpPr txBox="1"/>
          <p:nvPr/>
        </p:nvSpPr>
        <p:spPr>
          <a:xfrm>
            <a:off x="6461608" y="2194560"/>
            <a:ext cx="49985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環境的複雜性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缺乏透明性和可解釋性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自動化水平、機器學習相關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系統硬體、生命週期、技術成熟度</a:t>
            </a:r>
            <a:endParaRPr lang="en-US" sz="1800" dirty="0"/>
          </a:p>
        </p:txBody>
      </p:sp>
      <p:pic>
        <p:nvPicPr>
          <p:cNvPr id="14" name="allan-avatar-990" descr="Allan 講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868680" cy="868680"/>
          </a:xfrm>
          <a:prstGeom prst="rect">
            <a:avLst/>
          </a:prstGeom>
        </p:spPr>
      </p:pic>
      <p:sp>
        <p:nvSpPr>
          <p:cNvPr id="15" name="bubble-991"/>
          <p:cNvSpPr/>
          <p:nvPr/>
        </p:nvSpPr>
        <p:spPr>
          <a:xfrm>
            <a:off x="1508760" y="4937760"/>
            <a:ext cx="10134295" cy="777240"/>
          </a:xfrm>
          <a:prstGeom prst="roundRect">
            <a:avLst>
              <a:gd name="adj" fmla="val 14118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bubble-text-992"/>
          <p:cNvSpPr txBox="1"/>
          <p:nvPr/>
        </p:nvSpPr>
        <p:spPr>
          <a:xfrm>
            <a:off x="1645920" y="493776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風險識別工作坊時，把附錄 C 當「提示卡」逐張問一遍，就不容易漏。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與 ISO 27001／27701／9001 整合（附錄 D）</a:t>
            </a:r>
            <a:endParaRPr lang="en-US" sz="3000" dirty="0"/>
          </a:p>
        </p:txBody>
      </p:sp>
      <p:graphicFrame>
        <p:nvGraphicFramePr>
          <p:cNvPr id="52" name="table-9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1920240"/>
                <a:gridCol w="33192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管理要素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 27001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 27701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 9001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 42001 加什麼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政策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資安政策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隱私政策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品質政策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政策（A.2.3 一致性）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風險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資安風險評鑑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隱私風險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風險與機會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風險 + 衝擊評鑑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供應商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供應商資安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PII 處理者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外部提供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供應商、責任分配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事故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資安事故管理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PII 外洩通報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不符合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事故溝通（A.8.4）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稽核／管審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共用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共用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共用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納入 AI 技術流程</a:t>
                      </a:r>
                      <a:endParaRPr lang="en-US" sz="15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allan-avatar-994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77740"/>
            <a:ext cx="868680" cy="868680"/>
          </a:xfrm>
          <a:prstGeom prst="rect">
            <a:avLst/>
          </a:prstGeom>
        </p:spPr>
      </p:pic>
      <p:sp>
        <p:nvSpPr>
          <p:cNvPr id="6" name="bubble-995"/>
          <p:cNvSpPr/>
          <p:nvPr/>
        </p:nvSpPr>
        <p:spPr>
          <a:xfrm>
            <a:off x="1508760" y="4800600"/>
            <a:ext cx="10134295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7" name="bubble-text-996"/>
          <p:cNvSpPr txBox="1"/>
          <p:nvPr/>
        </p:nvSpPr>
        <p:spPr>
          <a:xfrm>
            <a:off x="1645920" y="480060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已有 27001／27701 的組織，通常可沿用一半以上的管理流程，重點補 AI 特有部分。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導入路徑：約 6–9 個月</a:t>
            </a:r>
            <a:endParaRPr lang="en-US" sz="3000" dirty="0"/>
          </a:p>
        </p:txBody>
      </p:sp>
      <p:sp>
        <p:nvSpPr>
          <p:cNvPr id="4" name="flow-head-997"/>
          <p:cNvSpPr/>
          <p:nvPr/>
        </p:nvSpPr>
        <p:spPr>
          <a:xfrm>
            <a:off x="548640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998"/>
          <p:cNvSpPr txBox="1"/>
          <p:nvPr/>
        </p:nvSpPr>
        <p:spPr>
          <a:xfrm>
            <a:off x="548640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1–2 月</a:t>
            </a:r>
            <a:endParaRPr lang="en-US" sz="1600" dirty="0"/>
          </a:p>
        </p:txBody>
      </p:sp>
      <p:sp>
        <p:nvSpPr>
          <p:cNvPr id="6" name="flow-body-999"/>
          <p:cNvSpPr/>
          <p:nvPr/>
        </p:nvSpPr>
        <p:spPr>
          <a:xfrm>
            <a:off x="548640" y="1984248"/>
            <a:ext cx="1696669" cy="208483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1000"/>
          <p:cNvSpPr txBox="1"/>
          <p:nvPr/>
        </p:nvSpPr>
        <p:spPr>
          <a:xfrm>
            <a:off x="658368" y="2075688"/>
            <a:ext cx="1477213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系統清冊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角色判定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差距分析</a:t>
            </a:r>
            <a:endParaRPr lang="en-US" sz="1700" dirty="0"/>
          </a:p>
        </p:txBody>
      </p:sp>
      <p:sp>
        <p:nvSpPr>
          <p:cNvPr id="8" name="flow-arrow-1001"/>
          <p:cNvSpPr/>
          <p:nvPr/>
        </p:nvSpPr>
        <p:spPr>
          <a:xfrm rot="5400000">
            <a:off x="2291029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1002"/>
          <p:cNvSpPr/>
          <p:nvPr/>
        </p:nvSpPr>
        <p:spPr>
          <a:xfrm>
            <a:off x="2428189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1003"/>
          <p:cNvSpPr txBox="1"/>
          <p:nvPr/>
        </p:nvSpPr>
        <p:spPr>
          <a:xfrm>
            <a:off x="2428189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2–3 月</a:t>
            </a:r>
            <a:endParaRPr lang="en-US" sz="1600" dirty="0"/>
          </a:p>
        </p:txBody>
      </p:sp>
      <p:sp>
        <p:nvSpPr>
          <p:cNvPr id="11" name="flow-body-1004"/>
          <p:cNvSpPr/>
          <p:nvPr/>
        </p:nvSpPr>
        <p:spPr>
          <a:xfrm>
            <a:off x="2428189" y="1984248"/>
            <a:ext cx="1696669" cy="208483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1005"/>
          <p:cNvSpPr txBox="1"/>
          <p:nvPr/>
        </p:nvSpPr>
        <p:spPr>
          <a:xfrm>
            <a:off x="2537917" y="2075688"/>
            <a:ext cx="1477213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政策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治理組織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風險準則</a:t>
            </a:r>
            <a:endParaRPr lang="en-US" sz="1700" dirty="0"/>
          </a:p>
        </p:txBody>
      </p:sp>
      <p:sp>
        <p:nvSpPr>
          <p:cNvPr id="13" name="flow-arrow-1006"/>
          <p:cNvSpPr/>
          <p:nvPr/>
        </p:nvSpPr>
        <p:spPr>
          <a:xfrm rot="5400000">
            <a:off x="4170578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1007"/>
          <p:cNvSpPr/>
          <p:nvPr/>
        </p:nvSpPr>
        <p:spPr>
          <a:xfrm>
            <a:off x="4307738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1008"/>
          <p:cNvSpPr txBox="1"/>
          <p:nvPr/>
        </p:nvSpPr>
        <p:spPr>
          <a:xfrm>
            <a:off x="4307738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3–4 月</a:t>
            </a:r>
            <a:endParaRPr lang="en-US" sz="1600" dirty="0"/>
          </a:p>
        </p:txBody>
      </p:sp>
      <p:sp>
        <p:nvSpPr>
          <p:cNvPr id="16" name="flow-body-1009"/>
          <p:cNvSpPr/>
          <p:nvPr/>
        </p:nvSpPr>
        <p:spPr>
          <a:xfrm>
            <a:off x="4307738" y="1984248"/>
            <a:ext cx="1696669" cy="208483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1010"/>
          <p:cNvSpPr txBox="1"/>
          <p:nvPr/>
        </p:nvSpPr>
        <p:spPr>
          <a:xfrm>
            <a:off x="4417466" y="2075688"/>
            <a:ext cx="1477213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風險評鑑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衝擊評鑑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SoA</a:t>
            </a:r>
            <a:endParaRPr lang="en-US" sz="1700" dirty="0"/>
          </a:p>
        </p:txBody>
      </p:sp>
      <p:sp>
        <p:nvSpPr>
          <p:cNvPr id="18" name="flow-arrow-1011"/>
          <p:cNvSpPr/>
          <p:nvPr/>
        </p:nvSpPr>
        <p:spPr>
          <a:xfrm rot="5400000">
            <a:off x="6050128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1012"/>
          <p:cNvSpPr/>
          <p:nvPr/>
        </p:nvSpPr>
        <p:spPr>
          <a:xfrm>
            <a:off x="6187288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1013"/>
          <p:cNvSpPr txBox="1"/>
          <p:nvPr/>
        </p:nvSpPr>
        <p:spPr>
          <a:xfrm>
            <a:off x="6187288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4–6 月</a:t>
            </a:r>
            <a:endParaRPr lang="en-US" sz="1600" dirty="0"/>
          </a:p>
        </p:txBody>
      </p:sp>
      <p:sp>
        <p:nvSpPr>
          <p:cNvPr id="21" name="flow-body-1014"/>
          <p:cNvSpPr/>
          <p:nvPr/>
        </p:nvSpPr>
        <p:spPr>
          <a:xfrm>
            <a:off x="6187288" y="1984248"/>
            <a:ext cx="1696669" cy="208483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1015"/>
          <p:cNvSpPr txBox="1"/>
          <p:nvPr/>
        </p:nvSpPr>
        <p:spPr>
          <a:xfrm>
            <a:off x="6297016" y="2075688"/>
            <a:ext cx="1477213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控制措施實作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教育訓練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紀錄累積</a:t>
            </a:r>
            <a:endParaRPr lang="en-US" sz="1700" dirty="0"/>
          </a:p>
        </p:txBody>
      </p:sp>
      <p:sp>
        <p:nvSpPr>
          <p:cNvPr id="23" name="flow-arrow-1016"/>
          <p:cNvSpPr/>
          <p:nvPr/>
        </p:nvSpPr>
        <p:spPr>
          <a:xfrm rot="5400000">
            <a:off x="7929677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1017"/>
          <p:cNvSpPr/>
          <p:nvPr/>
        </p:nvSpPr>
        <p:spPr>
          <a:xfrm>
            <a:off x="8066837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1018"/>
          <p:cNvSpPr txBox="1"/>
          <p:nvPr/>
        </p:nvSpPr>
        <p:spPr>
          <a:xfrm>
            <a:off x="8066837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6–7 月</a:t>
            </a:r>
            <a:endParaRPr lang="en-US" sz="1600" dirty="0"/>
          </a:p>
        </p:txBody>
      </p:sp>
      <p:sp>
        <p:nvSpPr>
          <p:cNvPr id="26" name="flow-body-1019"/>
          <p:cNvSpPr/>
          <p:nvPr/>
        </p:nvSpPr>
        <p:spPr>
          <a:xfrm>
            <a:off x="8066837" y="1984248"/>
            <a:ext cx="1696669" cy="208483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1020"/>
          <p:cNvSpPr txBox="1"/>
          <p:nvPr/>
        </p:nvSpPr>
        <p:spPr>
          <a:xfrm>
            <a:off x="8176565" y="2075688"/>
            <a:ext cx="1477213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內部稽核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管理審查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矯正措施</a:t>
            </a:r>
            <a:endParaRPr lang="en-US" sz="1700" dirty="0"/>
          </a:p>
        </p:txBody>
      </p:sp>
      <p:sp>
        <p:nvSpPr>
          <p:cNvPr id="28" name="flow-arrow-1021"/>
          <p:cNvSpPr/>
          <p:nvPr/>
        </p:nvSpPr>
        <p:spPr>
          <a:xfrm rot="5400000">
            <a:off x="9809226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9" name="flow-head-1022"/>
          <p:cNvSpPr/>
          <p:nvPr/>
        </p:nvSpPr>
        <p:spPr>
          <a:xfrm>
            <a:off x="9946386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flow-head-text-1023"/>
          <p:cNvSpPr txBox="1"/>
          <p:nvPr/>
        </p:nvSpPr>
        <p:spPr>
          <a:xfrm>
            <a:off x="9946386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7–9 月</a:t>
            </a:r>
            <a:endParaRPr lang="en-US" sz="1600" dirty="0"/>
          </a:p>
        </p:txBody>
      </p:sp>
      <p:sp>
        <p:nvSpPr>
          <p:cNvPr id="31" name="flow-body-1024"/>
          <p:cNvSpPr/>
          <p:nvPr/>
        </p:nvSpPr>
        <p:spPr>
          <a:xfrm>
            <a:off x="9946386" y="1984248"/>
            <a:ext cx="1696669" cy="2084832"/>
          </a:xfrm>
          <a:prstGeom prst="roundRect">
            <a:avLst>
              <a:gd name="adj" fmla="val 43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low-body-text-1025"/>
          <p:cNvSpPr txBox="1"/>
          <p:nvPr/>
        </p:nvSpPr>
        <p:spPr>
          <a:xfrm>
            <a:off x="10056114" y="2075688"/>
            <a:ext cx="1477213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第一階段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第二階段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取得證書</a:t>
            </a:r>
            <a:endParaRPr lang="en-US" sz="1700" dirty="0"/>
          </a:p>
        </p:txBody>
      </p:sp>
      <p:pic>
        <p:nvPicPr>
          <p:cNvPr id="33" name="arale-avatar-1026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11980"/>
            <a:ext cx="868680" cy="868680"/>
          </a:xfrm>
          <a:prstGeom prst="rect">
            <a:avLst/>
          </a:prstGeom>
        </p:spPr>
      </p:pic>
      <p:sp>
        <p:nvSpPr>
          <p:cNvPr id="34" name="bubble-1027"/>
          <p:cNvSpPr/>
          <p:nvPr/>
        </p:nvSpPr>
        <p:spPr>
          <a:xfrm>
            <a:off x="1508760" y="4434840"/>
            <a:ext cx="3611880" cy="822960"/>
          </a:xfrm>
          <a:prstGeom prst="roundRect">
            <a:avLst>
              <a:gd name="adj" fmla="val 13333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5" name="bubble-text-1028"/>
          <p:cNvSpPr txBox="1"/>
          <p:nvPr/>
        </p:nvSpPr>
        <p:spPr>
          <a:xfrm>
            <a:off x="1645920" y="44348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可以三個月就拿證書嗎？</a:t>
            </a:r>
            <a:endParaRPr lang="en-US" sz="1700" dirty="0"/>
          </a:p>
        </p:txBody>
      </p:sp>
      <p:pic>
        <p:nvPicPr>
          <p:cNvPr id="36" name="allan-avatar-1029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411980"/>
            <a:ext cx="868680" cy="868680"/>
          </a:xfrm>
          <a:prstGeom prst="rect">
            <a:avLst/>
          </a:prstGeom>
        </p:spPr>
      </p:pic>
      <p:sp>
        <p:nvSpPr>
          <p:cNvPr id="37" name="bubble-1030"/>
          <p:cNvSpPr/>
          <p:nvPr/>
        </p:nvSpPr>
        <p:spPr>
          <a:xfrm>
            <a:off x="6263640" y="4434840"/>
            <a:ext cx="5376672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8" name="bubble-text-1031"/>
          <p:cNvSpPr txBox="1"/>
          <p:nvPr/>
        </p:nvSpPr>
        <p:spPr>
          <a:xfrm>
            <a:off x="6400800" y="443484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驗證要看「運作有效性」，紀錄要累積一段時間，太趕通常第二階段會卡關。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管理案例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六大產業的 AIMS 實戰（虛擬案例）</a:t>
            </a:r>
            <a:endParaRPr lang="en-US" sz="2000" dirty="0"/>
          </a:p>
        </p:txBody>
      </p:sp>
      <p:sp>
        <p:nvSpPr>
          <p:cNvPr id="5" name="section-num-1032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1033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7</a:t>
            </a:r>
            <a:endParaRPr lang="en-US" sz="4000" dirty="0"/>
          </a:p>
        </p:txBody>
      </p:sp>
      <p:sp>
        <p:nvSpPr>
          <p:cNvPr id="7" name="section-time-1034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10 分鐘</a:t>
            </a:r>
            <a:endParaRPr lang="en-US" sz="1400" dirty="0"/>
          </a:p>
        </p:txBody>
      </p:sp>
      <p:pic>
        <p:nvPicPr>
          <p:cNvPr id="8" name="allan-1035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六大產業案例總覽（虛擬案例）</a:t>
            </a:r>
            <a:endParaRPr lang="en-US" sz="3000" dirty="0"/>
          </a:p>
        </p:txBody>
      </p:sp>
      <p:sp>
        <p:nvSpPr>
          <p:cNvPr id="4" name="card-1036"/>
          <p:cNvSpPr/>
          <p:nvPr/>
        </p:nvSpPr>
        <p:spPr>
          <a:xfrm>
            <a:off x="548640" y="1325880"/>
            <a:ext cx="3545738" cy="19431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1037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10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1039"/>
          <p:cNvSpPr txBox="1"/>
          <p:nvPr/>
        </p:nvSpPr>
        <p:spPr>
          <a:xfrm>
            <a:off x="1417320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福爾摩沙銀行｜信用評分＋反詐騙</a:t>
            </a:r>
            <a:endParaRPr lang="en-US" sz="1700" dirty="0"/>
          </a:p>
        </p:txBody>
      </p:sp>
      <p:sp>
        <p:nvSpPr>
          <p:cNvPr id="8" name="card-text-1040"/>
          <p:cNvSpPr txBox="1"/>
          <p:nvPr/>
        </p:nvSpPr>
        <p:spPr>
          <a:xfrm>
            <a:off x="777240" y="2194560"/>
            <a:ext cx="31342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偏差、可解釋、漂移 → A.7.4、A.8.2、A.6.2.6</a:t>
            </a:r>
            <a:endParaRPr lang="en-US" sz="1700" dirty="0"/>
          </a:p>
        </p:txBody>
      </p:sp>
      <p:sp>
        <p:nvSpPr>
          <p:cNvPr id="9" name="card-1041"/>
          <p:cNvSpPr/>
          <p:nvPr/>
        </p:nvSpPr>
        <p:spPr>
          <a:xfrm>
            <a:off x="4322978" y="1325880"/>
            <a:ext cx="3545738" cy="19431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1042"/>
          <p:cNvSpPr/>
          <p:nvPr/>
        </p:nvSpPr>
        <p:spPr>
          <a:xfrm>
            <a:off x="450585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10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74" y="1636776"/>
            <a:ext cx="310896" cy="310896"/>
          </a:xfrm>
          <a:prstGeom prst="rect">
            <a:avLst/>
          </a:prstGeom>
        </p:spPr>
      </p:pic>
      <p:sp>
        <p:nvSpPr>
          <p:cNvPr id="12" name="card-title-1044"/>
          <p:cNvSpPr txBox="1"/>
          <p:nvPr/>
        </p:nvSpPr>
        <p:spPr>
          <a:xfrm>
            <a:off x="5191658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鴻光精密｜AOI 瑕疵檢測</a:t>
            </a:r>
            <a:endParaRPr lang="en-US" sz="1700" dirty="0"/>
          </a:p>
        </p:txBody>
      </p:sp>
      <p:sp>
        <p:nvSpPr>
          <p:cNvPr id="13" name="card-text-1045"/>
          <p:cNvSpPr txBox="1"/>
          <p:nvPr/>
        </p:nvSpPr>
        <p:spPr>
          <a:xfrm>
            <a:off x="4551578" y="2194560"/>
            <a:ext cx="31342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漏檢、環境變化 → A.6.2.4、A.6.2.6、9.1</a:t>
            </a:r>
            <a:endParaRPr lang="en-US" sz="1700" dirty="0"/>
          </a:p>
        </p:txBody>
      </p:sp>
      <p:sp>
        <p:nvSpPr>
          <p:cNvPr id="14" name="card-1046"/>
          <p:cNvSpPr/>
          <p:nvPr/>
        </p:nvSpPr>
        <p:spPr>
          <a:xfrm>
            <a:off x="8097317" y="1325880"/>
            <a:ext cx="3545738" cy="19431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1047"/>
          <p:cNvSpPr/>
          <p:nvPr/>
        </p:nvSpPr>
        <p:spPr>
          <a:xfrm>
            <a:off x="828019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10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213" y="1636776"/>
            <a:ext cx="310896" cy="310896"/>
          </a:xfrm>
          <a:prstGeom prst="rect">
            <a:avLst/>
          </a:prstGeom>
        </p:spPr>
      </p:pic>
      <p:sp>
        <p:nvSpPr>
          <p:cNvPr id="17" name="card-title-1049"/>
          <p:cNvSpPr txBox="1"/>
          <p:nvPr/>
        </p:nvSpPr>
        <p:spPr>
          <a:xfrm>
            <a:off x="8965997" y="14904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樂購電商｜生成式 AI 客服</a:t>
            </a:r>
            <a:endParaRPr lang="en-US" sz="1700" dirty="0"/>
          </a:p>
        </p:txBody>
      </p:sp>
      <p:sp>
        <p:nvSpPr>
          <p:cNvPr id="18" name="card-text-1050"/>
          <p:cNvSpPr txBox="1"/>
          <p:nvPr/>
        </p:nvSpPr>
        <p:spPr>
          <a:xfrm>
            <a:off x="8325917" y="2194560"/>
            <a:ext cx="31342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幻覺、提示注入 → A.8.2、A.9.3、A.10.3</a:t>
            </a:r>
            <a:endParaRPr lang="en-US" sz="1700" dirty="0"/>
          </a:p>
        </p:txBody>
      </p:sp>
      <p:sp>
        <p:nvSpPr>
          <p:cNvPr id="19" name="card-1051"/>
          <p:cNvSpPr/>
          <p:nvPr/>
        </p:nvSpPr>
        <p:spPr>
          <a:xfrm>
            <a:off x="548640" y="3497580"/>
            <a:ext cx="3545738" cy="19431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1052"/>
          <p:cNvSpPr/>
          <p:nvPr/>
        </p:nvSpPr>
        <p:spPr>
          <a:xfrm>
            <a:off x="731520" y="36804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card-icon-105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808476"/>
            <a:ext cx="310896" cy="310896"/>
          </a:xfrm>
          <a:prstGeom prst="rect">
            <a:avLst/>
          </a:prstGeom>
        </p:spPr>
      </p:pic>
      <p:sp>
        <p:nvSpPr>
          <p:cNvPr id="22" name="card-title-1054"/>
          <p:cNvSpPr txBox="1"/>
          <p:nvPr/>
        </p:nvSpPr>
        <p:spPr>
          <a:xfrm>
            <a:off x="1417320" y="36621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仁心醫院｜醫療影像輔助判讀</a:t>
            </a:r>
            <a:endParaRPr lang="en-US" sz="1700" dirty="0"/>
          </a:p>
        </p:txBody>
      </p:sp>
      <p:sp>
        <p:nvSpPr>
          <p:cNvPr id="23" name="card-text-1055"/>
          <p:cNvSpPr txBox="1"/>
          <p:nvPr/>
        </p:nvSpPr>
        <p:spPr>
          <a:xfrm>
            <a:off x="777240" y="4366260"/>
            <a:ext cx="31342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安全與健康、人為監管 → A.5.4、A.9.3、A.9.4</a:t>
            </a:r>
            <a:endParaRPr lang="en-US" sz="1700" dirty="0"/>
          </a:p>
        </p:txBody>
      </p:sp>
      <p:sp>
        <p:nvSpPr>
          <p:cNvPr id="24" name="card-1056"/>
          <p:cNvSpPr/>
          <p:nvPr/>
        </p:nvSpPr>
        <p:spPr>
          <a:xfrm>
            <a:off x="4322978" y="3497580"/>
            <a:ext cx="3545738" cy="19431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-icon-bg-1057"/>
          <p:cNvSpPr/>
          <p:nvPr/>
        </p:nvSpPr>
        <p:spPr>
          <a:xfrm>
            <a:off x="4505858" y="368046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card-icon-105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874" y="3808476"/>
            <a:ext cx="310896" cy="310896"/>
          </a:xfrm>
          <a:prstGeom prst="rect">
            <a:avLst/>
          </a:prstGeom>
        </p:spPr>
      </p:pic>
      <p:sp>
        <p:nvSpPr>
          <p:cNvPr id="27" name="card-title-1059"/>
          <p:cNvSpPr txBox="1"/>
          <p:nvPr/>
        </p:nvSpPr>
        <p:spPr>
          <a:xfrm>
            <a:off x="5191658" y="36621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才庫人力｜AI 履歷篩選</a:t>
            </a:r>
            <a:endParaRPr lang="en-US" sz="1700" dirty="0"/>
          </a:p>
        </p:txBody>
      </p:sp>
      <p:sp>
        <p:nvSpPr>
          <p:cNvPr id="28" name="card-text-1060"/>
          <p:cNvSpPr txBox="1"/>
          <p:nvPr/>
        </p:nvSpPr>
        <p:spPr>
          <a:xfrm>
            <a:off x="4551578" y="4366260"/>
            <a:ext cx="31342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就業公平、可預見濫用 → A.5、A.7.4、10.2</a:t>
            </a:r>
            <a:endParaRPr lang="en-US" sz="1700" dirty="0"/>
          </a:p>
        </p:txBody>
      </p:sp>
      <p:sp>
        <p:nvSpPr>
          <p:cNvPr id="29" name="card-1061"/>
          <p:cNvSpPr/>
          <p:nvPr/>
        </p:nvSpPr>
        <p:spPr>
          <a:xfrm>
            <a:off x="8097317" y="3497580"/>
            <a:ext cx="3545738" cy="19431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-icon-bg-1062"/>
          <p:cNvSpPr/>
          <p:nvPr/>
        </p:nvSpPr>
        <p:spPr>
          <a:xfrm>
            <a:off x="8280197" y="368046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card-icon-106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213" y="3808476"/>
            <a:ext cx="310896" cy="310896"/>
          </a:xfrm>
          <a:prstGeom prst="rect">
            <a:avLst/>
          </a:prstGeom>
        </p:spPr>
      </p:pic>
      <p:sp>
        <p:nvSpPr>
          <p:cNvPr id="32" name="card-title-1064"/>
          <p:cNvSpPr txBox="1"/>
          <p:nvPr/>
        </p:nvSpPr>
        <p:spPr>
          <a:xfrm>
            <a:off x="8965997" y="3662172"/>
            <a:ext cx="2539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智聯科技｜AI SaaS 提供者</a:t>
            </a:r>
            <a:endParaRPr lang="en-US" sz="1700" dirty="0"/>
          </a:p>
        </p:txBody>
      </p:sp>
      <p:sp>
        <p:nvSpPr>
          <p:cNvPr id="33" name="card-text-1065"/>
          <p:cNvSpPr txBox="1"/>
          <p:nvPr/>
        </p:nvSpPr>
        <p:spPr>
          <a:xfrm>
            <a:off x="8325917" y="4366260"/>
            <a:ext cx="313425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客戶要求驗證、責任分配 → A.10.2、A.10.4、A.6.2.7</a:t>
            </a:r>
            <a:endParaRPr lang="en-US" sz="1700" dirty="0"/>
          </a:p>
        </p:txBody>
      </p:sp>
      <p:pic>
        <p:nvPicPr>
          <p:cNvPr id="34" name="arale-avatar-1066" descr="助教阿拉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463540"/>
            <a:ext cx="868680" cy="868680"/>
          </a:xfrm>
          <a:prstGeom prst="rect">
            <a:avLst/>
          </a:prstGeom>
        </p:spPr>
      </p:pic>
      <p:sp>
        <p:nvSpPr>
          <p:cNvPr id="35" name="bubble-1067"/>
          <p:cNvSpPr/>
          <p:nvPr/>
        </p:nvSpPr>
        <p:spPr>
          <a:xfrm>
            <a:off x="1508760" y="5577840"/>
            <a:ext cx="5440680" cy="640080"/>
          </a:xfrm>
          <a:prstGeom prst="roundRect">
            <a:avLst>
              <a:gd name="adj" fmla="val 17143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bubble-text-1068"/>
          <p:cNvSpPr txBox="1"/>
          <p:nvPr/>
        </p:nvSpPr>
        <p:spPr>
          <a:xfrm>
            <a:off x="1645920" y="55778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同樣是 AI，銀行跟工廠要管的東西差好多！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案例：一般企業員工使用生成式 AI（AI 使用者角色）</a:t>
            </a:r>
            <a:endParaRPr lang="en-US" sz="3000" dirty="0"/>
          </a:p>
        </p:txBody>
      </p:sp>
      <p:sp>
        <p:nvSpPr>
          <p:cNvPr id="4" name="flow-head-1069"/>
          <p:cNvSpPr/>
          <p:nvPr/>
        </p:nvSpPr>
        <p:spPr>
          <a:xfrm>
            <a:off x="548640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1070"/>
          <p:cNvSpPr txBox="1"/>
          <p:nvPr/>
        </p:nvSpPr>
        <p:spPr>
          <a:xfrm>
            <a:off x="548640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政策</a:t>
            </a:r>
            <a:endParaRPr lang="en-US" sz="1600" dirty="0"/>
          </a:p>
        </p:txBody>
      </p:sp>
      <p:sp>
        <p:nvSpPr>
          <p:cNvPr id="6" name="flow-body-1071"/>
          <p:cNvSpPr/>
          <p:nvPr/>
        </p:nvSpPr>
        <p:spPr>
          <a:xfrm>
            <a:off x="548640" y="1984248"/>
            <a:ext cx="2014057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1072"/>
          <p:cNvSpPr txBox="1"/>
          <p:nvPr/>
        </p:nvSpPr>
        <p:spPr>
          <a:xfrm>
            <a:off x="658368" y="2075688"/>
            <a:ext cx="179460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使用政策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核可工具清單</a:t>
            </a:r>
            <a:endParaRPr lang="en-US" sz="1700" dirty="0"/>
          </a:p>
        </p:txBody>
      </p:sp>
      <p:sp>
        <p:nvSpPr>
          <p:cNvPr id="8" name="flow-arrow-1073"/>
          <p:cNvSpPr/>
          <p:nvPr/>
        </p:nvSpPr>
        <p:spPr>
          <a:xfrm rot="5400000">
            <a:off x="262670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1074"/>
          <p:cNvSpPr/>
          <p:nvPr/>
        </p:nvSpPr>
        <p:spPr>
          <a:xfrm>
            <a:off x="281872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1075"/>
          <p:cNvSpPr txBox="1"/>
          <p:nvPr/>
        </p:nvSpPr>
        <p:spPr>
          <a:xfrm>
            <a:off x="281872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守則</a:t>
            </a:r>
            <a:endParaRPr lang="en-US" sz="1600" dirty="0"/>
          </a:p>
        </p:txBody>
      </p:sp>
      <p:sp>
        <p:nvSpPr>
          <p:cNvPr id="11" name="flow-body-1076"/>
          <p:cNvSpPr/>
          <p:nvPr/>
        </p:nvSpPr>
        <p:spPr>
          <a:xfrm>
            <a:off x="2818729" y="1984248"/>
            <a:ext cx="2014057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1077"/>
          <p:cNvSpPr txBox="1"/>
          <p:nvPr/>
        </p:nvSpPr>
        <p:spPr>
          <a:xfrm>
            <a:off x="2928457" y="2075688"/>
            <a:ext cx="179460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機密、個資不得輸入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輸出須人工確認</a:t>
            </a:r>
            <a:endParaRPr lang="en-US" sz="1700" dirty="0"/>
          </a:p>
        </p:txBody>
      </p:sp>
      <p:sp>
        <p:nvSpPr>
          <p:cNvPr id="13" name="flow-arrow-1078"/>
          <p:cNvSpPr/>
          <p:nvPr/>
        </p:nvSpPr>
        <p:spPr>
          <a:xfrm rot="5400000">
            <a:off x="4896795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1079"/>
          <p:cNvSpPr/>
          <p:nvPr/>
        </p:nvSpPr>
        <p:spPr>
          <a:xfrm>
            <a:off x="5088819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1080"/>
          <p:cNvSpPr txBox="1"/>
          <p:nvPr/>
        </p:nvSpPr>
        <p:spPr>
          <a:xfrm>
            <a:off x="5088819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技術</a:t>
            </a:r>
            <a:endParaRPr lang="en-US" sz="1600" dirty="0"/>
          </a:p>
        </p:txBody>
      </p:sp>
      <p:sp>
        <p:nvSpPr>
          <p:cNvPr id="16" name="flow-body-1081"/>
          <p:cNvSpPr/>
          <p:nvPr/>
        </p:nvSpPr>
        <p:spPr>
          <a:xfrm>
            <a:off x="5088819" y="1984248"/>
            <a:ext cx="2014057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1082"/>
          <p:cNvSpPr txBox="1"/>
          <p:nvPr/>
        </p:nvSpPr>
        <p:spPr>
          <a:xfrm>
            <a:off x="5198547" y="2075688"/>
            <a:ext cx="179460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企業版帳號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DLP、存取控制</a:t>
            </a:r>
            <a:endParaRPr lang="en-US" sz="1700" dirty="0"/>
          </a:p>
        </p:txBody>
      </p:sp>
      <p:sp>
        <p:nvSpPr>
          <p:cNvPr id="18" name="flow-arrow-1083"/>
          <p:cNvSpPr/>
          <p:nvPr/>
        </p:nvSpPr>
        <p:spPr>
          <a:xfrm rot="5400000">
            <a:off x="716688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1084"/>
          <p:cNvSpPr/>
          <p:nvPr/>
        </p:nvSpPr>
        <p:spPr>
          <a:xfrm>
            <a:off x="735890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1085"/>
          <p:cNvSpPr txBox="1"/>
          <p:nvPr/>
        </p:nvSpPr>
        <p:spPr>
          <a:xfrm>
            <a:off x="735890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訓練</a:t>
            </a:r>
            <a:endParaRPr lang="en-US" sz="1600" dirty="0"/>
          </a:p>
        </p:txBody>
      </p:sp>
      <p:sp>
        <p:nvSpPr>
          <p:cNvPr id="21" name="flow-body-1086"/>
          <p:cNvSpPr/>
          <p:nvPr/>
        </p:nvSpPr>
        <p:spPr>
          <a:xfrm>
            <a:off x="7358908" y="1984248"/>
            <a:ext cx="2014057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1087"/>
          <p:cNvSpPr txBox="1"/>
          <p:nvPr/>
        </p:nvSpPr>
        <p:spPr>
          <a:xfrm>
            <a:off x="7468636" y="2075688"/>
            <a:ext cx="179460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全員認知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案例宣導</a:t>
            </a:r>
            <a:endParaRPr lang="en-US" sz="1700" dirty="0"/>
          </a:p>
        </p:txBody>
      </p:sp>
      <p:sp>
        <p:nvSpPr>
          <p:cNvPr id="23" name="flow-arrow-1088"/>
          <p:cNvSpPr/>
          <p:nvPr/>
        </p:nvSpPr>
        <p:spPr>
          <a:xfrm rot="5400000">
            <a:off x="9436974" y="1508760"/>
            <a:ext cx="128016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1089"/>
          <p:cNvSpPr/>
          <p:nvPr/>
        </p:nvSpPr>
        <p:spPr>
          <a:xfrm>
            <a:off x="9628998" y="1325880"/>
            <a:ext cx="2014057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1090"/>
          <p:cNvSpPr txBox="1"/>
          <p:nvPr/>
        </p:nvSpPr>
        <p:spPr>
          <a:xfrm>
            <a:off x="9628998" y="1325880"/>
            <a:ext cx="201405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監督</a:t>
            </a:r>
            <a:endParaRPr lang="en-US" sz="1600" dirty="0"/>
          </a:p>
        </p:txBody>
      </p:sp>
      <p:sp>
        <p:nvSpPr>
          <p:cNvPr id="26" name="flow-body-1091"/>
          <p:cNvSpPr/>
          <p:nvPr/>
        </p:nvSpPr>
        <p:spPr>
          <a:xfrm>
            <a:off x="9628998" y="1984248"/>
            <a:ext cx="2014057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1092"/>
          <p:cNvSpPr txBox="1"/>
          <p:nvPr/>
        </p:nvSpPr>
        <p:spPr>
          <a:xfrm>
            <a:off x="9738726" y="2075688"/>
            <a:ext cx="179460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使用紀錄抽查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通報管道</a:t>
            </a:r>
            <a:endParaRPr lang="en-US" sz="1700" dirty="0"/>
          </a:p>
        </p:txBody>
      </p:sp>
      <p:pic>
        <p:nvPicPr>
          <p:cNvPr id="28" name="arale-avatar-1093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63340"/>
            <a:ext cx="868680" cy="868680"/>
          </a:xfrm>
          <a:prstGeom prst="rect">
            <a:avLst/>
          </a:prstGeom>
        </p:spPr>
      </p:pic>
      <p:sp>
        <p:nvSpPr>
          <p:cNvPr id="29" name="bubble-1094"/>
          <p:cNvSpPr/>
          <p:nvPr/>
        </p:nvSpPr>
        <p:spPr>
          <a:xfrm>
            <a:off x="1508760" y="3886200"/>
            <a:ext cx="4343400" cy="822960"/>
          </a:xfrm>
          <a:prstGeom prst="roundRect">
            <a:avLst>
              <a:gd name="adj" fmla="val 13333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0" name="bubble-text-1095"/>
          <p:cNvSpPr txBox="1"/>
          <p:nvPr/>
        </p:nvSpPr>
        <p:spPr>
          <a:xfrm>
            <a:off x="1645920" y="38862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只是用 ChatGPT 也能拿 42001 證書嗎？</a:t>
            </a:r>
            <a:endParaRPr lang="en-US" sz="1700" dirty="0"/>
          </a:p>
        </p:txBody>
      </p:sp>
      <p:pic>
        <p:nvPicPr>
          <p:cNvPr id="31" name="allan-avatar-1096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863340"/>
            <a:ext cx="868680" cy="868680"/>
          </a:xfrm>
          <a:prstGeom prst="rect">
            <a:avLst/>
          </a:prstGeom>
        </p:spPr>
      </p:pic>
      <p:sp>
        <p:nvSpPr>
          <p:cNvPr id="32" name="bubble-1097"/>
          <p:cNvSpPr/>
          <p:nvPr/>
        </p:nvSpPr>
        <p:spPr>
          <a:xfrm>
            <a:off x="6995160" y="3886200"/>
            <a:ext cx="4645152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3" name="bubble-text-1098"/>
          <p:cNvSpPr txBox="1"/>
          <p:nvPr/>
        </p:nvSpPr>
        <p:spPr>
          <a:xfrm>
            <a:off x="7132320" y="388620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可以，範圍與 SoA 依「使用者」角色界定；但排除開發類控制要有風險評鑑依據。</a:t>
            </a:r>
            <a:endParaRPr lang="en-US" sz="1700" dirty="0"/>
          </a:p>
        </p:txBody>
      </p:sp>
      <p:pic>
        <p:nvPicPr>
          <p:cNvPr id="34" name="allan-avatar-1099" descr="Allan 講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4900"/>
            <a:ext cx="868680" cy="868680"/>
          </a:xfrm>
          <a:prstGeom prst="rect">
            <a:avLst/>
          </a:prstGeom>
        </p:spPr>
      </p:pic>
      <p:sp>
        <p:nvSpPr>
          <p:cNvPr id="35" name="bubble-1100"/>
          <p:cNvSpPr/>
          <p:nvPr/>
        </p:nvSpPr>
        <p:spPr>
          <a:xfrm>
            <a:off x="1508760" y="4937760"/>
            <a:ext cx="10134295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6" name="bubble-text-1101"/>
          <p:cNvSpPr txBox="1"/>
          <p:nvPr/>
        </p:nvSpPr>
        <p:spPr>
          <a:xfrm>
            <a:off x="1645920" y="49377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AI 使用政策最好跟資安政策、個資政策交叉引用（A.2.3），否則員工只會看到三份互相矛盾的規定。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討論：你是顧問，你會怎麼做？</a:t>
            </a:r>
            <a:endParaRPr lang="en-US" sz="3000" dirty="0"/>
          </a:p>
        </p:txBody>
      </p:sp>
      <p:sp>
        <p:nvSpPr>
          <p:cNvPr id="4" name="card-1102"/>
          <p:cNvSpPr/>
          <p:nvPr/>
        </p:nvSpPr>
        <p:spPr>
          <a:xfrm>
            <a:off x="548640" y="1325880"/>
            <a:ext cx="3515258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1103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badge-1104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Q1</a:t>
            </a:r>
            <a:endParaRPr lang="en-US" sz="1800" dirty="0"/>
          </a:p>
        </p:txBody>
      </p:sp>
      <p:sp>
        <p:nvSpPr>
          <p:cNvPr id="7" name="card-title-1105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範圍與角色</a:t>
            </a:r>
            <a:endParaRPr lang="en-US" sz="1900" dirty="0"/>
          </a:p>
        </p:txBody>
      </p:sp>
      <p:sp>
        <p:nvSpPr>
          <p:cNvPr id="8" name="card-text-1106"/>
          <p:cNvSpPr txBox="1"/>
          <p:nvPr/>
        </p:nvSpPr>
        <p:spPr>
          <a:xfrm>
            <a:off x="777240" y="2194560"/>
            <a:ext cx="3103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智聯科技對 SaaS 與其使用的雲端模型各是什麼角色？</a:t>
            </a:r>
            <a:endParaRPr lang="en-US" sz="1700" dirty="0"/>
          </a:p>
        </p:txBody>
      </p:sp>
      <p:sp>
        <p:nvSpPr>
          <p:cNvPr id="9" name="card-1107"/>
          <p:cNvSpPr/>
          <p:nvPr/>
        </p:nvSpPr>
        <p:spPr>
          <a:xfrm>
            <a:off x="4338218" y="1325880"/>
            <a:ext cx="3515258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1108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-badge-1109"/>
          <p:cNvSpPr txBox="1"/>
          <p:nvPr/>
        </p:nvSpPr>
        <p:spPr>
          <a:xfrm>
            <a:off x="452109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Q2</a:t>
            </a:r>
            <a:endParaRPr lang="en-US" sz="1800" dirty="0"/>
          </a:p>
        </p:txBody>
      </p:sp>
      <p:sp>
        <p:nvSpPr>
          <p:cNvPr id="12" name="card-title-1110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優先控制措施</a:t>
            </a:r>
            <a:endParaRPr lang="en-US" sz="1900" dirty="0"/>
          </a:p>
        </p:txBody>
      </p:sp>
      <p:sp>
        <p:nvSpPr>
          <p:cNvPr id="13" name="card-text-1111"/>
          <p:cNvSpPr txBox="1"/>
          <p:nvPr/>
        </p:nvSpPr>
        <p:spPr>
          <a:xfrm>
            <a:off x="4566818" y="2194560"/>
            <a:ext cx="3103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客戶最在意哪些？（提示：A.10、A.6.2.7、A.8.2）</a:t>
            </a:r>
            <a:endParaRPr lang="en-US" sz="1700" dirty="0"/>
          </a:p>
        </p:txBody>
      </p:sp>
      <p:sp>
        <p:nvSpPr>
          <p:cNvPr id="14" name="card-1112"/>
          <p:cNvSpPr/>
          <p:nvPr/>
        </p:nvSpPr>
        <p:spPr>
          <a:xfrm>
            <a:off x="8127797" y="1325880"/>
            <a:ext cx="3515258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1113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-badge-1114"/>
          <p:cNvSpPr txBox="1"/>
          <p:nvPr/>
        </p:nvSpPr>
        <p:spPr>
          <a:xfrm>
            <a:off x="8310677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Q3</a:t>
            </a:r>
            <a:endParaRPr lang="en-US" sz="1800" dirty="0"/>
          </a:p>
        </p:txBody>
      </p:sp>
      <p:sp>
        <p:nvSpPr>
          <p:cNvPr id="17" name="card-title-1115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時程與證據</a:t>
            </a:r>
            <a:endParaRPr lang="en-US" sz="1900" dirty="0"/>
          </a:p>
        </p:txBody>
      </p:sp>
      <p:sp>
        <p:nvSpPr>
          <p:cNvPr id="18" name="card-text-1116"/>
          <p:cNvSpPr txBox="1"/>
          <p:nvPr/>
        </p:nvSpPr>
        <p:spPr>
          <a:xfrm>
            <a:off x="8356397" y="2194560"/>
            <a:ext cx="3103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半年內要累積哪些運作紀錄才過得了第二階段？</a:t>
            </a:r>
            <a:endParaRPr lang="en-US" sz="1700" dirty="0"/>
          </a:p>
        </p:txBody>
      </p:sp>
      <p:pic>
        <p:nvPicPr>
          <p:cNvPr id="19" name="allan-ex-1117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1371600" cy="1604246"/>
          </a:xfrm>
          <a:prstGeom prst="rect">
            <a:avLst/>
          </a:prstGeom>
        </p:spPr>
      </p:pic>
      <p:pic>
        <p:nvPicPr>
          <p:cNvPr id="20" name="allan-avatar-1118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320540"/>
            <a:ext cx="868680" cy="868680"/>
          </a:xfrm>
          <a:prstGeom prst="rect">
            <a:avLst/>
          </a:prstGeom>
        </p:spPr>
      </p:pic>
      <p:sp>
        <p:nvSpPr>
          <p:cNvPr id="21" name="bubble-1119"/>
          <p:cNvSpPr/>
          <p:nvPr/>
        </p:nvSpPr>
        <p:spPr>
          <a:xfrm>
            <a:off x="3063240" y="4297680"/>
            <a:ext cx="8577072" cy="9144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2" name="bubble-text-1120"/>
          <p:cNvSpPr txBox="1"/>
          <p:nvPr/>
        </p:nvSpPr>
        <p:spPr>
          <a:xfrm>
            <a:off x="3200400" y="4297680"/>
            <a:ext cx="8302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給大家 3 分鐘討論。提示：先問「客戶要的是證書，還是要的是信任？」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0312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稽核實務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2103120" y="3383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驗證流程、ISO/IEC 42006、證據與不符合事項</a:t>
            </a:r>
            <a:endParaRPr lang="en-US" sz="2000" dirty="0"/>
          </a:p>
        </p:txBody>
      </p:sp>
      <p:sp>
        <p:nvSpPr>
          <p:cNvPr id="5" name="section-num-1121"/>
          <p:cNvSpPr/>
          <p:nvPr/>
        </p:nvSpPr>
        <p:spPr>
          <a:xfrm>
            <a:off x="685800" y="23774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num-text-1122"/>
          <p:cNvSpPr txBox="1"/>
          <p:nvPr/>
        </p:nvSpPr>
        <p:spPr>
          <a:xfrm>
            <a:off x="68580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8</a:t>
            </a:r>
            <a:endParaRPr lang="en-US" sz="4000" dirty="0"/>
          </a:p>
        </p:txBody>
      </p:sp>
      <p:sp>
        <p:nvSpPr>
          <p:cNvPr id="7" name="section-time-1123"/>
          <p:cNvSpPr txBox="1"/>
          <p:nvPr/>
        </p:nvSpPr>
        <p:spPr>
          <a:xfrm>
            <a:off x="21031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⏱ 建議時間 20 分鐘</a:t>
            </a:r>
            <a:endParaRPr lang="en-US" sz="1400" dirty="0"/>
          </a:p>
        </p:txBody>
      </p:sp>
      <p:pic>
        <p:nvPicPr>
          <p:cNvPr id="8" name="allan-1124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11680"/>
            <a:ext cx="2194560" cy="256679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AIMS 驗證流程</a:t>
            </a:r>
            <a:endParaRPr lang="en-US" sz="3000" dirty="0"/>
          </a:p>
        </p:txBody>
      </p:sp>
      <p:sp>
        <p:nvSpPr>
          <p:cNvPr id="4" name="flow-head-1125"/>
          <p:cNvSpPr/>
          <p:nvPr/>
        </p:nvSpPr>
        <p:spPr>
          <a:xfrm>
            <a:off x="548640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1126"/>
          <p:cNvSpPr txBox="1"/>
          <p:nvPr/>
        </p:nvSpPr>
        <p:spPr>
          <a:xfrm>
            <a:off x="548640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申請</a:t>
            </a:r>
            <a:endParaRPr lang="en-US" sz="1600" dirty="0"/>
          </a:p>
        </p:txBody>
      </p:sp>
      <p:sp>
        <p:nvSpPr>
          <p:cNvPr id="6" name="flow-body-1127"/>
          <p:cNvSpPr/>
          <p:nvPr/>
        </p:nvSpPr>
        <p:spPr>
          <a:xfrm>
            <a:off x="548640" y="1984248"/>
            <a:ext cx="1696669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1128"/>
          <p:cNvSpPr txBox="1"/>
          <p:nvPr/>
        </p:nvSpPr>
        <p:spPr>
          <a:xfrm>
            <a:off x="658368" y="2075688"/>
            <a:ext cx="1477213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範圍、AI 系統數量、角色</a:t>
            </a:r>
            <a:endParaRPr lang="en-US" sz="1700" dirty="0"/>
          </a:p>
        </p:txBody>
      </p:sp>
      <p:sp>
        <p:nvSpPr>
          <p:cNvPr id="8" name="flow-arrow-1129"/>
          <p:cNvSpPr/>
          <p:nvPr/>
        </p:nvSpPr>
        <p:spPr>
          <a:xfrm rot="5400000">
            <a:off x="2291029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1130"/>
          <p:cNvSpPr/>
          <p:nvPr/>
        </p:nvSpPr>
        <p:spPr>
          <a:xfrm>
            <a:off x="2428189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1131"/>
          <p:cNvSpPr txBox="1"/>
          <p:nvPr/>
        </p:nvSpPr>
        <p:spPr>
          <a:xfrm>
            <a:off x="2428189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第一階段</a:t>
            </a:r>
            <a:endParaRPr lang="en-US" sz="1600" dirty="0"/>
          </a:p>
        </p:txBody>
      </p:sp>
      <p:sp>
        <p:nvSpPr>
          <p:cNvPr id="11" name="flow-body-1132"/>
          <p:cNvSpPr/>
          <p:nvPr/>
        </p:nvSpPr>
        <p:spPr>
          <a:xfrm>
            <a:off x="2428189" y="1984248"/>
            <a:ext cx="1696669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1133"/>
          <p:cNvSpPr txBox="1"/>
          <p:nvPr/>
        </p:nvSpPr>
        <p:spPr>
          <a:xfrm>
            <a:off x="2537917" y="2075688"/>
            <a:ext cx="1477213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文件與準備度審查</a:t>
            </a:r>
            <a:endParaRPr lang="en-US" sz="1700" dirty="0"/>
          </a:p>
        </p:txBody>
      </p:sp>
      <p:sp>
        <p:nvSpPr>
          <p:cNvPr id="13" name="flow-arrow-1134"/>
          <p:cNvSpPr/>
          <p:nvPr/>
        </p:nvSpPr>
        <p:spPr>
          <a:xfrm rot="5400000">
            <a:off x="4170578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1135"/>
          <p:cNvSpPr/>
          <p:nvPr/>
        </p:nvSpPr>
        <p:spPr>
          <a:xfrm>
            <a:off x="4307738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1136"/>
          <p:cNvSpPr txBox="1"/>
          <p:nvPr/>
        </p:nvSpPr>
        <p:spPr>
          <a:xfrm>
            <a:off x="4307738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第二階段</a:t>
            </a:r>
            <a:endParaRPr lang="en-US" sz="1600" dirty="0"/>
          </a:p>
        </p:txBody>
      </p:sp>
      <p:sp>
        <p:nvSpPr>
          <p:cNvPr id="16" name="flow-body-1137"/>
          <p:cNvSpPr/>
          <p:nvPr/>
        </p:nvSpPr>
        <p:spPr>
          <a:xfrm>
            <a:off x="4307738" y="1984248"/>
            <a:ext cx="1696669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1138"/>
          <p:cNvSpPr txBox="1"/>
          <p:nvPr/>
        </p:nvSpPr>
        <p:spPr>
          <a:xfrm>
            <a:off x="4417466" y="2075688"/>
            <a:ext cx="1477213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實施有效性稽核</a:t>
            </a:r>
            <a:endParaRPr lang="en-US" sz="1700" dirty="0"/>
          </a:p>
        </p:txBody>
      </p:sp>
      <p:sp>
        <p:nvSpPr>
          <p:cNvPr id="18" name="flow-arrow-1139"/>
          <p:cNvSpPr/>
          <p:nvPr/>
        </p:nvSpPr>
        <p:spPr>
          <a:xfrm rot="5400000">
            <a:off x="6050128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1140"/>
          <p:cNvSpPr/>
          <p:nvPr/>
        </p:nvSpPr>
        <p:spPr>
          <a:xfrm>
            <a:off x="6187288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1141"/>
          <p:cNvSpPr txBox="1"/>
          <p:nvPr/>
        </p:nvSpPr>
        <p:spPr>
          <a:xfrm>
            <a:off x="6187288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矯正／發證</a:t>
            </a:r>
            <a:endParaRPr lang="en-US" sz="1600" dirty="0"/>
          </a:p>
        </p:txBody>
      </p:sp>
      <p:sp>
        <p:nvSpPr>
          <p:cNvPr id="21" name="flow-body-1142"/>
          <p:cNvSpPr/>
          <p:nvPr/>
        </p:nvSpPr>
        <p:spPr>
          <a:xfrm>
            <a:off x="6187288" y="1984248"/>
            <a:ext cx="1696669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1143"/>
          <p:cNvSpPr txBox="1"/>
          <p:nvPr/>
        </p:nvSpPr>
        <p:spPr>
          <a:xfrm>
            <a:off x="6297016" y="2075688"/>
            <a:ext cx="1477213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不符合矯正、技術審查</a:t>
            </a:r>
            <a:endParaRPr lang="en-US" sz="1700" dirty="0"/>
          </a:p>
        </p:txBody>
      </p:sp>
      <p:sp>
        <p:nvSpPr>
          <p:cNvPr id="23" name="flow-arrow-1144"/>
          <p:cNvSpPr/>
          <p:nvPr/>
        </p:nvSpPr>
        <p:spPr>
          <a:xfrm rot="5400000">
            <a:off x="7929677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1145"/>
          <p:cNvSpPr/>
          <p:nvPr/>
        </p:nvSpPr>
        <p:spPr>
          <a:xfrm>
            <a:off x="8066837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1146"/>
          <p:cNvSpPr txBox="1"/>
          <p:nvPr/>
        </p:nvSpPr>
        <p:spPr>
          <a:xfrm>
            <a:off x="8066837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監督稽核</a:t>
            </a:r>
            <a:endParaRPr lang="en-US" sz="1600" dirty="0"/>
          </a:p>
        </p:txBody>
      </p:sp>
      <p:sp>
        <p:nvSpPr>
          <p:cNvPr id="26" name="flow-body-1147"/>
          <p:cNvSpPr/>
          <p:nvPr/>
        </p:nvSpPr>
        <p:spPr>
          <a:xfrm>
            <a:off x="8066837" y="1984248"/>
            <a:ext cx="1696669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1148"/>
          <p:cNvSpPr txBox="1"/>
          <p:nvPr/>
        </p:nvSpPr>
        <p:spPr>
          <a:xfrm>
            <a:off x="8176565" y="2075688"/>
            <a:ext cx="1477213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第 1、2 年每年一次</a:t>
            </a:r>
            <a:endParaRPr lang="en-US" sz="1700" dirty="0"/>
          </a:p>
        </p:txBody>
      </p:sp>
      <p:sp>
        <p:nvSpPr>
          <p:cNvPr id="28" name="flow-arrow-1149"/>
          <p:cNvSpPr/>
          <p:nvPr/>
        </p:nvSpPr>
        <p:spPr>
          <a:xfrm rot="5400000">
            <a:off x="9809226" y="1508760"/>
            <a:ext cx="9144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9" name="flow-head-1150"/>
          <p:cNvSpPr/>
          <p:nvPr/>
        </p:nvSpPr>
        <p:spPr>
          <a:xfrm>
            <a:off x="9946386" y="1325880"/>
            <a:ext cx="1696669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flow-head-text-1151"/>
          <p:cNvSpPr txBox="1"/>
          <p:nvPr/>
        </p:nvSpPr>
        <p:spPr>
          <a:xfrm>
            <a:off x="9946386" y="1325880"/>
            <a:ext cx="1696669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重新驗證</a:t>
            </a:r>
            <a:endParaRPr lang="en-US" sz="1600" dirty="0"/>
          </a:p>
        </p:txBody>
      </p:sp>
      <p:sp>
        <p:nvSpPr>
          <p:cNvPr id="31" name="flow-body-1152"/>
          <p:cNvSpPr/>
          <p:nvPr/>
        </p:nvSpPr>
        <p:spPr>
          <a:xfrm>
            <a:off x="9946386" y="1984248"/>
            <a:ext cx="1696669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low-body-text-1153"/>
          <p:cNvSpPr txBox="1"/>
          <p:nvPr/>
        </p:nvSpPr>
        <p:spPr>
          <a:xfrm>
            <a:off x="10056114" y="2075688"/>
            <a:ext cx="1477213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第 3 年，證書 3 年有效</a:t>
            </a:r>
            <a:endParaRPr lang="en-US" sz="1700" dirty="0"/>
          </a:p>
        </p:txBody>
      </p:sp>
      <p:sp>
        <p:nvSpPr>
          <p:cNvPr id="33" name="card-1154"/>
          <p:cNvSpPr/>
          <p:nvPr/>
        </p:nvSpPr>
        <p:spPr>
          <a:xfrm>
            <a:off x="548640" y="3794760"/>
            <a:ext cx="5410048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ard-icon-bg-1155"/>
          <p:cNvSpPr/>
          <p:nvPr/>
        </p:nvSpPr>
        <p:spPr>
          <a:xfrm>
            <a:off x="731520" y="3977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card-icon-11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105656"/>
            <a:ext cx="310896" cy="310896"/>
          </a:xfrm>
          <a:prstGeom prst="rect">
            <a:avLst/>
          </a:prstGeom>
        </p:spPr>
      </p:pic>
      <p:sp>
        <p:nvSpPr>
          <p:cNvPr id="36" name="card-title-1157"/>
          <p:cNvSpPr txBox="1"/>
          <p:nvPr/>
        </p:nvSpPr>
        <p:spPr>
          <a:xfrm>
            <a:off x="1417320" y="3959352"/>
            <a:ext cx="440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ISO/IEC 42006:2025</a:t>
            </a:r>
            <a:endParaRPr lang="en-US" sz="1900" dirty="0"/>
          </a:p>
        </p:txBody>
      </p:sp>
      <p:sp>
        <p:nvSpPr>
          <p:cNvPr id="37" name="card-text-1158"/>
          <p:cNvSpPr txBox="1"/>
          <p:nvPr/>
        </p:nvSpPr>
        <p:spPr>
          <a:xfrm>
            <a:off x="777240" y="466344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對 AIMS 驗證機構的要求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補充 ISO/IEC 17021-1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要求稽核團隊具備 AI 相關能力</a:t>
            </a:r>
            <a:endParaRPr lang="en-US" sz="1700" dirty="0"/>
          </a:p>
        </p:txBody>
      </p:sp>
      <p:sp>
        <p:nvSpPr>
          <p:cNvPr id="38" name="card-1159"/>
          <p:cNvSpPr/>
          <p:nvPr/>
        </p:nvSpPr>
        <p:spPr>
          <a:xfrm>
            <a:off x="6233008" y="3794760"/>
            <a:ext cx="5410048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-icon-bg-1160"/>
          <p:cNvSpPr/>
          <p:nvPr/>
        </p:nvSpPr>
        <p:spPr>
          <a:xfrm>
            <a:off x="6415888" y="39776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0" name="card-icon-11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904" y="4105656"/>
            <a:ext cx="310896" cy="310896"/>
          </a:xfrm>
          <a:prstGeom prst="rect">
            <a:avLst/>
          </a:prstGeom>
        </p:spPr>
      </p:pic>
      <p:sp>
        <p:nvSpPr>
          <p:cNvPr id="41" name="card-title-1162"/>
          <p:cNvSpPr txBox="1"/>
          <p:nvPr/>
        </p:nvSpPr>
        <p:spPr>
          <a:xfrm>
            <a:off x="7101688" y="3959352"/>
            <a:ext cx="440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第一階段必看</a:t>
            </a:r>
            <a:endParaRPr lang="en-US" sz="1900" dirty="0"/>
          </a:p>
        </p:txBody>
      </p:sp>
      <p:sp>
        <p:nvSpPr>
          <p:cNvPr id="42" name="card-text-1163"/>
          <p:cNvSpPr txBox="1"/>
          <p:nvPr/>
        </p:nvSpPr>
        <p:spPr>
          <a:xfrm>
            <a:off x="6461608" y="466344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範圍、AI 政策、AI 系統清冊與角色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風險準則、風險／衝擊評鑑結果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SoA、處理計畫、內稽與管審紀錄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第二階段：跟著一個 AI 系統走完一生（追蹤稽核法）</a:t>
            </a:r>
            <a:endParaRPr lang="en-US" sz="3000" dirty="0"/>
          </a:p>
        </p:txBody>
      </p:sp>
      <p:sp>
        <p:nvSpPr>
          <p:cNvPr id="4" name="flow-head-1164"/>
          <p:cNvSpPr/>
          <p:nvPr/>
        </p:nvSpPr>
        <p:spPr>
          <a:xfrm>
            <a:off x="548640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low-head-text-1165"/>
          <p:cNvSpPr txBox="1"/>
          <p:nvPr/>
        </p:nvSpPr>
        <p:spPr>
          <a:xfrm>
            <a:off x="548640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需求</a:t>
            </a:r>
            <a:endParaRPr lang="en-US" sz="1400" dirty="0"/>
          </a:p>
        </p:txBody>
      </p:sp>
      <p:sp>
        <p:nvSpPr>
          <p:cNvPr id="6" name="flow-body-1166"/>
          <p:cNvSpPr/>
          <p:nvPr/>
        </p:nvSpPr>
        <p:spPr>
          <a:xfrm>
            <a:off x="548640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body-text-1167"/>
          <p:cNvSpPr txBox="1"/>
          <p:nvPr/>
        </p:nvSpPr>
        <p:spPr>
          <a:xfrm>
            <a:off x="658368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A.6.2.2 為何開發</a:t>
            </a:r>
            <a:endParaRPr lang="en-US" sz="1600" dirty="0"/>
          </a:p>
        </p:txBody>
      </p:sp>
      <p:sp>
        <p:nvSpPr>
          <p:cNvPr id="8" name="flow-arrow-1168"/>
          <p:cNvSpPr/>
          <p:nvPr/>
        </p:nvSpPr>
        <p:spPr>
          <a:xfrm rot="5400000">
            <a:off x="1849717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9" name="flow-head-1169"/>
          <p:cNvSpPr/>
          <p:nvPr/>
        </p:nvSpPr>
        <p:spPr>
          <a:xfrm>
            <a:off x="1952587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-head-text-1170"/>
          <p:cNvSpPr txBox="1"/>
          <p:nvPr/>
        </p:nvSpPr>
        <p:spPr>
          <a:xfrm>
            <a:off x="1952587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資料</a:t>
            </a:r>
            <a:endParaRPr lang="en-US" sz="1400" dirty="0"/>
          </a:p>
        </p:txBody>
      </p:sp>
      <p:sp>
        <p:nvSpPr>
          <p:cNvPr id="11" name="flow-body-1171"/>
          <p:cNvSpPr/>
          <p:nvPr/>
        </p:nvSpPr>
        <p:spPr>
          <a:xfrm>
            <a:off x="1952587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body-text-1172"/>
          <p:cNvSpPr txBox="1"/>
          <p:nvPr/>
        </p:nvSpPr>
        <p:spPr>
          <a:xfrm>
            <a:off x="2062315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A.7 來歷、品質</a:t>
            </a:r>
            <a:endParaRPr lang="en-US" sz="1600" dirty="0"/>
          </a:p>
        </p:txBody>
      </p:sp>
      <p:sp>
        <p:nvSpPr>
          <p:cNvPr id="13" name="flow-arrow-1173"/>
          <p:cNvSpPr/>
          <p:nvPr/>
        </p:nvSpPr>
        <p:spPr>
          <a:xfrm rot="5400000">
            <a:off x="3253664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4" name="flow-head-1174"/>
          <p:cNvSpPr/>
          <p:nvPr/>
        </p:nvSpPr>
        <p:spPr>
          <a:xfrm>
            <a:off x="3356534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-head-text-1175"/>
          <p:cNvSpPr txBox="1"/>
          <p:nvPr/>
        </p:nvSpPr>
        <p:spPr>
          <a:xfrm>
            <a:off x="3356534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開發</a:t>
            </a:r>
            <a:endParaRPr lang="en-US" sz="1400" dirty="0"/>
          </a:p>
        </p:txBody>
      </p:sp>
      <p:sp>
        <p:nvSpPr>
          <p:cNvPr id="16" name="flow-body-1176"/>
          <p:cNvSpPr/>
          <p:nvPr/>
        </p:nvSpPr>
        <p:spPr>
          <a:xfrm>
            <a:off x="3356534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body-text-1177"/>
          <p:cNvSpPr txBox="1"/>
          <p:nvPr/>
        </p:nvSpPr>
        <p:spPr>
          <a:xfrm>
            <a:off x="3466262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A.6.2.3 設計文件</a:t>
            </a:r>
            <a:endParaRPr lang="en-US" sz="1600" dirty="0"/>
          </a:p>
        </p:txBody>
      </p:sp>
      <p:sp>
        <p:nvSpPr>
          <p:cNvPr id="18" name="flow-arrow-1178"/>
          <p:cNvSpPr/>
          <p:nvPr/>
        </p:nvSpPr>
        <p:spPr>
          <a:xfrm rot="5400000">
            <a:off x="4657611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19" name="flow-head-1179"/>
          <p:cNvSpPr/>
          <p:nvPr/>
        </p:nvSpPr>
        <p:spPr>
          <a:xfrm>
            <a:off x="4760481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-head-text-1180"/>
          <p:cNvSpPr txBox="1"/>
          <p:nvPr/>
        </p:nvSpPr>
        <p:spPr>
          <a:xfrm>
            <a:off x="4760481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驗證</a:t>
            </a:r>
            <a:endParaRPr lang="en-US" sz="1400" dirty="0"/>
          </a:p>
        </p:txBody>
      </p:sp>
      <p:sp>
        <p:nvSpPr>
          <p:cNvPr id="21" name="flow-body-1181"/>
          <p:cNvSpPr/>
          <p:nvPr/>
        </p:nvSpPr>
        <p:spPr>
          <a:xfrm>
            <a:off x="4760481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body-text-1182"/>
          <p:cNvSpPr txBox="1"/>
          <p:nvPr/>
        </p:nvSpPr>
        <p:spPr>
          <a:xfrm>
            <a:off x="4870209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A.6.2.4 發布準則</a:t>
            </a:r>
            <a:endParaRPr lang="en-US" sz="1600" dirty="0"/>
          </a:p>
        </p:txBody>
      </p:sp>
      <p:sp>
        <p:nvSpPr>
          <p:cNvPr id="23" name="flow-arrow-1183"/>
          <p:cNvSpPr/>
          <p:nvPr/>
        </p:nvSpPr>
        <p:spPr>
          <a:xfrm rot="5400000">
            <a:off x="6061558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4" name="flow-head-1184"/>
          <p:cNvSpPr/>
          <p:nvPr/>
        </p:nvSpPr>
        <p:spPr>
          <a:xfrm>
            <a:off x="6164428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low-head-text-1185"/>
          <p:cNvSpPr txBox="1"/>
          <p:nvPr/>
        </p:nvSpPr>
        <p:spPr>
          <a:xfrm>
            <a:off x="6164428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部署</a:t>
            </a:r>
            <a:endParaRPr lang="en-US" sz="1400" dirty="0"/>
          </a:p>
        </p:txBody>
      </p:sp>
      <p:sp>
        <p:nvSpPr>
          <p:cNvPr id="26" name="flow-body-1186"/>
          <p:cNvSpPr/>
          <p:nvPr/>
        </p:nvSpPr>
        <p:spPr>
          <a:xfrm>
            <a:off x="6164428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low-body-text-1187"/>
          <p:cNvSpPr txBox="1"/>
          <p:nvPr/>
        </p:nvSpPr>
        <p:spPr>
          <a:xfrm>
            <a:off x="6274156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A.6.2.5 簽核</a:t>
            </a:r>
            <a:endParaRPr lang="en-US" sz="1600" dirty="0"/>
          </a:p>
        </p:txBody>
      </p:sp>
      <p:sp>
        <p:nvSpPr>
          <p:cNvPr id="28" name="flow-arrow-1188"/>
          <p:cNvSpPr/>
          <p:nvPr/>
        </p:nvSpPr>
        <p:spPr>
          <a:xfrm rot="5400000">
            <a:off x="7465505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29" name="flow-head-1189"/>
          <p:cNvSpPr/>
          <p:nvPr/>
        </p:nvSpPr>
        <p:spPr>
          <a:xfrm>
            <a:off x="7568375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flow-head-text-1190"/>
          <p:cNvSpPr txBox="1"/>
          <p:nvPr/>
        </p:nvSpPr>
        <p:spPr>
          <a:xfrm>
            <a:off x="7568375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監控</a:t>
            </a:r>
            <a:endParaRPr lang="en-US" sz="1400" dirty="0"/>
          </a:p>
        </p:txBody>
      </p:sp>
      <p:sp>
        <p:nvSpPr>
          <p:cNvPr id="31" name="flow-body-1191"/>
          <p:cNvSpPr/>
          <p:nvPr/>
        </p:nvSpPr>
        <p:spPr>
          <a:xfrm>
            <a:off x="7568375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low-body-text-1192"/>
          <p:cNvSpPr txBox="1"/>
          <p:nvPr/>
        </p:nvSpPr>
        <p:spPr>
          <a:xfrm>
            <a:off x="7678103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A.6.2.6 漂移</a:t>
            </a:r>
            <a:endParaRPr lang="en-US" sz="1600" dirty="0"/>
          </a:p>
        </p:txBody>
      </p:sp>
      <p:sp>
        <p:nvSpPr>
          <p:cNvPr id="33" name="flow-arrow-1193"/>
          <p:cNvSpPr/>
          <p:nvPr/>
        </p:nvSpPr>
        <p:spPr>
          <a:xfrm rot="5400000">
            <a:off x="8869451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34" name="flow-head-1194"/>
          <p:cNvSpPr/>
          <p:nvPr/>
        </p:nvSpPr>
        <p:spPr>
          <a:xfrm>
            <a:off x="8972321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flow-head-text-1195"/>
          <p:cNvSpPr txBox="1"/>
          <p:nvPr/>
        </p:nvSpPr>
        <p:spPr>
          <a:xfrm>
            <a:off x="8972321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日誌事故</a:t>
            </a:r>
            <a:endParaRPr lang="en-US" sz="1400" dirty="0"/>
          </a:p>
        </p:txBody>
      </p:sp>
      <p:sp>
        <p:nvSpPr>
          <p:cNvPr id="36" name="flow-body-1196"/>
          <p:cNvSpPr/>
          <p:nvPr/>
        </p:nvSpPr>
        <p:spPr>
          <a:xfrm>
            <a:off x="8972321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flow-body-text-1197"/>
          <p:cNvSpPr txBox="1"/>
          <p:nvPr/>
        </p:nvSpPr>
        <p:spPr>
          <a:xfrm>
            <a:off x="9082049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A.6.2.8、A.8.4</a:t>
            </a:r>
            <a:endParaRPr lang="en-US" sz="1600" dirty="0"/>
          </a:p>
        </p:txBody>
      </p:sp>
      <p:sp>
        <p:nvSpPr>
          <p:cNvPr id="38" name="flow-arrow-1198"/>
          <p:cNvSpPr/>
          <p:nvPr/>
        </p:nvSpPr>
        <p:spPr>
          <a:xfrm rot="5400000">
            <a:off x="10273398" y="1508760"/>
            <a:ext cx="68580" cy="201168"/>
          </a:xfrm>
          <a:prstGeom prst="rtTriangle">
            <a:avLst/>
          </a:prstGeom>
          <a:solidFill>
            <a:srgbClr val="9AA6BC"/>
          </a:solidFill>
          <a:ln w="12700">
            <a:solidFill>
              <a:srgbClr val="9AA6BC"/>
            </a:solidFill>
            <a:prstDash val="solid"/>
          </a:ln>
        </p:spPr>
      </p:sp>
      <p:sp>
        <p:nvSpPr>
          <p:cNvPr id="39" name="flow-head-1199"/>
          <p:cNvSpPr/>
          <p:nvPr/>
        </p:nvSpPr>
        <p:spPr>
          <a:xfrm>
            <a:off x="10376268" y="1325880"/>
            <a:ext cx="1266787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flow-head-text-1200"/>
          <p:cNvSpPr txBox="1"/>
          <p:nvPr/>
        </p:nvSpPr>
        <p:spPr>
          <a:xfrm>
            <a:off x="10376268" y="1325880"/>
            <a:ext cx="1266787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變更</a:t>
            </a:r>
            <a:endParaRPr lang="en-US" sz="1400" dirty="0"/>
          </a:p>
        </p:txBody>
      </p:sp>
      <p:sp>
        <p:nvSpPr>
          <p:cNvPr id="41" name="flow-body-1201"/>
          <p:cNvSpPr/>
          <p:nvPr/>
        </p:nvSpPr>
        <p:spPr>
          <a:xfrm>
            <a:off x="10376268" y="1984248"/>
            <a:ext cx="1266787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flow-body-text-1202"/>
          <p:cNvSpPr txBox="1"/>
          <p:nvPr/>
        </p:nvSpPr>
        <p:spPr>
          <a:xfrm>
            <a:off x="10485996" y="2075688"/>
            <a:ext cx="104733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8.2–8.4 重評</a:t>
            </a:r>
            <a:endParaRPr lang="en-US" sz="1600" dirty="0"/>
          </a:p>
        </p:txBody>
      </p:sp>
      <p:sp>
        <p:nvSpPr>
          <p:cNvPr id="43" name="card-1203"/>
          <p:cNvSpPr/>
          <p:nvPr/>
        </p:nvSpPr>
        <p:spPr>
          <a:xfrm>
            <a:off x="548640" y="3429000"/>
            <a:ext cx="3515258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card-icon-bg-1204"/>
          <p:cNvSpPr/>
          <p:nvPr/>
        </p:nvSpPr>
        <p:spPr>
          <a:xfrm>
            <a:off x="731520" y="3611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card-icon-120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739896"/>
            <a:ext cx="310896" cy="310896"/>
          </a:xfrm>
          <a:prstGeom prst="rect">
            <a:avLst/>
          </a:prstGeom>
        </p:spPr>
      </p:pic>
      <p:sp>
        <p:nvSpPr>
          <p:cNvPr id="46" name="card-title-1206"/>
          <p:cNvSpPr txBox="1"/>
          <p:nvPr/>
        </p:nvSpPr>
        <p:spPr>
          <a:xfrm>
            <a:off x="1417320" y="359359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文件</a:t>
            </a:r>
            <a:endParaRPr lang="en-US" sz="1800" dirty="0"/>
          </a:p>
        </p:txBody>
      </p:sp>
      <p:sp>
        <p:nvSpPr>
          <p:cNvPr id="47" name="card-text-1207"/>
          <p:cNvSpPr txBox="1"/>
          <p:nvPr/>
        </p:nvSpPr>
        <p:spPr>
          <a:xfrm>
            <a:off x="777240" y="4297680"/>
            <a:ext cx="3103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政策、程序、評鑑報告、模型卡</a:t>
            </a:r>
            <a:endParaRPr lang="en-US" sz="1700" dirty="0"/>
          </a:p>
        </p:txBody>
      </p:sp>
      <p:sp>
        <p:nvSpPr>
          <p:cNvPr id="48" name="card-1208"/>
          <p:cNvSpPr/>
          <p:nvPr/>
        </p:nvSpPr>
        <p:spPr>
          <a:xfrm>
            <a:off x="4338218" y="3429000"/>
            <a:ext cx="3515258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card-icon-bg-1209"/>
          <p:cNvSpPr/>
          <p:nvPr/>
        </p:nvSpPr>
        <p:spPr>
          <a:xfrm>
            <a:off x="4521098" y="361188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0" name="card-icon-12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3739896"/>
            <a:ext cx="310896" cy="310896"/>
          </a:xfrm>
          <a:prstGeom prst="rect">
            <a:avLst/>
          </a:prstGeom>
        </p:spPr>
      </p:pic>
      <p:sp>
        <p:nvSpPr>
          <p:cNvPr id="51" name="card-title-1211"/>
          <p:cNvSpPr txBox="1"/>
          <p:nvPr/>
        </p:nvSpPr>
        <p:spPr>
          <a:xfrm>
            <a:off x="5206898" y="359359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訪談</a:t>
            </a:r>
            <a:endParaRPr lang="en-US" sz="1800" dirty="0"/>
          </a:p>
        </p:txBody>
      </p:sp>
      <p:sp>
        <p:nvSpPr>
          <p:cNvPr id="52" name="card-text-1212"/>
          <p:cNvSpPr txBox="1"/>
          <p:nvPr/>
        </p:nvSpPr>
        <p:spPr>
          <a:xfrm>
            <a:off x="4566818" y="4297680"/>
            <a:ext cx="3103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高階主管、資料科學家、MLOps、人為監管者</a:t>
            </a:r>
            <a:endParaRPr lang="en-US" sz="1700" dirty="0"/>
          </a:p>
        </p:txBody>
      </p:sp>
      <p:sp>
        <p:nvSpPr>
          <p:cNvPr id="53" name="card-1213"/>
          <p:cNvSpPr/>
          <p:nvPr/>
        </p:nvSpPr>
        <p:spPr>
          <a:xfrm>
            <a:off x="8127797" y="3429000"/>
            <a:ext cx="3515258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card-icon-bg-1214"/>
          <p:cNvSpPr/>
          <p:nvPr/>
        </p:nvSpPr>
        <p:spPr>
          <a:xfrm>
            <a:off x="8310677" y="3611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5" name="card-icon-12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3739896"/>
            <a:ext cx="310896" cy="310896"/>
          </a:xfrm>
          <a:prstGeom prst="rect">
            <a:avLst/>
          </a:prstGeom>
        </p:spPr>
      </p:pic>
      <p:sp>
        <p:nvSpPr>
          <p:cNvPr id="56" name="card-title-1216"/>
          <p:cNvSpPr txBox="1"/>
          <p:nvPr/>
        </p:nvSpPr>
        <p:spPr>
          <a:xfrm>
            <a:off x="8996477" y="359359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觀察／系統紀錄</a:t>
            </a:r>
            <a:endParaRPr lang="en-US" sz="1800" dirty="0"/>
          </a:p>
        </p:txBody>
      </p:sp>
      <p:sp>
        <p:nvSpPr>
          <p:cNvPr id="57" name="card-text-1217"/>
          <p:cNvSpPr txBox="1"/>
          <p:nvPr/>
        </p:nvSpPr>
        <p:spPr>
          <a:xfrm>
            <a:off x="8356397" y="4297680"/>
            <a:ext cx="3103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監控儀表板、日誌、版本紀錄、工單</a:t>
            </a:r>
            <a:endParaRPr lang="en-US" sz="1700" dirty="0"/>
          </a:p>
        </p:txBody>
      </p:sp>
      <p:pic>
        <p:nvPicPr>
          <p:cNvPr id="58" name="allan-avatar-1218" descr="Allan 講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34940"/>
            <a:ext cx="868680" cy="868680"/>
          </a:xfrm>
          <a:prstGeom prst="rect">
            <a:avLst/>
          </a:prstGeom>
        </p:spPr>
      </p:pic>
      <p:sp>
        <p:nvSpPr>
          <p:cNvPr id="59" name="bubble-1219"/>
          <p:cNvSpPr/>
          <p:nvPr/>
        </p:nvSpPr>
        <p:spPr>
          <a:xfrm>
            <a:off x="1508760" y="5303520"/>
            <a:ext cx="10134295" cy="731520"/>
          </a:xfrm>
          <a:prstGeom prst="roundRect">
            <a:avLst>
              <a:gd name="adj" fmla="val 15000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0" name="bubble-text-1220"/>
          <p:cNvSpPr txBox="1"/>
          <p:nvPr/>
        </p:nvSpPr>
        <p:spPr>
          <a:xfrm>
            <a:off x="1645920" y="5303520"/>
            <a:ext cx="9859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三角驗證：文件說有、人說得出、系統查得到，三者一致才算證據充分。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稽核員的口袋提問</a:t>
            </a:r>
            <a:endParaRPr lang="en-US" sz="3000" dirty="0"/>
          </a:p>
        </p:txBody>
      </p:sp>
      <p:sp>
        <p:nvSpPr>
          <p:cNvPr id="4" name="card-1221"/>
          <p:cNvSpPr/>
          <p:nvPr/>
        </p:nvSpPr>
        <p:spPr>
          <a:xfrm>
            <a:off x="548640" y="1325880"/>
            <a:ext cx="3515258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1222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12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1224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問高階主管</a:t>
            </a:r>
            <a:endParaRPr lang="en-US" sz="1900" dirty="0"/>
          </a:p>
        </p:txBody>
      </p:sp>
      <p:sp>
        <p:nvSpPr>
          <p:cNvPr id="8" name="card-text-1225"/>
          <p:cNvSpPr txBox="1"/>
          <p:nvPr/>
        </p:nvSpPr>
        <p:spPr>
          <a:xfrm>
            <a:off x="777240" y="2194560"/>
            <a:ext cx="31037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政策你最在意哪一條？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最近一次管審對 AI 做了什麼決定？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不可接受的 AI 風險是誰核准接受的？</a:t>
            </a:r>
            <a:endParaRPr lang="en-US" sz="1700" dirty="0"/>
          </a:p>
        </p:txBody>
      </p:sp>
      <p:sp>
        <p:nvSpPr>
          <p:cNvPr id="9" name="card-1226"/>
          <p:cNvSpPr/>
          <p:nvPr/>
        </p:nvSpPr>
        <p:spPr>
          <a:xfrm>
            <a:off x="4338218" y="1325880"/>
            <a:ext cx="3515258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1227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12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1229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問資料科學家</a:t>
            </a:r>
            <a:endParaRPr lang="en-US" sz="1900" dirty="0"/>
          </a:p>
        </p:txBody>
      </p:sp>
      <p:sp>
        <p:nvSpPr>
          <p:cNvPr id="13" name="card-text-1230"/>
          <p:cNvSpPr txBox="1"/>
          <p:nvPr/>
        </p:nvSpPr>
        <p:spPr>
          <a:xfrm>
            <a:off x="4566818" y="2194560"/>
            <a:ext cx="31037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這版模型用哪一版資料訓練？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上線前通過哪些發布準則？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偏差怎麼測、結果在哪？</a:t>
            </a:r>
            <a:endParaRPr lang="en-US" sz="1700" dirty="0"/>
          </a:p>
        </p:txBody>
      </p:sp>
      <p:sp>
        <p:nvSpPr>
          <p:cNvPr id="14" name="card-1231"/>
          <p:cNvSpPr/>
          <p:nvPr/>
        </p:nvSpPr>
        <p:spPr>
          <a:xfrm>
            <a:off x="8127797" y="1325880"/>
            <a:ext cx="3515258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1232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12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1234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問 MLOps</a:t>
            </a:r>
            <a:endParaRPr lang="en-US" sz="1900" dirty="0"/>
          </a:p>
        </p:txBody>
      </p:sp>
      <p:sp>
        <p:nvSpPr>
          <p:cNvPr id="18" name="card-text-1235"/>
          <p:cNvSpPr txBox="1"/>
          <p:nvPr/>
        </p:nvSpPr>
        <p:spPr>
          <a:xfrm>
            <a:off x="8356397" y="2194560"/>
            <a:ext cx="31037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漂移怎麼發現？最近一次告警？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模型更版走什麼變更流程？</a:t>
            </a:r>
            <a:endParaRPr lang="en-US" sz="17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事件日誌記什麼、保存多久？</a:t>
            </a:r>
            <a:endParaRPr lang="en-US" sz="1700" dirty="0"/>
          </a:p>
        </p:txBody>
      </p:sp>
      <p:pic>
        <p:nvPicPr>
          <p:cNvPr id="19" name="arale-avatar-1236" descr="助教阿拉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52060"/>
            <a:ext cx="868680" cy="868680"/>
          </a:xfrm>
          <a:prstGeom prst="rect">
            <a:avLst/>
          </a:prstGeom>
        </p:spPr>
      </p:pic>
      <p:sp>
        <p:nvSpPr>
          <p:cNvPr id="20" name="bubble-1237"/>
          <p:cNvSpPr/>
          <p:nvPr/>
        </p:nvSpPr>
        <p:spPr>
          <a:xfrm>
            <a:off x="1508760" y="5074920"/>
            <a:ext cx="3794760" cy="822960"/>
          </a:xfrm>
          <a:prstGeom prst="roundRect">
            <a:avLst>
              <a:gd name="adj" fmla="val 13333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bubble-text-1238"/>
          <p:cNvSpPr txBox="1"/>
          <p:nvPr/>
        </p:nvSpPr>
        <p:spPr>
          <a:xfrm>
            <a:off x="1645920" y="50749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老師的口頭禪是不是「證據呢？」</a:t>
            </a:r>
            <a:endParaRPr lang="en-US" sz="1700" dirty="0"/>
          </a:p>
        </p:txBody>
      </p:sp>
      <p:pic>
        <p:nvPicPr>
          <p:cNvPr id="22" name="allan-avatar-1239" descr="Allan 講師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5052060"/>
            <a:ext cx="868680" cy="868680"/>
          </a:xfrm>
          <a:prstGeom prst="rect">
            <a:avLst/>
          </a:prstGeom>
        </p:spPr>
      </p:pic>
      <p:sp>
        <p:nvSpPr>
          <p:cNvPr id="23" name="bubble-1240"/>
          <p:cNvSpPr/>
          <p:nvPr/>
        </p:nvSpPr>
        <p:spPr>
          <a:xfrm>
            <a:off x="6446520" y="5074920"/>
            <a:ext cx="5193792" cy="82296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4" name="bubble-text-1241"/>
          <p:cNvSpPr txBox="1"/>
          <p:nvPr/>
        </p:nvSpPr>
        <p:spPr>
          <a:xfrm>
            <a:off x="6583680" y="50749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對！而且要「拿來看看」，不是「應該有」。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稽核發現的等級</a:t>
            </a:r>
            <a:endParaRPr lang="en-US" sz="3000" dirty="0"/>
          </a:p>
        </p:txBody>
      </p:sp>
      <p:sp>
        <p:nvSpPr>
          <p:cNvPr id="4" name="card-1242"/>
          <p:cNvSpPr/>
          <p:nvPr/>
        </p:nvSpPr>
        <p:spPr>
          <a:xfrm>
            <a:off x="548640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1243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ard-badge-1244"/>
          <p:cNvSpPr txBox="1"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主要</a:t>
            </a:r>
            <a:endParaRPr lang="en-US" sz="1800" dirty="0"/>
          </a:p>
        </p:txBody>
      </p:sp>
      <p:sp>
        <p:nvSpPr>
          <p:cNvPr id="7" name="card-title-1245"/>
          <p:cNvSpPr txBox="1"/>
          <p:nvPr/>
        </p:nvSpPr>
        <p:spPr>
          <a:xfrm>
            <a:off x="1417320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主要不符合</a:t>
            </a:r>
            <a:endParaRPr lang="en-US" sz="1800" dirty="0"/>
          </a:p>
        </p:txBody>
      </p:sp>
      <p:sp>
        <p:nvSpPr>
          <p:cNvPr id="8" name="card-text-1246"/>
          <p:cNvSpPr txBox="1"/>
          <p:nvPr/>
        </p:nvSpPr>
        <p:spPr>
          <a:xfrm>
            <a:off x="777240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系統性失效或缺漏，例：完全沒有 AI 系統衝擊評鑑流程</a:t>
            </a:r>
            <a:endParaRPr lang="en-US" sz="1700" dirty="0"/>
          </a:p>
        </p:txBody>
      </p:sp>
      <p:sp>
        <p:nvSpPr>
          <p:cNvPr id="9" name="card-1247"/>
          <p:cNvSpPr/>
          <p:nvPr/>
        </p:nvSpPr>
        <p:spPr>
          <a:xfrm>
            <a:off x="3379394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1248"/>
          <p:cNvSpPr/>
          <p:nvPr/>
        </p:nvSpPr>
        <p:spPr>
          <a:xfrm>
            <a:off x="3562274" y="15087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rd-badge-1249"/>
          <p:cNvSpPr txBox="1"/>
          <p:nvPr/>
        </p:nvSpPr>
        <p:spPr>
          <a:xfrm>
            <a:off x="3562274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次要</a:t>
            </a:r>
            <a:endParaRPr lang="en-US" sz="1800" dirty="0"/>
          </a:p>
        </p:txBody>
      </p:sp>
      <p:sp>
        <p:nvSpPr>
          <p:cNvPr id="12" name="card-title-1250"/>
          <p:cNvSpPr txBox="1"/>
          <p:nvPr/>
        </p:nvSpPr>
        <p:spPr>
          <a:xfrm>
            <a:off x="4248074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次要不符合</a:t>
            </a:r>
            <a:endParaRPr lang="en-US" sz="1800" dirty="0"/>
          </a:p>
        </p:txBody>
      </p:sp>
      <p:sp>
        <p:nvSpPr>
          <p:cNvPr id="13" name="card-text-1251"/>
          <p:cNvSpPr txBox="1"/>
          <p:nvPr/>
        </p:nvSpPr>
        <p:spPr>
          <a:xfrm>
            <a:off x="3607994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個別、偶發，例：一份衝擊評鑑缺核准紀錄</a:t>
            </a:r>
            <a:endParaRPr lang="en-US" sz="1700" dirty="0"/>
          </a:p>
        </p:txBody>
      </p:sp>
      <p:sp>
        <p:nvSpPr>
          <p:cNvPr id="14" name="card-1252"/>
          <p:cNvSpPr/>
          <p:nvPr/>
        </p:nvSpPr>
        <p:spPr>
          <a:xfrm>
            <a:off x="6210148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1253"/>
          <p:cNvSpPr/>
          <p:nvPr/>
        </p:nvSpPr>
        <p:spPr>
          <a:xfrm>
            <a:off x="639302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card-badge-1254"/>
          <p:cNvSpPr txBox="1"/>
          <p:nvPr/>
        </p:nvSpPr>
        <p:spPr>
          <a:xfrm>
            <a:off x="6393028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觀察</a:t>
            </a:r>
            <a:endParaRPr lang="en-US" sz="1800" dirty="0"/>
          </a:p>
        </p:txBody>
      </p:sp>
      <p:sp>
        <p:nvSpPr>
          <p:cNvPr id="17" name="card-title-1255"/>
          <p:cNvSpPr txBox="1"/>
          <p:nvPr/>
        </p:nvSpPr>
        <p:spPr>
          <a:xfrm>
            <a:off x="7078828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觀察事項</a:t>
            </a:r>
            <a:endParaRPr lang="en-US" sz="1800" dirty="0"/>
          </a:p>
        </p:txBody>
      </p:sp>
      <p:sp>
        <p:nvSpPr>
          <p:cNvPr id="18" name="card-text-1256"/>
          <p:cNvSpPr txBox="1"/>
          <p:nvPr/>
        </p:nvSpPr>
        <p:spPr>
          <a:xfrm>
            <a:off x="6438748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目前符合，但若不處理可能演變為不符合</a:t>
            </a:r>
            <a:endParaRPr lang="en-US" sz="1700" dirty="0"/>
          </a:p>
        </p:txBody>
      </p:sp>
      <p:sp>
        <p:nvSpPr>
          <p:cNvPr id="19" name="card-1257"/>
          <p:cNvSpPr/>
          <p:nvPr/>
        </p:nvSpPr>
        <p:spPr>
          <a:xfrm>
            <a:off x="9040901" y="1325880"/>
            <a:ext cx="2602154" cy="274320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icon-bg-1258"/>
          <p:cNvSpPr/>
          <p:nvPr/>
        </p:nvSpPr>
        <p:spPr>
          <a:xfrm>
            <a:off x="9223781" y="150876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card-badge-1259"/>
          <p:cNvSpPr txBox="1"/>
          <p:nvPr/>
        </p:nvSpPr>
        <p:spPr>
          <a:xfrm>
            <a:off x="9223781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機會</a:t>
            </a:r>
            <a:endParaRPr lang="en-US" sz="1800" dirty="0"/>
          </a:p>
        </p:txBody>
      </p:sp>
      <p:sp>
        <p:nvSpPr>
          <p:cNvPr id="22" name="card-title-1260"/>
          <p:cNvSpPr txBox="1"/>
          <p:nvPr/>
        </p:nvSpPr>
        <p:spPr>
          <a:xfrm>
            <a:off x="9909581" y="1490472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改善機會</a:t>
            </a:r>
            <a:endParaRPr lang="en-US" sz="1800" dirty="0"/>
          </a:p>
        </p:txBody>
      </p:sp>
      <p:sp>
        <p:nvSpPr>
          <p:cNvPr id="23" name="card-text-1261"/>
          <p:cNvSpPr txBox="1"/>
          <p:nvPr/>
        </p:nvSpPr>
        <p:spPr>
          <a:xfrm>
            <a:off x="9269501" y="219456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可做得更好，例：導入自動化偏差監控</a:t>
            </a:r>
            <a:endParaRPr lang="en-US" sz="1700" dirty="0"/>
          </a:p>
        </p:txBody>
      </p:sp>
      <p:pic>
        <p:nvPicPr>
          <p:cNvPr id="24" name="allan-avatar-1262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89120"/>
            <a:ext cx="868680" cy="868680"/>
          </a:xfrm>
          <a:prstGeom prst="rect">
            <a:avLst/>
          </a:prstGeom>
        </p:spPr>
      </p:pic>
      <p:sp>
        <p:nvSpPr>
          <p:cNvPr id="25" name="bubble-1263"/>
          <p:cNvSpPr/>
          <p:nvPr/>
        </p:nvSpPr>
        <p:spPr>
          <a:xfrm>
            <a:off x="1508760" y="4389120"/>
            <a:ext cx="10134295" cy="868680"/>
          </a:xfrm>
          <a:prstGeom prst="roundRect">
            <a:avLst>
              <a:gd name="adj" fmla="val 12632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6" name="bubble-text-1264"/>
          <p:cNvSpPr txBox="1"/>
          <p:nvPr/>
        </p:nvSpPr>
        <p:spPr>
          <a:xfrm>
            <a:off x="1645920" y="4389120"/>
            <a:ext cx="9859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判斷三問：影響範圍是個別還是系統？會不會讓 AIMS 失效？有沒有直接傷害關注方？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不符合事項三段式寫法</a:t>
            </a:r>
            <a:endParaRPr lang="en-US" sz="3000" dirty="0"/>
          </a:p>
        </p:txBody>
      </p:sp>
      <p:graphicFrame>
        <p:nvGraphicFramePr>
          <p:cNvPr id="63" name="table-1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5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段落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範例（虛擬：才庫人力）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要求事項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ISO/IEC 42001 6.1.4：AI 系統衝擊評鑑應決定 AI 系統的部署、預期用途和可預見的濫用對個人或群體及社會的潛在後果。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客觀證據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抽查「AI 履歷篩選系統」衝擊評鑑報告（IA-2026-03，2026-03-15 核准），內容僅涵蓋預期用途，未分析系統被用於內部裁員排序等可預見濫用情境。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不符合陳述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組織之 AI 系統衝擊評鑑未涵蓋可預見的濫用，不符合 6.1.4 要求。</a:t>
                      </a:r>
                      <a:endParaRPr lang="en-US" sz="16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arale-avatar-1266" descr="助教阿拉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9160"/>
            <a:ext cx="868680" cy="868680"/>
          </a:xfrm>
          <a:prstGeom prst="rect">
            <a:avLst/>
          </a:prstGeom>
        </p:spPr>
      </p:pic>
      <p:sp>
        <p:nvSpPr>
          <p:cNvPr id="6" name="bubble-1267"/>
          <p:cNvSpPr/>
          <p:nvPr/>
        </p:nvSpPr>
        <p:spPr>
          <a:xfrm>
            <a:off x="1508760" y="4709160"/>
            <a:ext cx="4526280" cy="868680"/>
          </a:xfrm>
          <a:prstGeom prst="roundRect">
            <a:avLst>
              <a:gd name="adj" fmla="val 12632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bubble-text-1268"/>
          <p:cNvSpPr txBox="1"/>
          <p:nvPr/>
        </p:nvSpPr>
        <p:spPr>
          <a:xfrm>
            <a:off x="1645920" y="47091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那「建議導入更好的工具」可以寫在不符合裡嗎？</a:t>
            </a:r>
            <a:endParaRPr lang="en-US" sz="1700" dirty="0"/>
          </a:p>
        </p:txBody>
      </p:sp>
      <p:pic>
        <p:nvPicPr>
          <p:cNvPr id="8" name="allan-avatar-1269" descr="Allan 講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709160"/>
            <a:ext cx="868680" cy="868680"/>
          </a:xfrm>
          <a:prstGeom prst="rect">
            <a:avLst/>
          </a:prstGeom>
        </p:spPr>
      </p:pic>
      <p:sp>
        <p:nvSpPr>
          <p:cNvPr id="9" name="bubble-1270"/>
          <p:cNvSpPr/>
          <p:nvPr/>
        </p:nvSpPr>
        <p:spPr>
          <a:xfrm>
            <a:off x="7178040" y="4709160"/>
            <a:ext cx="4462272" cy="868680"/>
          </a:xfrm>
          <a:prstGeom prst="roundRect">
            <a:avLst>
              <a:gd name="adj" fmla="val 12632"/>
            </a:avLst>
          </a:prstGeom>
          <a:solidFill>
            <a:srgbClr val="EAF0FF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0" name="bubble-text-1271"/>
          <p:cNvSpPr txBox="1"/>
          <p:nvPr/>
        </p:nvSpPr>
        <p:spPr>
          <a:xfrm>
            <a:off x="7315200" y="470916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Allan 講師：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不行，不符合只寫事實。建議另列改善機會，解法由受稽方決定。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情境常見不符合 Top 10</a:t>
            </a:r>
            <a:endParaRPr lang="en-US" sz="3000" dirty="0"/>
          </a:p>
        </p:txBody>
      </p:sp>
      <p:sp>
        <p:nvSpPr>
          <p:cNvPr id="4" name="nc-1272"/>
          <p:cNvSpPr/>
          <p:nvPr/>
        </p:nvSpPr>
        <p:spPr>
          <a:xfrm>
            <a:off x="548640" y="1325880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c-num-1273"/>
          <p:cNvSpPr/>
          <p:nvPr/>
        </p:nvSpPr>
        <p:spPr>
          <a:xfrm>
            <a:off x="685800" y="143560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c-n-1274"/>
          <p:cNvSpPr txBox="1"/>
          <p:nvPr/>
        </p:nvSpPr>
        <p:spPr>
          <a:xfrm>
            <a:off x="685800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nc-t-1275"/>
          <p:cNvSpPr txBox="1"/>
          <p:nvPr/>
        </p:nvSpPr>
        <p:spPr>
          <a:xfrm>
            <a:off x="1325880" y="1325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4.1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系統清冊不完整、未判定 AI 角色</a:t>
            </a:r>
            <a:endParaRPr lang="en-US" sz="1500" dirty="0"/>
          </a:p>
        </p:txBody>
      </p:sp>
      <p:sp>
        <p:nvSpPr>
          <p:cNvPr id="8" name="nc-1276"/>
          <p:cNvSpPr/>
          <p:nvPr/>
        </p:nvSpPr>
        <p:spPr>
          <a:xfrm>
            <a:off x="6172200" y="1325880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c-num-1277"/>
          <p:cNvSpPr/>
          <p:nvPr/>
        </p:nvSpPr>
        <p:spPr>
          <a:xfrm>
            <a:off x="6309360" y="143560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c-n-1278"/>
          <p:cNvSpPr txBox="1"/>
          <p:nvPr/>
        </p:nvSpPr>
        <p:spPr>
          <a:xfrm>
            <a:off x="6309360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nc-t-1279"/>
          <p:cNvSpPr txBox="1"/>
          <p:nvPr/>
        </p:nvSpPr>
        <p:spPr>
          <a:xfrm>
            <a:off x="6949440" y="1325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6.1.1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風險準則未定義可接受風險</a:t>
            </a:r>
            <a:endParaRPr lang="en-US" sz="1500" dirty="0"/>
          </a:p>
        </p:txBody>
      </p:sp>
      <p:sp>
        <p:nvSpPr>
          <p:cNvPr id="12" name="nc-1280"/>
          <p:cNvSpPr/>
          <p:nvPr/>
        </p:nvSpPr>
        <p:spPr>
          <a:xfrm>
            <a:off x="548640" y="2221992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c-num-1281"/>
          <p:cNvSpPr/>
          <p:nvPr/>
        </p:nvSpPr>
        <p:spPr>
          <a:xfrm>
            <a:off x="685800" y="233172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c-n-1282"/>
          <p:cNvSpPr txBox="1"/>
          <p:nvPr/>
        </p:nvSpPr>
        <p:spPr>
          <a:xfrm>
            <a:off x="68580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nc-t-1283"/>
          <p:cNvSpPr txBox="1"/>
          <p:nvPr/>
        </p:nvSpPr>
        <p:spPr>
          <a:xfrm>
            <a:off x="1325880" y="22219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6.1.3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SoA 排除控制措施無理由</a:t>
            </a:r>
            <a:endParaRPr lang="en-US" sz="1500" dirty="0"/>
          </a:p>
        </p:txBody>
      </p:sp>
      <p:sp>
        <p:nvSpPr>
          <p:cNvPr id="16" name="nc-1284"/>
          <p:cNvSpPr/>
          <p:nvPr/>
        </p:nvSpPr>
        <p:spPr>
          <a:xfrm>
            <a:off x="6172200" y="2221992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c-num-1285"/>
          <p:cNvSpPr/>
          <p:nvPr/>
        </p:nvSpPr>
        <p:spPr>
          <a:xfrm>
            <a:off x="6309360" y="233172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c-n-1286"/>
          <p:cNvSpPr txBox="1"/>
          <p:nvPr/>
        </p:nvSpPr>
        <p:spPr>
          <a:xfrm>
            <a:off x="630936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nc-t-1287"/>
          <p:cNvSpPr txBox="1"/>
          <p:nvPr/>
        </p:nvSpPr>
        <p:spPr>
          <a:xfrm>
            <a:off x="6949440" y="22219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6.1.3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剩餘風險未經指定管理層核准</a:t>
            </a:r>
            <a:endParaRPr lang="en-US" sz="1500" dirty="0"/>
          </a:p>
        </p:txBody>
      </p:sp>
      <p:sp>
        <p:nvSpPr>
          <p:cNvPr id="20" name="nc-1288"/>
          <p:cNvSpPr/>
          <p:nvPr/>
        </p:nvSpPr>
        <p:spPr>
          <a:xfrm>
            <a:off x="548640" y="3118104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c-num-1289"/>
          <p:cNvSpPr/>
          <p:nvPr/>
        </p:nvSpPr>
        <p:spPr>
          <a:xfrm>
            <a:off x="685800" y="3227832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c-n-1290"/>
          <p:cNvSpPr txBox="1"/>
          <p:nvPr/>
        </p:nvSpPr>
        <p:spPr>
          <a:xfrm>
            <a:off x="685800" y="3227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nc-t-1291"/>
          <p:cNvSpPr txBox="1"/>
          <p:nvPr/>
        </p:nvSpPr>
        <p:spPr>
          <a:xfrm>
            <a:off x="1325880" y="31181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6.1.4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衝擊評鑑未涵蓋可預見的濫用</a:t>
            </a:r>
            <a:endParaRPr lang="en-US" sz="1500" dirty="0"/>
          </a:p>
        </p:txBody>
      </p:sp>
      <p:sp>
        <p:nvSpPr>
          <p:cNvPr id="24" name="nc-1292"/>
          <p:cNvSpPr/>
          <p:nvPr/>
        </p:nvSpPr>
        <p:spPr>
          <a:xfrm>
            <a:off x="6172200" y="3118104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c-num-1293"/>
          <p:cNvSpPr/>
          <p:nvPr/>
        </p:nvSpPr>
        <p:spPr>
          <a:xfrm>
            <a:off x="6309360" y="3227832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nc-n-1294"/>
          <p:cNvSpPr txBox="1"/>
          <p:nvPr/>
        </p:nvSpPr>
        <p:spPr>
          <a:xfrm>
            <a:off x="6309360" y="3227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nc-t-1295"/>
          <p:cNvSpPr txBox="1"/>
          <p:nvPr/>
        </p:nvSpPr>
        <p:spPr>
          <a:xfrm>
            <a:off x="6949440" y="31181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6.2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目標不可量測、未監控</a:t>
            </a:r>
            <a:endParaRPr lang="en-US" sz="1500" dirty="0"/>
          </a:p>
        </p:txBody>
      </p:sp>
      <p:sp>
        <p:nvSpPr>
          <p:cNvPr id="28" name="nc-1296"/>
          <p:cNvSpPr/>
          <p:nvPr/>
        </p:nvSpPr>
        <p:spPr>
          <a:xfrm>
            <a:off x="548640" y="4014216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c-num-1297"/>
          <p:cNvSpPr/>
          <p:nvPr/>
        </p:nvSpPr>
        <p:spPr>
          <a:xfrm>
            <a:off x="685800" y="4123944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nc-n-1298"/>
          <p:cNvSpPr txBox="1"/>
          <p:nvPr/>
        </p:nvSpPr>
        <p:spPr>
          <a:xfrm>
            <a:off x="685800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nc-t-1299"/>
          <p:cNvSpPr txBox="1"/>
          <p:nvPr/>
        </p:nvSpPr>
        <p:spPr>
          <a:xfrm>
            <a:off x="1325880" y="401421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A.7.5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資料來歷無紀錄</a:t>
            </a:r>
            <a:endParaRPr lang="en-US" sz="1500" dirty="0"/>
          </a:p>
        </p:txBody>
      </p:sp>
      <p:sp>
        <p:nvSpPr>
          <p:cNvPr id="32" name="nc-1300"/>
          <p:cNvSpPr/>
          <p:nvPr/>
        </p:nvSpPr>
        <p:spPr>
          <a:xfrm>
            <a:off x="6172200" y="4014216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c-num-1301"/>
          <p:cNvSpPr/>
          <p:nvPr/>
        </p:nvSpPr>
        <p:spPr>
          <a:xfrm>
            <a:off x="6309360" y="4123944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nc-n-1302"/>
          <p:cNvSpPr txBox="1"/>
          <p:nvPr/>
        </p:nvSpPr>
        <p:spPr>
          <a:xfrm>
            <a:off x="6309360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nc-t-1303"/>
          <p:cNvSpPr txBox="1"/>
          <p:nvPr/>
        </p:nvSpPr>
        <p:spPr>
          <a:xfrm>
            <a:off x="6949440" y="401421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A.6.2.4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驗證確認未定義發布準則</a:t>
            </a:r>
            <a:endParaRPr lang="en-US" sz="1500" dirty="0"/>
          </a:p>
        </p:txBody>
      </p:sp>
      <p:sp>
        <p:nvSpPr>
          <p:cNvPr id="36" name="nc-1304"/>
          <p:cNvSpPr/>
          <p:nvPr/>
        </p:nvSpPr>
        <p:spPr>
          <a:xfrm>
            <a:off x="548640" y="4910328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nc-num-1305"/>
          <p:cNvSpPr/>
          <p:nvPr/>
        </p:nvSpPr>
        <p:spPr>
          <a:xfrm>
            <a:off x="685800" y="502005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nc-n-1306"/>
          <p:cNvSpPr txBox="1"/>
          <p:nvPr/>
        </p:nvSpPr>
        <p:spPr>
          <a:xfrm>
            <a:off x="685800" y="5020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39" name="nc-t-1307"/>
          <p:cNvSpPr txBox="1"/>
          <p:nvPr/>
        </p:nvSpPr>
        <p:spPr>
          <a:xfrm>
            <a:off x="1325880" y="49103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A.8.2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未告知使用者正在與 AI 互動</a:t>
            </a:r>
            <a:endParaRPr lang="en-US" sz="1500" dirty="0"/>
          </a:p>
        </p:txBody>
      </p:sp>
      <p:sp>
        <p:nvSpPr>
          <p:cNvPr id="40" name="nc-1308"/>
          <p:cNvSpPr/>
          <p:nvPr/>
        </p:nvSpPr>
        <p:spPr>
          <a:xfrm>
            <a:off x="6172200" y="4910328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nc-num-1309"/>
          <p:cNvSpPr/>
          <p:nvPr/>
        </p:nvSpPr>
        <p:spPr>
          <a:xfrm>
            <a:off x="6309360" y="502005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nc-n-1310"/>
          <p:cNvSpPr txBox="1"/>
          <p:nvPr/>
        </p:nvSpPr>
        <p:spPr>
          <a:xfrm>
            <a:off x="6309360" y="5020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nc-t-1311"/>
          <p:cNvSpPr txBox="1"/>
          <p:nvPr/>
        </p:nvSpPr>
        <p:spPr>
          <a:xfrm>
            <a:off x="6949440" y="49103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10.2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矯正措施未確認有效性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導入與稽核十大金句</a:t>
            </a:r>
            <a:endParaRPr lang="en-US" sz="3000" dirty="0"/>
          </a:p>
        </p:txBody>
      </p:sp>
      <p:sp>
        <p:nvSpPr>
          <p:cNvPr id="4" name="quote-1312"/>
          <p:cNvSpPr/>
          <p:nvPr/>
        </p:nvSpPr>
        <p:spPr>
          <a:xfrm>
            <a:off x="548640" y="132588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5" name="quote-t-1313"/>
          <p:cNvSpPr txBox="1"/>
          <p:nvPr/>
        </p:nvSpPr>
        <p:spPr>
          <a:xfrm>
            <a:off x="777240" y="1325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先盤點 AI 系統，再談管理</a:t>
            </a:r>
            <a:endParaRPr lang="en-US" sz="1700" dirty="0"/>
          </a:p>
        </p:txBody>
      </p:sp>
      <p:sp>
        <p:nvSpPr>
          <p:cNvPr id="6" name="quote-1314"/>
          <p:cNvSpPr/>
          <p:nvPr/>
        </p:nvSpPr>
        <p:spPr>
          <a:xfrm>
            <a:off x="6172200" y="132588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E8EE"/>
          </a:solidFill>
          <a:ln w="12700">
            <a:solidFill>
              <a:srgbClr val="FFE8EE"/>
            </a:solidFill>
            <a:prstDash val="solid"/>
          </a:ln>
        </p:spPr>
      </p:sp>
      <p:sp>
        <p:nvSpPr>
          <p:cNvPr id="7" name="quote-t-1315"/>
          <p:cNvSpPr txBox="1"/>
          <p:nvPr/>
        </p:nvSpPr>
        <p:spPr>
          <a:xfrm>
            <a:off x="6400800" y="1325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角色決定要求：逐一系統判定</a:t>
            </a:r>
            <a:endParaRPr lang="en-US" sz="1700" dirty="0"/>
          </a:p>
        </p:txBody>
      </p:sp>
      <p:sp>
        <p:nvSpPr>
          <p:cNvPr id="8" name="quote-1316"/>
          <p:cNvSpPr/>
          <p:nvPr/>
        </p:nvSpPr>
        <p:spPr>
          <a:xfrm>
            <a:off x="548640" y="2221992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9" name="quote-t-1317"/>
          <p:cNvSpPr txBox="1"/>
          <p:nvPr/>
        </p:nvSpPr>
        <p:spPr>
          <a:xfrm>
            <a:off x="777240" y="22219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沒有準則的評鑑無法比較</a:t>
            </a:r>
            <a:endParaRPr lang="en-US" sz="1700" dirty="0"/>
          </a:p>
        </p:txBody>
      </p:sp>
      <p:sp>
        <p:nvSpPr>
          <p:cNvPr id="10" name="quote-1318"/>
          <p:cNvSpPr/>
          <p:nvPr/>
        </p:nvSpPr>
        <p:spPr>
          <a:xfrm>
            <a:off x="6172200" y="2221992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E8EE"/>
          </a:solidFill>
          <a:ln w="12700">
            <a:solidFill>
              <a:srgbClr val="FFE8EE"/>
            </a:solidFill>
            <a:prstDash val="solid"/>
          </a:ln>
        </p:spPr>
      </p:sp>
      <p:sp>
        <p:nvSpPr>
          <p:cNvPr id="11" name="quote-t-1319"/>
          <p:cNvSpPr txBox="1"/>
          <p:nvPr/>
        </p:nvSpPr>
        <p:spPr>
          <a:xfrm>
            <a:off x="6400800" y="22219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後果要看組織、個人、社會</a:t>
            </a:r>
            <a:endParaRPr lang="en-US" sz="1700" dirty="0"/>
          </a:p>
        </p:txBody>
      </p:sp>
      <p:sp>
        <p:nvSpPr>
          <p:cNvPr id="12" name="quote-1320"/>
          <p:cNvSpPr/>
          <p:nvPr/>
        </p:nvSpPr>
        <p:spPr>
          <a:xfrm>
            <a:off x="548640" y="3118104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13" name="quote-t-1321"/>
          <p:cNvSpPr txBox="1"/>
          <p:nvPr/>
        </p:nvSpPr>
        <p:spPr>
          <a:xfrm>
            <a:off x="777240" y="311810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衝擊評鑑要寫可預見的濫用</a:t>
            </a:r>
            <a:endParaRPr lang="en-US" sz="1700" dirty="0"/>
          </a:p>
        </p:txBody>
      </p:sp>
      <p:sp>
        <p:nvSpPr>
          <p:cNvPr id="14" name="quote-1322"/>
          <p:cNvSpPr/>
          <p:nvPr/>
        </p:nvSpPr>
        <p:spPr>
          <a:xfrm>
            <a:off x="6172200" y="3118104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E8EE"/>
          </a:solidFill>
          <a:ln w="12700">
            <a:solidFill>
              <a:srgbClr val="FFE8EE"/>
            </a:solidFill>
            <a:prstDash val="solid"/>
          </a:ln>
        </p:spPr>
      </p:sp>
      <p:sp>
        <p:nvSpPr>
          <p:cNvPr id="15" name="quote-t-1323"/>
          <p:cNvSpPr txBox="1"/>
          <p:nvPr/>
        </p:nvSpPr>
        <p:spPr>
          <a:xfrm>
            <a:off x="6400800" y="311810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6.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SoA 排除一定要有理由</a:t>
            </a:r>
            <a:endParaRPr lang="en-US" sz="1700" dirty="0"/>
          </a:p>
        </p:txBody>
      </p:sp>
      <p:sp>
        <p:nvSpPr>
          <p:cNvPr id="16" name="quote-1324"/>
          <p:cNvSpPr/>
          <p:nvPr/>
        </p:nvSpPr>
        <p:spPr>
          <a:xfrm>
            <a:off x="548640" y="4014216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17" name="quote-t-1325"/>
          <p:cNvSpPr txBox="1"/>
          <p:nvPr/>
        </p:nvSpPr>
        <p:spPr>
          <a:xfrm>
            <a:off x="777240" y="401421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7.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剩餘風險要有人簽名負責</a:t>
            </a:r>
            <a:endParaRPr lang="en-US" sz="1700" dirty="0"/>
          </a:p>
        </p:txBody>
      </p:sp>
      <p:sp>
        <p:nvSpPr>
          <p:cNvPr id="18" name="quote-1326"/>
          <p:cNvSpPr/>
          <p:nvPr/>
        </p:nvSpPr>
        <p:spPr>
          <a:xfrm>
            <a:off x="6172200" y="4014216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E8EE"/>
          </a:solidFill>
          <a:ln w="12700">
            <a:solidFill>
              <a:srgbClr val="FFE8EE"/>
            </a:solidFill>
            <a:prstDash val="solid"/>
          </a:ln>
        </p:spPr>
      </p:sp>
      <p:sp>
        <p:nvSpPr>
          <p:cNvPr id="19" name="quote-t-1327"/>
          <p:cNvSpPr txBox="1"/>
          <p:nvPr/>
        </p:nvSpPr>
        <p:spPr>
          <a:xfrm>
            <a:off x="6400800" y="401421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8.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發布準則是上線的門票</a:t>
            </a:r>
            <a:endParaRPr lang="en-US" sz="1700" dirty="0"/>
          </a:p>
        </p:txBody>
      </p:sp>
      <p:sp>
        <p:nvSpPr>
          <p:cNvPr id="20" name="quote-1328"/>
          <p:cNvSpPr/>
          <p:nvPr/>
        </p:nvSpPr>
        <p:spPr>
          <a:xfrm>
            <a:off x="548640" y="49103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21" name="quote-t-1329"/>
          <p:cNvSpPr txBox="1"/>
          <p:nvPr/>
        </p:nvSpPr>
        <p:spPr>
          <a:xfrm>
            <a:off x="777240" y="49103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9.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人為監管要有權覆寫</a:t>
            </a:r>
            <a:endParaRPr lang="en-US" sz="1700" dirty="0"/>
          </a:p>
        </p:txBody>
      </p:sp>
      <p:sp>
        <p:nvSpPr>
          <p:cNvPr id="22" name="quote-1330"/>
          <p:cNvSpPr/>
          <p:nvPr/>
        </p:nvSpPr>
        <p:spPr>
          <a:xfrm>
            <a:off x="6172200" y="49103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E8EE"/>
          </a:solidFill>
          <a:ln w="12700">
            <a:solidFill>
              <a:srgbClr val="FFE8EE"/>
            </a:solidFill>
            <a:prstDash val="solid"/>
          </a:ln>
        </p:spPr>
      </p:sp>
      <p:sp>
        <p:nvSpPr>
          <p:cNvPr id="23" name="quote-t-1331"/>
          <p:cNvSpPr txBox="1"/>
          <p:nvPr/>
        </p:nvSpPr>
        <p:spPr>
          <a:xfrm>
            <a:off x="6400800" y="49103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10.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證據要「拿來看看」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課後學習：線上教材、互動影音、課後測驗</a:t>
            </a:r>
            <a:endParaRPr lang="en-US" sz="3000" dirty="0"/>
          </a:p>
        </p:txBody>
      </p:sp>
      <p:sp>
        <p:nvSpPr>
          <p:cNvPr id="4" name="card-1332"/>
          <p:cNvSpPr/>
          <p:nvPr/>
        </p:nvSpPr>
        <p:spPr>
          <a:xfrm>
            <a:off x="548640" y="1325880"/>
            <a:ext cx="351525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icon-bg-1333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-icon-13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310896" cy="310896"/>
          </a:xfrm>
          <a:prstGeom prst="rect">
            <a:avLst/>
          </a:prstGeom>
        </p:spPr>
      </p:pic>
      <p:sp>
        <p:nvSpPr>
          <p:cNvPr id="7" name="card-title-1335"/>
          <p:cNvSpPr txBox="1"/>
          <p:nvPr/>
        </p:nvSpPr>
        <p:spPr>
          <a:xfrm>
            <a:off x="1417320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文字教材 18 章</a:t>
            </a:r>
            <a:endParaRPr lang="en-US" sz="1900" dirty="0"/>
          </a:p>
        </p:txBody>
      </p:sp>
      <p:sp>
        <p:nvSpPr>
          <p:cNvPr id="8" name="card-text-1336"/>
          <p:cNvSpPr txBox="1"/>
          <p:nvPr/>
        </p:nvSpPr>
        <p:spPr>
          <a:xfrm>
            <a:off x="777240" y="2194560"/>
            <a:ext cx="3103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條文、白話解說、實務作法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管理案例、稽核重點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每章自我檢測</a:t>
            </a:r>
            <a:endParaRPr lang="en-US" sz="1800" dirty="0"/>
          </a:p>
        </p:txBody>
      </p:sp>
      <p:sp>
        <p:nvSpPr>
          <p:cNvPr id="9" name="card-1337"/>
          <p:cNvSpPr/>
          <p:nvPr/>
        </p:nvSpPr>
        <p:spPr>
          <a:xfrm>
            <a:off x="4338218" y="1325880"/>
            <a:ext cx="351525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icon-bg-1338"/>
          <p:cNvSpPr/>
          <p:nvPr/>
        </p:nvSpPr>
        <p:spPr>
          <a:xfrm>
            <a:off x="4521098" y="1508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rd-icon-13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14" y="1636776"/>
            <a:ext cx="310896" cy="310896"/>
          </a:xfrm>
          <a:prstGeom prst="rect">
            <a:avLst/>
          </a:prstGeom>
        </p:spPr>
      </p:pic>
      <p:sp>
        <p:nvSpPr>
          <p:cNvPr id="12" name="card-title-1340"/>
          <p:cNvSpPr txBox="1"/>
          <p:nvPr/>
        </p:nvSpPr>
        <p:spPr>
          <a:xfrm>
            <a:off x="5206898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互動影音</a:t>
            </a:r>
            <a:endParaRPr lang="en-US" sz="1900" dirty="0"/>
          </a:p>
        </p:txBody>
      </p:sp>
      <p:sp>
        <p:nvSpPr>
          <p:cNvPr id="13" name="card-text-1341"/>
          <p:cNvSpPr txBox="1"/>
          <p:nvPr/>
        </p:nvSpPr>
        <p:spPr>
          <a:xfrm>
            <a:off x="4566818" y="2194560"/>
            <a:ext cx="3103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講師＋阿拉蕾對話教學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選章節、跳段、調速、逐字稿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隨堂互動題</a:t>
            </a:r>
            <a:endParaRPr lang="en-US" sz="1800" dirty="0"/>
          </a:p>
        </p:txBody>
      </p:sp>
      <p:sp>
        <p:nvSpPr>
          <p:cNvPr id="14" name="card-1342"/>
          <p:cNvSpPr/>
          <p:nvPr/>
        </p:nvSpPr>
        <p:spPr>
          <a:xfrm>
            <a:off x="8127797" y="1325880"/>
            <a:ext cx="351525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icon-bg-1343"/>
          <p:cNvSpPr/>
          <p:nvPr/>
        </p:nvSpPr>
        <p:spPr>
          <a:xfrm>
            <a:off x="8310677" y="1508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13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93" y="1636776"/>
            <a:ext cx="310896" cy="310896"/>
          </a:xfrm>
          <a:prstGeom prst="rect">
            <a:avLst/>
          </a:prstGeom>
        </p:spPr>
      </p:pic>
      <p:sp>
        <p:nvSpPr>
          <p:cNvPr id="17" name="card-title-1345"/>
          <p:cNvSpPr txBox="1"/>
          <p:nvPr/>
        </p:nvSpPr>
        <p:spPr>
          <a:xfrm>
            <a:off x="8996477" y="1490472"/>
            <a:ext cx="25094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課後測驗</a:t>
            </a:r>
            <a:endParaRPr lang="en-US" sz="1900" dirty="0"/>
          </a:p>
        </p:txBody>
      </p:sp>
      <p:sp>
        <p:nvSpPr>
          <p:cNvPr id="18" name="card-text-1346"/>
          <p:cNvSpPr txBox="1"/>
          <p:nvPr/>
        </p:nvSpPr>
        <p:spPr>
          <a:xfrm>
            <a:off x="8356397" y="2194560"/>
            <a:ext cx="3103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10 題，80 分通過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下載結業證書（附題目與解答）</a:t>
            </a:r>
            <a:endParaRPr lang="en-US" sz="18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未通過可重讀後再測</a:t>
            </a:r>
            <a:endParaRPr lang="en-US" sz="1800" dirty="0"/>
          </a:p>
        </p:txBody>
      </p:sp>
      <p:sp>
        <p:nvSpPr>
          <p:cNvPr id="19" name="url-box-1347"/>
          <p:cNvSpPr/>
          <p:nvPr/>
        </p:nvSpPr>
        <p:spPr>
          <a:xfrm>
            <a:off x="548640" y="4526280"/>
            <a:ext cx="11094415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url-1348"/>
          <p:cNvSpPr txBox="1"/>
          <p:nvPr/>
        </p:nvSpPr>
        <p:spPr>
          <a:xfrm>
            <a:off x="822960" y="45262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課程網站：https://allanloplus.github.io/ISO42001_Course/</a:t>
            </a:r>
            <a:endParaRPr lang="en-US" sz="1800" dirty="0"/>
          </a:p>
        </p:txBody>
      </p:sp>
      <p:pic>
        <p:nvPicPr>
          <p:cNvPr id="21" name="arale-avatar-1349" descr="助教阿拉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72100"/>
            <a:ext cx="868680" cy="868680"/>
          </a:xfrm>
          <a:prstGeom prst="rect">
            <a:avLst/>
          </a:prstGeom>
        </p:spPr>
      </p:pic>
      <p:sp>
        <p:nvSpPr>
          <p:cNvPr id="22" name="bubble-1350"/>
          <p:cNvSpPr/>
          <p:nvPr/>
        </p:nvSpPr>
        <p:spPr>
          <a:xfrm>
            <a:off x="1508760" y="5440680"/>
            <a:ext cx="5897880" cy="731520"/>
          </a:xfrm>
          <a:prstGeom prst="roundRect">
            <a:avLst>
              <a:gd name="adj" fmla="val 15000"/>
            </a:avLst>
          </a:prstGeom>
          <a:solidFill>
            <a:srgbClr val="FFE8EE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bubble-text-1351"/>
          <p:cNvSpPr txBox="1"/>
          <p:nvPr/>
        </p:nvSpPr>
        <p:spPr>
          <a:xfrm>
            <a:off x="1645920" y="544068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阿拉蕾：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測驗沒過不要哭，回去看影音就會了～んちゃ！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 &amp; 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謝謝大家！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Allan 講師 × 助教阿拉蕾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「AI 要管，也管得動。」</a:t>
            </a:r>
            <a:endParaRPr lang="en-US" sz="2000" dirty="0"/>
          </a:p>
        </p:txBody>
      </p:sp>
      <p:sp>
        <p:nvSpPr>
          <p:cNvPr id="5" name="end-frame-1352"/>
          <p:cNvSpPr/>
          <p:nvPr/>
        </p:nvSpPr>
        <p:spPr>
          <a:xfrm>
            <a:off x="8001000" y="685800"/>
            <a:ext cx="3657600" cy="54864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end-allan-1353" descr="Allan 講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868680"/>
            <a:ext cx="2530462" cy="5120640"/>
          </a:xfrm>
          <a:prstGeom prst="rect">
            <a:avLst/>
          </a:prstGeom>
        </p:spPr>
      </p:pic>
      <p:pic>
        <p:nvPicPr>
          <p:cNvPr id="7" name="end-arale-1354" descr="助教阿拉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383280"/>
            <a:ext cx="1267590" cy="2606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MS Course">
  <a:themeElements>
    <a:clrScheme name="AIMS Course">
      <a:dk1>
        <a:srgbClr val="1B2433"/>
      </a:dk1>
      <a:lt1>
        <a:srgbClr val="FFFFFF"/>
      </a:lt1>
      <a:dk2>
        <a:srgbClr val="14213D"/>
      </a:dk2>
      <a:lt2>
        <a:srgbClr val="EEF2F8"/>
      </a:lt2>
      <a:accent1>
        <a:srgbClr val="0F8B8D"/>
      </a:accent1>
      <a:accent2>
        <a:srgbClr val="FF5C80"/>
      </a:accent2>
      <a:accent3>
        <a:srgbClr val="E8961E"/>
      </a:accent3>
      <a:accent4>
        <a:srgbClr val="3157D5"/>
      </a:accent4>
      <a:accent5>
        <a:srgbClr val="7A5AF8"/>
      </a:accent5>
      <a:accent6>
        <a:srgbClr val="2E9E5B"/>
      </a:accent6>
      <a:hlink>
        <a:srgbClr val="3157D5"/>
      </a:hlink>
      <a:folHlink>
        <a:srgbClr val="7A5AF8"/>
      </a:folHlink>
    </a:clrScheme>
    <a:fontScheme name="AIMS Cours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ISO/IEC 42001:2023 人工智慧管理系統 實體課程</dc:title>
  <dc:subject>ISO/IEC 42001 標準詳解、管理案例與稽核實務</dc:subject>
  <dc:creator>Allan</dc:creator>
  <cp:lastModifiedBy>Allan</cp:lastModifiedBy>
  <cp:revision>1</cp:revision>
  <dcterms:created xsi:type="dcterms:W3CDTF">2026-10-13T09:17:43Z</dcterms:created>
  <dcterms:modified xsi:type="dcterms:W3CDTF">2026-10-13T09:17:43Z</dcterms:modified>
</cp:coreProperties>
</file>